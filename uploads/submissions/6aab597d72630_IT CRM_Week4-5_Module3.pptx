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372" r:id="rId3"/>
    <p:sldId id="351" r:id="rId4"/>
    <p:sldId id="350" r:id="rId5"/>
    <p:sldId id="257" r:id="rId6"/>
    <p:sldId id="258" r:id="rId7"/>
    <p:sldId id="379" r:id="rId8"/>
    <p:sldId id="380" r:id="rId9"/>
    <p:sldId id="381" r:id="rId10"/>
    <p:sldId id="382" r:id="rId11"/>
    <p:sldId id="383" r:id="rId12"/>
    <p:sldId id="316" r:id="rId13"/>
    <p:sldId id="352" r:id="rId14"/>
    <p:sldId id="384" r:id="rId15"/>
    <p:sldId id="385" r:id="rId16"/>
    <p:sldId id="386" r:id="rId17"/>
    <p:sldId id="387" r:id="rId18"/>
    <p:sldId id="388" r:id="rId19"/>
    <p:sldId id="389" r:id="rId20"/>
    <p:sldId id="390" r:id="rId21"/>
    <p:sldId id="391" r:id="rId22"/>
    <p:sldId id="392" r:id="rId23"/>
    <p:sldId id="393" r:id="rId24"/>
    <p:sldId id="394" r:id="rId25"/>
    <p:sldId id="395" r:id="rId26"/>
    <p:sldId id="396" r:id="rId27"/>
    <p:sldId id="397" r:id="rId28"/>
    <p:sldId id="398" r:id="rId29"/>
    <p:sldId id="399" r:id="rId30"/>
    <p:sldId id="400" r:id="rId31"/>
    <p:sldId id="401" r:id="rId32"/>
    <p:sldId id="402" r:id="rId33"/>
    <p:sldId id="403" r:id="rId34"/>
    <p:sldId id="404" r:id="rId35"/>
    <p:sldId id="405" r:id="rId36"/>
    <p:sldId id="406" r:id="rId37"/>
    <p:sldId id="407" r:id="rId38"/>
    <p:sldId id="371" r:id="rId39"/>
    <p:sldId id="408" r:id="rId40"/>
    <p:sldId id="409" r:id="rId41"/>
    <p:sldId id="291" r:id="rId42"/>
    <p:sldId id="293" r:id="rId43"/>
  </p:sldIdLst>
  <p:sldSz cx="12192000" cy="6858000"/>
  <p:notesSz cx="6858000" cy="9144000"/>
  <p:embeddedFontLst>
    <p:embeddedFont>
      <p:font typeface="Open Sans" panose="020B060603050402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gfwlXrR0Mov2eZJ99XbVsSyrL2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E021CD-D7AD-4050-ACEC-F4529A61A5E0}" v="4" dt="2026-08-12T06:24:02.5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576" autoAdjust="0"/>
  </p:normalViewPr>
  <p:slideViewPr>
    <p:cSldViewPr snapToGrid="0">
      <p:cViewPr varScale="1">
        <p:scale>
          <a:sx n="59" d="100"/>
          <a:sy n="59" d="100"/>
        </p:scale>
        <p:origin x="115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SAR GALINGANA" userId="7db237c7-f573-42e4-859f-06dda1b0e6cc" providerId="ADAL" clId="{24A7CA9D-31CF-4C52-847D-065D4CE87F03}"/>
    <pc:docChg chg="modSld">
      <pc:chgData name="CESAR GALINGANA" userId="7db237c7-f573-42e4-859f-06dda1b0e6cc" providerId="ADAL" clId="{24A7CA9D-31CF-4C52-847D-065D4CE87F03}" dt="2026-08-12T06:24:02.517" v="3" actId="20577"/>
      <pc:docMkLst>
        <pc:docMk/>
      </pc:docMkLst>
      <pc:sldChg chg="modSp">
        <pc:chgData name="CESAR GALINGANA" userId="7db237c7-f573-42e4-859f-06dda1b0e6cc" providerId="ADAL" clId="{24A7CA9D-31CF-4C52-847D-065D4CE87F03}" dt="2026-08-12T06:24:02.517" v="3" actId="20577"/>
        <pc:sldMkLst>
          <pc:docMk/>
          <pc:sldMk cId="525884512" sldId="409"/>
        </pc:sldMkLst>
        <pc:spChg chg="mod">
          <ac:chgData name="CESAR GALINGANA" userId="7db237c7-f573-42e4-859f-06dda1b0e6cc" providerId="ADAL" clId="{24A7CA9D-31CF-4C52-847D-065D4CE87F03}" dt="2026-08-12T06:24:02.517" v="3" actId="20577"/>
          <ac:spMkLst>
            <pc:docMk/>
            <pc:sldMk cId="525884512" sldId="409"/>
            <ac:spMk id="6" creationId="{6A0F7A55-1006-C779-894F-EEF8C8EBBC7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4402CB2E-9174-F5C6-204D-5D029A7FDDFD}"/>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F4BDB90B-BA68-103A-F3E1-2FA10A0785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a:extLst>
              <a:ext uri="{FF2B5EF4-FFF2-40B4-BE49-F238E27FC236}">
                <a16:creationId xmlns:a16="http://schemas.microsoft.com/office/drawing/2014/main" id="{9FFFE041-BD21-BC9F-1EE8-BF8FC60A0D8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a:extLst>
              <a:ext uri="{FF2B5EF4-FFF2-40B4-BE49-F238E27FC236}">
                <a16:creationId xmlns:a16="http://schemas.microsoft.com/office/drawing/2014/main" id="{CCCF2379-B9AF-1CCE-F8ED-9AD1B2413BE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3349867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620A253F-78FE-3774-97CB-D36DD955946A}"/>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8DAF6E05-FC8E-42E4-E105-D35729E985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a:extLst>
              <a:ext uri="{FF2B5EF4-FFF2-40B4-BE49-F238E27FC236}">
                <a16:creationId xmlns:a16="http://schemas.microsoft.com/office/drawing/2014/main" id="{78E62616-7B01-D5DF-B6F4-EF44798886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a:extLst>
              <a:ext uri="{FF2B5EF4-FFF2-40B4-BE49-F238E27FC236}">
                <a16:creationId xmlns:a16="http://schemas.microsoft.com/office/drawing/2014/main" id="{A543FCFA-9EBA-8695-5953-9026804B8AB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3518443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D1F49736-47CA-E35F-4445-FDCB1F943D55}"/>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C58F8AF8-6568-05DD-EDF2-43963F197B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a:extLst>
              <a:ext uri="{FF2B5EF4-FFF2-40B4-BE49-F238E27FC236}">
                <a16:creationId xmlns:a16="http://schemas.microsoft.com/office/drawing/2014/main" id="{E0D083DC-845A-615A-35DF-5F9B993F52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a:extLst>
              <a:ext uri="{FF2B5EF4-FFF2-40B4-BE49-F238E27FC236}">
                <a16:creationId xmlns:a16="http://schemas.microsoft.com/office/drawing/2014/main" id="{78FBD66F-8509-8B17-DADF-02742319A8A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652199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5D6BEDA8-39AF-3E26-CA0C-E17E5A13826C}"/>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34491371-60A0-4548-533E-CA15571AE55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2FB93105-4FAC-E8D7-6A55-B04CD6502F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6870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2A3FB00A-A62D-00F9-B10D-9382532958D4}"/>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E959958B-D0CD-DA02-4AA3-A202666D4C6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6FA594C0-32C7-4ECD-418B-65D592F9F20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9298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90F1EB9-F465-5615-1C65-10C513B881B4}"/>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327DCB88-1312-AC81-C7D2-55D5D89414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212BD708-0CF2-3BB3-0380-34B294CAE1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1052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A4E7F74-81F9-1F8B-4D44-C277013D271E}"/>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2D6E05E4-93ED-7330-F96A-D3A9540DBBE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2B0D3BF1-9C88-3EEF-6931-43DC8A6C68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2556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D30FE1F3-05D5-11DE-9C9B-87BB4F594DE8}"/>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00E355A7-10B2-27B5-3EEC-248CD1C8E75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5E0EF53B-FFFE-C139-E1B4-37806CF19E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5246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7004056-8E7D-0580-F5BC-46942BFEE3FD}"/>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B453E209-CBE9-0C42-723A-C8B9E1E1CB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PH" sz="1200" b="0" i="0" u="none" strike="noStrike" cap="none" dirty="0">
                <a:solidFill>
                  <a:schemeClr val="dk1"/>
                </a:solidFill>
                <a:effectLst/>
                <a:latin typeface="Arial"/>
                <a:ea typeface="Arial"/>
                <a:cs typeface="Arial"/>
                <a:sym typeface="Arial"/>
              </a:rPr>
              <a:t>Think of customer data as the fuel for your CRM engine. If the fuel is contaminated, your engine will sputter, or worse, break down. Accurate and complete customer data is not just a nice-to-have; it's a strategic imperative.</a:t>
            </a:r>
            <a:endParaRPr dirty="0"/>
          </a:p>
        </p:txBody>
      </p:sp>
      <p:sp>
        <p:nvSpPr>
          <p:cNvPr id="100" name="Google Shape;100;p3:notes">
            <a:extLst>
              <a:ext uri="{FF2B5EF4-FFF2-40B4-BE49-F238E27FC236}">
                <a16:creationId xmlns:a16="http://schemas.microsoft.com/office/drawing/2014/main" id="{3452EAA8-489E-6966-337D-54CC7277D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2741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5ED3B80-CC88-A1C6-F4F3-AE77513DDB62}"/>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7E4C4124-8C8D-7821-E677-1593584D081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8A07CB6F-2825-34AE-E0AF-D7C6F0F409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15436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77842459-F25B-B143-3754-98E398F9B36E}"/>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2941FDF5-4C4A-7EF6-4CBA-C38E8E719D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D23FC9C3-9DA5-DE62-61F1-5932EBDF50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843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BF002B37-A037-B5F7-CD7C-D4667289D43D}"/>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C2C4FF58-434F-21B6-2537-80E83926B60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C977769D-A907-344A-FC64-A2290106D2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866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3C47495-D2FE-1AA6-4E69-FAFB30281313}"/>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5FA22A6A-E3A5-A410-F04A-507DD2B23A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97036B42-221A-CC0A-57E7-A28D40B501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85057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090C34E7-F6F3-C446-D04B-0909EC63C25B}"/>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93264F9B-B00C-7884-1910-D09452B614B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D2BD7E31-14AD-1B15-3A52-BC6FD2B656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11796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CBCF88F-6152-52A2-1E7F-26472CBCC1C4}"/>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207A512D-9208-392B-3E3D-F1A806D5C81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00866D1C-3E90-9584-3BF4-5F8058228E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40835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19E3A257-87A9-164A-B988-E9A23AAA663E}"/>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6C51F155-52F4-C142-AA36-2747FDB500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DB64FCCA-105F-0731-234F-1CC70C5547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10744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7354C7DA-38E2-821A-3DD0-0176112C7469}"/>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D2543123-8054-D5C4-A0A7-903DFEDF6F7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8CBBB90A-CFF6-4EFF-9319-0133E9B794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9100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381A91D-F573-9138-7848-8EF4BCC1E7C2}"/>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B2B2D63D-1564-4B27-0504-007EBAEAFF9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4425D192-7729-E727-DED4-8BE6D4D864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89932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F6C71BA-6514-BC6C-505B-CFDB10898981}"/>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8CE19DCB-304D-4EFB-324F-A8F7EC1B7E7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5D022A1E-97C3-86F2-F2E7-D2D5FB6E08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37370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C0FBABBE-868A-89B3-C555-29D1E2A23BB6}"/>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FEB64143-27EA-9A6A-86EE-FF9CBED58D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FF3C4575-5289-1069-E077-89FEC450EF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2615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ACF4321-3719-9194-23ED-44D3D9D25FD7}"/>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50B98C35-BD41-365B-EB8F-DD83061F76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202197B5-843D-D8FA-72C7-718B2B237A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79962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772CBEC3-AC96-72D1-5AB3-01FC9F8C2DB8}"/>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445B195E-CE4A-3828-B344-75AC7F02EB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0FA84C26-564A-8AA5-B98E-D3146CE17B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36285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5CCD207B-D0D1-4F14-9493-B1E302FAA0CF}"/>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E899D32D-F935-5B6F-85E0-B1D35841FE3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EDCD37B6-164C-07D7-CA8C-1C451CB615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44588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9D4F4998-C05D-09FF-E43D-9CE3C2240921}"/>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2BCF2CCB-C4FE-678D-01C3-5728036C3AA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3CD13397-03AB-90D2-03C7-A91FAB64CC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72434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B368CD0-2E44-66AB-1D3D-BBFA1A0BB3F9}"/>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DC5604A5-C861-2289-EEA1-B1C4DD3CDE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1CADE28A-CEDC-635C-6EBE-3562F65529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19781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C557B70B-A35D-007F-BDCF-1A131AD44E50}"/>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5D9BAA28-2DA5-38A9-2E54-2594AF4E3B7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cap="none" dirty="0">
                <a:solidFill>
                  <a:schemeClr val="dk1"/>
                </a:solidFill>
                <a:effectLst/>
                <a:latin typeface="Arial"/>
                <a:ea typeface="Arial"/>
                <a:cs typeface="Arial"/>
                <a:sym typeface="Arial"/>
              </a:rPr>
              <a:t>BANT - Budget, Authority, Need, and Timing</a:t>
            </a:r>
            <a:endParaRPr dirty="0"/>
          </a:p>
        </p:txBody>
      </p:sp>
      <p:sp>
        <p:nvSpPr>
          <p:cNvPr id="100" name="Google Shape;100;p3:notes">
            <a:extLst>
              <a:ext uri="{FF2B5EF4-FFF2-40B4-BE49-F238E27FC236}">
                <a16:creationId xmlns:a16="http://schemas.microsoft.com/office/drawing/2014/main" id="{5BB78D69-BD7F-D4DB-59FC-D9621D81F0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88594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7BAE6868-2ED7-C099-EAC3-07ADBA3998B3}"/>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C8CA3CAD-3097-160B-1C35-F2BF2B1EC97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cap="none" dirty="0">
                <a:solidFill>
                  <a:schemeClr val="dk1"/>
                </a:solidFill>
                <a:effectLst/>
                <a:latin typeface="Arial"/>
                <a:ea typeface="Arial"/>
                <a:cs typeface="Arial"/>
                <a:sym typeface="Arial"/>
              </a:rPr>
              <a:t>BANT - Budget, Authority, Need, and Timing</a:t>
            </a:r>
            <a:endParaRPr dirty="0"/>
          </a:p>
        </p:txBody>
      </p:sp>
      <p:sp>
        <p:nvSpPr>
          <p:cNvPr id="100" name="Google Shape;100;p3:notes">
            <a:extLst>
              <a:ext uri="{FF2B5EF4-FFF2-40B4-BE49-F238E27FC236}">
                <a16:creationId xmlns:a16="http://schemas.microsoft.com/office/drawing/2014/main" id="{F5CA449D-A9F5-C3A9-91E2-EEFD82BF4C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61915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7729FBFF-0339-375B-404B-6A5378F78CA3}"/>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63A6B196-0479-581B-B864-AB2AD452C6D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2F9958C1-30E2-51F1-3203-434A988813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86908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E6DE0783-1A48-7DEC-5E35-195023701C25}"/>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1A24D265-5115-0CF5-27F9-87D90D48FF8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1F9CBC40-0626-C601-16DC-2C3101EC2C6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8891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82A8188-3BF3-B20F-7D3B-129692E76284}"/>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0FAFFF77-219A-A473-DA9C-099ECDBA131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9EF5FF12-160A-0DB4-85AE-339499C5BA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98707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37299468-8136-C05A-4A83-67FB363DA6F4}"/>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F7C1CB5D-B2BB-78E7-B013-A4B8A407AC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02CEBEF9-1322-6B0F-FCE7-5506182059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22249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0801283F-77EE-8C48-8A1C-2C1EE954A428}"/>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280AA104-C822-B439-4573-3C0F236B3A2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BE259660-68AA-EAD8-5DF2-E6BF35F56D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22477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46BCC032-BFAC-F015-5735-1F727D595028}"/>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E98C6791-A343-DD97-E8F1-C4D960034FF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4FFE2837-AFA4-A03E-14A7-14BD7FFB0C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96430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416CBCB7-0E31-61E3-AC3E-3E4E0752265A}"/>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B66E27FC-93F5-E8F2-BCB9-245D0118799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45B1095E-4452-008D-DFBF-2221D8D036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13033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43B28E71-5132-4D51-7486-8DB3B95BC3A4}"/>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9C4DAB42-4614-418C-3036-369D5C93820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CAD7F2E5-C184-57B4-C5EF-5CC325EF84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06234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416B4A7-9217-EB9F-902C-CDB7C78BD7D2}"/>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98ACC320-1D4D-DFBA-79DE-19D1621729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7BC49096-6109-C8E4-6A27-358A52EE22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17128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DCC9C726-DE6B-32BD-F277-50E0DC04C178}"/>
            </a:ext>
          </a:extLst>
        </p:cNvPr>
        <p:cNvGrpSpPr/>
        <p:nvPr/>
      </p:nvGrpSpPr>
      <p:grpSpPr>
        <a:xfrm>
          <a:off x="0" y="0"/>
          <a:ext cx="0" cy="0"/>
          <a:chOff x="0" y="0"/>
          <a:chExt cx="0" cy="0"/>
        </a:xfrm>
      </p:grpSpPr>
      <p:sp>
        <p:nvSpPr>
          <p:cNvPr id="99" name="Google Shape;99;p3:notes">
            <a:extLst>
              <a:ext uri="{FF2B5EF4-FFF2-40B4-BE49-F238E27FC236}">
                <a16:creationId xmlns:a16="http://schemas.microsoft.com/office/drawing/2014/main" id="{B7A0B373-9311-C054-6220-C87263C1063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0" name="Google Shape;100;p3:notes">
            <a:extLst>
              <a:ext uri="{FF2B5EF4-FFF2-40B4-BE49-F238E27FC236}">
                <a16:creationId xmlns:a16="http://schemas.microsoft.com/office/drawing/2014/main" id="{01CD5E84-28A4-8D20-15DF-4ECE9D072A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92103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marR="0" lvl="0" indent="-152400" algn="l" rtl="0">
              <a:lnSpc>
                <a:spcPct val="100000"/>
              </a:lnSpc>
              <a:spcBef>
                <a:spcPts val="0"/>
              </a:spcBef>
              <a:spcAft>
                <a:spcPts val="0"/>
              </a:spcAft>
              <a:buClr>
                <a:schemeClr val="dk1"/>
              </a:buClr>
              <a:buSzPts val="1200"/>
              <a:buFont typeface="Arial"/>
              <a:buNone/>
            </a:pPr>
            <a:endParaRPr sz="1200" b="0">
              <a:latin typeface="Open Sans"/>
              <a:ea typeface="Open Sans"/>
              <a:cs typeface="Open Sans"/>
              <a:sym typeface="Open Sans"/>
            </a:endParaRPr>
          </a:p>
        </p:txBody>
      </p:sp>
      <p:sp>
        <p:nvSpPr>
          <p:cNvPr id="356" name="Google Shape;356;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marR="0" lvl="0" indent="-152400" algn="l" rtl="0">
              <a:lnSpc>
                <a:spcPct val="100000"/>
              </a:lnSpc>
              <a:spcBef>
                <a:spcPts val="0"/>
              </a:spcBef>
              <a:spcAft>
                <a:spcPts val="0"/>
              </a:spcAft>
              <a:buClr>
                <a:schemeClr val="dk1"/>
              </a:buClr>
              <a:buSzPts val="1200"/>
              <a:buFont typeface="Arial"/>
              <a:buNone/>
            </a:pPr>
            <a:endParaRPr sz="1200" b="0">
              <a:latin typeface="Open Sans"/>
              <a:ea typeface="Open Sans"/>
              <a:cs typeface="Open Sans"/>
              <a:sym typeface="Open Sans"/>
            </a:endParaRPr>
          </a:p>
        </p:txBody>
      </p:sp>
      <p:sp>
        <p:nvSpPr>
          <p:cNvPr id="363" name="Google Shape;363;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3441648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4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4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 name="Google Shape;37;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7"/>
          <p:cNvSpPr>
            <a:spLocks noGrp="1"/>
          </p:cNvSpPr>
          <p:nvPr>
            <p:ph type="pic" idx="2"/>
          </p:nvPr>
        </p:nvSpPr>
        <p:spPr>
          <a:xfrm>
            <a:off x="5183188" y="987425"/>
            <a:ext cx="6172200" cy="4873625"/>
          </a:xfrm>
          <a:prstGeom prst="rect">
            <a:avLst/>
          </a:prstGeom>
          <a:noFill/>
          <a:ln>
            <a:noFill/>
          </a:ln>
        </p:spPr>
      </p:sp>
      <p:sp>
        <p:nvSpPr>
          <p:cNvPr id="68" name="Google Shape;68;p4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3" name="Title 2">
            <a:extLst>
              <a:ext uri="{FF2B5EF4-FFF2-40B4-BE49-F238E27FC236}">
                <a16:creationId xmlns:a16="http://schemas.microsoft.com/office/drawing/2014/main" id="{38D2D06F-A720-CE48-395E-B13113B0258A}"/>
              </a:ext>
            </a:extLst>
          </p:cNvPr>
          <p:cNvSpPr>
            <a:spLocks noGrp="1"/>
          </p:cNvSpPr>
          <p:nvPr>
            <p:ph type="ctrTitle"/>
          </p:nvPr>
        </p:nvSpPr>
        <p:spPr/>
        <p:txBody>
          <a:bodyPr/>
          <a:lstStyle/>
          <a:p>
            <a:endParaRPr lang="en-PH"/>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F51C1170-F02A-767F-3B11-9DCAD693F956}"/>
            </a:ext>
          </a:extLst>
        </p:cNvPr>
        <p:cNvGrpSpPr/>
        <p:nvPr/>
      </p:nvGrpSpPr>
      <p:grpSpPr>
        <a:xfrm>
          <a:off x="0" y="0"/>
          <a:ext cx="0" cy="0"/>
          <a:chOff x="0" y="0"/>
          <a:chExt cx="0" cy="0"/>
        </a:xfrm>
      </p:grpSpPr>
      <p:sp>
        <p:nvSpPr>
          <p:cNvPr id="89" name="Google Shape;89;p1">
            <a:extLst>
              <a:ext uri="{FF2B5EF4-FFF2-40B4-BE49-F238E27FC236}">
                <a16:creationId xmlns:a16="http://schemas.microsoft.com/office/drawing/2014/main" id="{8C9C17D8-AE84-D136-9D9E-6FEAD75C09C3}"/>
              </a:ext>
            </a:extLst>
          </p:cNvPr>
          <p:cNvSpPr txBox="1">
            <a:spLocks noGrp="1"/>
          </p:cNvSpPr>
          <p:nvPr>
            <p:ph type="ctrTitle"/>
          </p:nvPr>
        </p:nvSpPr>
        <p:spPr>
          <a:xfrm>
            <a:off x="1798864" y="0"/>
            <a:ext cx="8594271" cy="715591"/>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6000"/>
              <a:buFont typeface="Open Sans"/>
              <a:buNone/>
            </a:pPr>
            <a:r>
              <a:rPr lang="en-US" b="1" dirty="0">
                <a:latin typeface="Open Sans"/>
                <a:ea typeface="Open Sans"/>
                <a:cs typeface="Open Sans"/>
                <a:sym typeface="Open Sans"/>
              </a:rPr>
              <a:t>Devotion:</a:t>
            </a:r>
            <a:endParaRPr b="1" dirty="0">
              <a:latin typeface="Open Sans"/>
              <a:ea typeface="Open Sans"/>
              <a:cs typeface="Open Sans"/>
              <a:sym typeface="Open Sans"/>
            </a:endParaRPr>
          </a:p>
        </p:txBody>
      </p:sp>
    </p:spTree>
    <p:extLst>
      <p:ext uri="{BB962C8B-B14F-4D97-AF65-F5344CB8AC3E}">
        <p14:creationId xmlns:p14="http://schemas.microsoft.com/office/powerpoint/2010/main" val="3242216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a:extLst>
            <a:ext uri="{FF2B5EF4-FFF2-40B4-BE49-F238E27FC236}">
              <a16:creationId xmlns:a16="http://schemas.microsoft.com/office/drawing/2014/main" id="{1F2A9EBC-7EE8-ED0B-C4C6-32C943E730A8}"/>
            </a:ext>
          </a:extLst>
        </p:cNvPr>
        <p:cNvGrpSpPr/>
        <p:nvPr/>
      </p:nvGrpSpPr>
      <p:grpSpPr>
        <a:xfrm>
          <a:off x="0" y="0"/>
          <a:ext cx="0" cy="0"/>
          <a:chOff x="0" y="0"/>
          <a:chExt cx="0" cy="0"/>
        </a:xfrm>
      </p:grpSpPr>
      <p:grpSp>
        <p:nvGrpSpPr>
          <p:cNvPr id="98" name="Group 97">
            <a:extLst>
              <a:ext uri="{FF2B5EF4-FFF2-40B4-BE49-F238E27FC236}">
                <a16:creationId xmlns:a16="http://schemas.microsoft.com/office/drawing/2014/main" id="{6E61B563-A4B2-5783-81AF-A2A053D747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5352229"/>
            <a:ext cx="12192000" cy="1519356"/>
            <a:chOff x="0" y="-29768"/>
            <a:chExt cx="12202174" cy="1519356"/>
          </a:xfrm>
        </p:grpSpPr>
        <p:sp>
          <p:nvSpPr>
            <p:cNvPr id="95" name="Rectangle 94">
              <a:extLst>
                <a:ext uri="{FF2B5EF4-FFF2-40B4-BE49-F238E27FC236}">
                  <a16:creationId xmlns:a16="http://schemas.microsoft.com/office/drawing/2014/main" id="{40633BBC-8C60-7DC4-F0CC-CE3225109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CCC98078-F2A2-725C-ED61-320B63B69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289101" y="-1429602"/>
              <a:ext cx="1507122" cy="4319024"/>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21CD4C03-24F0-57A9-530E-8F2ABABDC5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880884" y="-2910652"/>
              <a:ext cx="1519356" cy="7281123"/>
            </a:xfrm>
            <a:prstGeom prst="rect">
              <a:avLst/>
            </a:prstGeom>
            <a:gradFill>
              <a:gsLst>
                <a:gs pos="29000">
                  <a:schemeClr val="accent5">
                    <a:lumMod val="60000"/>
                    <a:lumOff val="40000"/>
                    <a:alpha val="0"/>
                  </a:schemeClr>
                </a:gs>
                <a:gs pos="100000">
                  <a:schemeClr val="accent5">
                    <a:lumMod val="75000"/>
                    <a:alpha val="7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9" name="Google Shape;89;p1">
            <a:extLst>
              <a:ext uri="{FF2B5EF4-FFF2-40B4-BE49-F238E27FC236}">
                <a16:creationId xmlns:a16="http://schemas.microsoft.com/office/drawing/2014/main" id="{D67932D0-6CFE-3042-224B-A29435157B2B}"/>
              </a:ext>
            </a:extLst>
          </p:cNvPr>
          <p:cNvSpPr txBox="1">
            <a:spLocks noGrp="1"/>
          </p:cNvSpPr>
          <p:nvPr>
            <p:ph type="ctrTitle"/>
          </p:nvPr>
        </p:nvSpPr>
        <p:spPr>
          <a:xfrm>
            <a:off x="838200" y="5609902"/>
            <a:ext cx="6924026" cy="913975"/>
          </a:xfrm>
          <a:prstGeom prst="rect">
            <a:avLst/>
          </a:prstGeom>
        </p:spPr>
        <p:txBody>
          <a:bodyPr spcFirstLastPara="1" lIns="91425" tIns="45700" rIns="91425" bIns="45700" anchor="ctr" anchorCtr="0">
            <a:normAutofit/>
          </a:bodyPr>
          <a:lstStyle/>
          <a:p>
            <a:pPr marL="0" lvl="0" indent="0" algn="l" rtl="0">
              <a:spcBef>
                <a:spcPts val="0"/>
              </a:spcBef>
              <a:spcAft>
                <a:spcPts val="0"/>
              </a:spcAft>
              <a:buClr>
                <a:schemeClr val="dk1"/>
              </a:buClr>
              <a:buSzPts val="6000"/>
              <a:buFont typeface="Open Sans"/>
              <a:buNone/>
            </a:pPr>
            <a:r>
              <a:rPr lang="en-US" sz="3200" b="1">
                <a:solidFill>
                  <a:srgbClr val="FFFFFF"/>
                </a:solidFill>
                <a:latin typeface="Open Sans"/>
                <a:ea typeface="Open Sans"/>
                <a:cs typeface="Open Sans"/>
                <a:sym typeface="Open Sans"/>
              </a:rPr>
              <a:t>Devotion:</a:t>
            </a:r>
          </a:p>
        </p:txBody>
      </p:sp>
      <p:pic>
        <p:nvPicPr>
          <p:cNvPr id="2" name="Picture 1" descr="Daily devotional for today, Sunday, June 9, 2024">
            <a:extLst>
              <a:ext uri="{FF2B5EF4-FFF2-40B4-BE49-F238E27FC236}">
                <a16:creationId xmlns:a16="http://schemas.microsoft.com/office/drawing/2014/main" id="{4B36AA3C-35AB-812C-1D1A-6EFCFFEB55EB}"/>
              </a:ext>
            </a:extLst>
          </p:cNvPr>
          <p:cNvPicPr>
            <a:picLocks noChangeAspect="1"/>
          </p:cNvPicPr>
          <p:nvPr/>
        </p:nvPicPr>
        <p:blipFill>
          <a:blip r:embed="rId3" cstate="print">
            <a:extLst>
              <a:ext uri="{28A0092B-C50C-407E-A947-70E740481C1C}">
                <a14:useLocalDpi xmlns:a14="http://schemas.microsoft.com/office/drawing/2010/main" val="0"/>
              </a:ext>
            </a:extLst>
          </a:blip>
          <a:srcRect t="12638"/>
          <a:stretch>
            <a:fillRect/>
          </a:stretch>
        </p:blipFill>
        <p:spPr bwMode="auto">
          <a:xfrm>
            <a:off x="1" y="10"/>
            <a:ext cx="12191998" cy="5352218"/>
          </a:xfrm>
          <a:prstGeom prst="rect">
            <a:avLst/>
          </a:prstGeom>
          <a:noFill/>
        </p:spPr>
      </p:pic>
    </p:spTree>
    <p:extLst>
      <p:ext uri="{BB962C8B-B14F-4D97-AF65-F5344CB8AC3E}">
        <p14:creationId xmlns:p14="http://schemas.microsoft.com/office/powerpoint/2010/main" val="46543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89"/>
                                        </p:tgtEl>
                                        <p:attrNameLst>
                                          <p:attrName>style.visibility</p:attrName>
                                        </p:attrNameLst>
                                      </p:cBhvr>
                                      <p:to>
                                        <p:strVal val="visible"/>
                                      </p:to>
                                    </p:set>
                                    <p:animEffect transition="in" filter="fade">
                                      <p:cBhvr>
                                        <p:cTn id="7" dur="7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D83DBD61-F77B-8450-4D34-AD7D35012D48}"/>
            </a:ext>
          </a:extLst>
        </p:cNvPr>
        <p:cNvGrpSpPr/>
        <p:nvPr/>
      </p:nvGrpSpPr>
      <p:grpSpPr>
        <a:xfrm>
          <a:off x="0" y="0"/>
          <a:ext cx="0" cy="0"/>
          <a:chOff x="0" y="0"/>
          <a:chExt cx="0" cy="0"/>
        </a:xfrm>
      </p:grpSpPr>
      <p:sp>
        <p:nvSpPr>
          <p:cNvPr id="89" name="Google Shape;89;p1">
            <a:extLst>
              <a:ext uri="{FF2B5EF4-FFF2-40B4-BE49-F238E27FC236}">
                <a16:creationId xmlns:a16="http://schemas.microsoft.com/office/drawing/2014/main" id="{936D3BEB-8A49-9D0C-332B-242C7ADE68D6}"/>
              </a:ext>
            </a:extLst>
          </p:cNvPr>
          <p:cNvSpPr txBox="1">
            <a:spLocks noGrp="1"/>
          </p:cNvSpPr>
          <p:nvPr>
            <p:ph type="ctrTitle"/>
          </p:nvPr>
        </p:nvSpPr>
        <p:spPr>
          <a:xfrm>
            <a:off x="1234440" y="1140628"/>
            <a:ext cx="9982200" cy="320039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6000"/>
              <a:buFont typeface="Open Sans"/>
              <a:buNone/>
            </a:pPr>
            <a:r>
              <a:rPr lang="en-US" b="1" dirty="0">
                <a:latin typeface="Open Sans"/>
                <a:ea typeface="Open Sans"/>
                <a:cs typeface="Open Sans"/>
                <a:sym typeface="Open Sans"/>
              </a:rPr>
              <a:t>IT Customer Relationship Management</a:t>
            </a:r>
            <a:endParaRPr b="1" dirty="0">
              <a:latin typeface="Open Sans"/>
              <a:ea typeface="Open Sans"/>
              <a:cs typeface="Open Sans"/>
              <a:sym typeface="Open Sans"/>
            </a:endParaRPr>
          </a:p>
        </p:txBody>
      </p:sp>
      <p:sp>
        <p:nvSpPr>
          <p:cNvPr id="90" name="Google Shape;90;p1">
            <a:extLst>
              <a:ext uri="{FF2B5EF4-FFF2-40B4-BE49-F238E27FC236}">
                <a16:creationId xmlns:a16="http://schemas.microsoft.com/office/drawing/2014/main" id="{0FC5A0BC-2E33-AA0C-52B7-E1139BD38CCE}"/>
              </a:ext>
            </a:extLst>
          </p:cNvPr>
          <p:cNvSpPr txBox="1">
            <a:spLocks noGrp="1"/>
          </p:cNvSpPr>
          <p:nvPr>
            <p:ph type="subTitle" idx="1"/>
          </p:nvPr>
        </p:nvSpPr>
        <p:spPr>
          <a:xfrm>
            <a:off x="1234440" y="4117172"/>
            <a:ext cx="9982200" cy="96066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C00000"/>
              </a:buClr>
              <a:buSzPts val="2400"/>
              <a:buNone/>
            </a:pPr>
            <a:r>
              <a:rPr lang="en-US" sz="2400" b="1" dirty="0">
                <a:solidFill>
                  <a:srgbClr val="C00000"/>
                </a:solidFill>
                <a:latin typeface="Open Sans"/>
                <a:ea typeface="Open Sans"/>
                <a:cs typeface="Open Sans"/>
                <a:sym typeface="Open Sans"/>
              </a:rPr>
              <a:t>IT CRM– Module 3</a:t>
            </a:r>
            <a:endParaRPr b="1" dirty="0">
              <a:solidFill>
                <a:srgbClr val="C00000"/>
              </a:solidFill>
            </a:endParaRPr>
          </a:p>
        </p:txBody>
      </p:sp>
      <p:cxnSp>
        <p:nvCxnSpPr>
          <p:cNvPr id="91" name="Google Shape;91;p1">
            <a:extLst>
              <a:ext uri="{FF2B5EF4-FFF2-40B4-BE49-F238E27FC236}">
                <a16:creationId xmlns:a16="http://schemas.microsoft.com/office/drawing/2014/main" id="{64C15667-4A85-CC14-0573-D023A7A7EC3B}"/>
              </a:ext>
            </a:extLst>
          </p:cNvPr>
          <p:cNvCxnSpPr/>
          <p:nvPr/>
        </p:nvCxnSpPr>
        <p:spPr>
          <a:xfrm>
            <a:off x="2991934" y="3825484"/>
            <a:ext cx="6352162" cy="0"/>
          </a:xfrm>
          <a:prstGeom prst="straightConnector1">
            <a:avLst/>
          </a:prstGeom>
          <a:noFill/>
          <a:ln w="19050" cap="flat" cmpd="sng">
            <a:solidFill>
              <a:schemeClr val="accent6"/>
            </a:solidFill>
            <a:prstDash val="solid"/>
            <a:miter lim="800000"/>
            <a:headEnd type="none" w="sm" len="sm"/>
            <a:tailEnd type="none" w="sm" len="sm"/>
          </a:ln>
        </p:spPr>
      </p:cxnSp>
      <p:sp>
        <p:nvSpPr>
          <p:cNvPr id="3" name="TextBox 2">
            <a:extLst>
              <a:ext uri="{FF2B5EF4-FFF2-40B4-BE49-F238E27FC236}">
                <a16:creationId xmlns:a16="http://schemas.microsoft.com/office/drawing/2014/main" id="{1389E781-0FE9-6C0A-E408-80E18619CE04}"/>
              </a:ext>
            </a:extLst>
          </p:cNvPr>
          <p:cNvSpPr txBox="1"/>
          <p:nvPr/>
        </p:nvSpPr>
        <p:spPr>
          <a:xfrm>
            <a:off x="4350896" y="5717372"/>
            <a:ext cx="4873279" cy="400110"/>
          </a:xfrm>
          <a:prstGeom prst="rect">
            <a:avLst/>
          </a:prstGeom>
          <a:noFill/>
        </p:spPr>
        <p:txBody>
          <a:bodyPr wrap="square">
            <a:spAutoFit/>
          </a:bodyPr>
          <a:lstStyle/>
          <a:p>
            <a:r>
              <a:rPr lang="en-US" sz="2000" b="1" dirty="0">
                <a:latin typeface="Open Sans"/>
                <a:ea typeface="Open Sans"/>
                <a:cs typeface="Open Sans"/>
                <a:sym typeface="Open Sans"/>
              </a:rPr>
              <a:t>Cesar D. Galingana, MIT, LPT</a:t>
            </a:r>
            <a:endParaRPr lang="en-PH" sz="2000" b="1" dirty="0"/>
          </a:p>
        </p:txBody>
      </p:sp>
    </p:spTree>
    <p:extLst>
      <p:ext uri="{BB962C8B-B14F-4D97-AF65-F5344CB8AC3E}">
        <p14:creationId xmlns:p14="http://schemas.microsoft.com/office/powerpoint/2010/main" val="3325724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7" name="TextBox 6">
            <a:extLst>
              <a:ext uri="{FF2B5EF4-FFF2-40B4-BE49-F238E27FC236}">
                <a16:creationId xmlns:a16="http://schemas.microsoft.com/office/drawing/2014/main" id="{832594EC-680D-E13C-D960-5321F43E8A8B}"/>
              </a:ext>
            </a:extLst>
          </p:cNvPr>
          <p:cNvSpPr txBox="1"/>
          <p:nvPr/>
        </p:nvSpPr>
        <p:spPr>
          <a:xfrm>
            <a:off x="780585" y="1597184"/>
            <a:ext cx="10348332" cy="2924968"/>
          </a:xfrm>
          <a:prstGeom prst="rect">
            <a:avLst/>
          </a:prstGeom>
          <a:noFill/>
        </p:spPr>
        <p:txBody>
          <a:bodyPr wrap="square">
            <a:spAutoFit/>
          </a:bodyPr>
          <a:lstStyle/>
          <a:p>
            <a:pPr marL="0" marR="0" algn="ctr">
              <a:lnSpc>
                <a:spcPct val="80000"/>
              </a:lnSpc>
              <a:spcAft>
                <a:spcPts val="800"/>
              </a:spcAft>
              <a:buNone/>
            </a:pPr>
            <a:r>
              <a:rPr lang="en-PH" sz="6000" b="1" kern="100" dirty="0">
                <a:ln>
                  <a:noFill/>
                </a:ln>
                <a:solidFill>
                  <a:srgbClr val="003300"/>
                </a:solidFill>
                <a:effectLst>
                  <a:outerShdw blurRad="38100" dist="19050" dir="2700000" algn="tl">
                    <a:schemeClr val="dk1">
                      <a:alpha val="40000"/>
                    </a:schemeClr>
                  </a:outerShdw>
                </a:effectLst>
                <a:latin typeface="Open Sans" panose="020B0606030504020204" pitchFamily="34" charset="0"/>
                <a:ea typeface="Calibri" panose="020F0502020204030204" pitchFamily="34" charset="0"/>
                <a:cs typeface="Times New Roman" panose="02020603050405020304" pitchFamily="18" charset="0"/>
              </a:rPr>
              <a:t>MODULE 3:</a:t>
            </a:r>
          </a:p>
          <a:p>
            <a:pPr marL="0" marR="0" algn="ctr">
              <a:lnSpc>
                <a:spcPct val="80000"/>
              </a:lnSpc>
              <a:spcAft>
                <a:spcPts val="800"/>
              </a:spcAft>
              <a:buNone/>
            </a:pP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80000"/>
              </a:lnSpc>
              <a:spcAft>
                <a:spcPts val="800"/>
              </a:spcAft>
              <a:buNone/>
            </a:pPr>
            <a:r>
              <a:rPr lang="en-PH" sz="6000" b="1" kern="100" dirty="0">
                <a:ln>
                  <a:noFill/>
                </a:ln>
                <a:solidFill>
                  <a:srgbClr val="003300"/>
                </a:solidFill>
                <a:effectLst>
                  <a:outerShdw blurRad="38100" dist="19050" dir="2700000" algn="tl">
                    <a:schemeClr val="dk1">
                      <a:alpha val="40000"/>
                    </a:schemeClr>
                  </a:outerShdw>
                </a:effectLst>
                <a:latin typeface="Open Sans" panose="020B0606030504020204" pitchFamily="34" charset="0"/>
                <a:ea typeface="Calibri" panose="020F0502020204030204" pitchFamily="34" charset="0"/>
                <a:cs typeface="Times New Roman" panose="02020603050405020304" pitchFamily="18" charset="0"/>
              </a:rPr>
              <a:t>Topic: Lead Management &amp; Qualification</a:t>
            </a:r>
            <a:endParaRPr lang="en-PH" sz="3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399036" y="1982609"/>
            <a:ext cx="11393927" cy="993613"/>
          </a:xfrm>
          <a:prstGeom prst="rect">
            <a:avLst/>
          </a:prstGeom>
          <a:noFill/>
          <a:ln>
            <a:noFill/>
          </a:ln>
        </p:spPr>
        <p:txBody>
          <a:bodyPr spcFirstLastPara="1" wrap="square" lIns="91425" tIns="45700" rIns="91425" bIns="45700" anchor="ctr" anchorCtr="0">
            <a:normAutofit fontScale="90000"/>
          </a:bodyPr>
          <a:lstStyle/>
          <a:p>
            <a:pPr lvl="0">
              <a:buSzPts val="4400"/>
            </a:pPr>
            <a:r>
              <a:rPr lang="en-US" b="1" dirty="0">
                <a:latin typeface="Open Sans"/>
                <a:ea typeface="Open Sans"/>
                <a:cs typeface="Open Sans"/>
                <a:sym typeface="Open Sans"/>
              </a:rPr>
              <a:t>Lead Management &amp; Qualification </a:t>
            </a:r>
            <a:r>
              <a:rPr lang="en-US" dirty="0">
                <a:latin typeface="Open Sans"/>
                <a:ea typeface="Open Sans"/>
                <a:cs typeface="Open Sans"/>
                <a:sym typeface="Open Sans"/>
              </a:rPr>
              <a:t>- It's the process of identifying, attracting, engaging, and assessing potential customers to determine their readiness to buy. It's where marketing and sales truly converge.</a:t>
            </a:r>
            <a:br>
              <a:rPr lang="en-US" sz="4400" dirty="0">
                <a:latin typeface="Open Sans"/>
                <a:ea typeface="Open Sans"/>
                <a:cs typeface="Open Sans"/>
                <a:sym typeface="Open Sans"/>
              </a:rPr>
            </a:br>
            <a:br>
              <a:rPr lang="en-US" sz="4400" dirty="0">
                <a:latin typeface="Open Sans"/>
                <a:ea typeface="Open Sans"/>
                <a:cs typeface="Open Sans"/>
                <a:sym typeface="Open Sans"/>
              </a:rPr>
            </a:br>
            <a:endParaRPr dirty="0">
              <a:latin typeface="Open Sans"/>
              <a:ea typeface="Open Sans"/>
              <a:cs typeface="Open Sans"/>
              <a:sym typeface="Open Sans"/>
            </a:endParaRPr>
          </a:p>
        </p:txBody>
      </p:sp>
      <p:pic>
        <p:nvPicPr>
          <p:cNvPr id="5" name="Picture 4">
            <a:extLst>
              <a:ext uri="{FF2B5EF4-FFF2-40B4-BE49-F238E27FC236}">
                <a16:creationId xmlns:a16="http://schemas.microsoft.com/office/drawing/2014/main" id="{F964A019-B91D-8C42-A8DC-76134B47748A}"/>
              </a:ext>
            </a:extLst>
          </p:cNvPr>
          <p:cNvPicPr>
            <a:picLocks noChangeAspect="1"/>
          </p:cNvPicPr>
          <p:nvPr/>
        </p:nvPicPr>
        <p:blipFill>
          <a:blip r:embed="rId3"/>
          <a:stretch>
            <a:fillRect/>
          </a:stretch>
        </p:blipFill>
        <p:spPr>
          <a:xfrm>
            <a:off x="6441766" y="3257310"/>
            <a:ext cx="5750234" cy="36006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1000"/>
                                        <p:tgtEl>
                                          <p:spTgt spid="102"/>
                                        </p:tgtEl>
                                      </p:cBhvr>
                                    </p:animEffect>
                                    <p:anim calcmode="lin" valueType="num">
                                      <p:cBhvr>
                                        <p:cTn id="8" dur="1000" fill="hold"/>
                                        <p:tgtEl>
                                          <p:spTgt spid="102"/>
                                        </p:tgtEl>
                                        <p:attrNameLst>
                                          <p:attrName>ppt_x</p:attrName>
                                        </p:attrNameLst>
                                      </p:cBhvr>
                                      <p:tavLst>
                                        <p:tav tm="0">
                                          <p:val>
                                            <p:strVal val="#ppt_x"/>
                                          </p:val>
                                        </p:tav>
                                        <p:tav tm="100000">
                                          <p:val>
                                            <p:strVal val="#ppt_x"/>
                                          </p:val>
                                        </p:tav>
                                      </p:tavLst>
                                    </p:anim>
                                    <p:anim calcmode="lin" valueType="num">
                                      <p:cBhvr>
                                        <p:cTn id="9" dur="1000" fill="hold"/>
                                        <p:tgtEl>
                                          <p:spTgt spid="1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19DA2CA-2550-15E3-5680-4B34C7F45C61}"/>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67E42B54-AFC3-AF07-9760-8D839D5D3973}"/>
              </a:ext>
            </a:extLst>
          </p:cNvPr>
          <p:cNvSpPr txBox="1">
            <a:spLocks noGrp="1"/>
          </p:cNvSpPr>
          <p:nvPr>
            <p:ph type="title"/>
          </p:nvPr>
        </p:nvSpPr>
        <p:spPr>
          <a:xfrm>
            <a:off x="399036" y="1982609"/>
            <a:ext cx="11393927" cy="993613"/>
          </a:xfrm>
          <a:prstGeom prst="rect">
            <a:avLst/>
          </a:prstGeom>
          <a:noFill/>
          <a:ln>
            <a:noFill/>
          </a:ln>
        </p:spPr>
        <p:txBody>
          <a:bodyPr spcFirstLastPara="1" wrap="square" lIns="91425" tIns="45700" rIns="91425" bIns="45700" anchor="ctr" anchorCtr="0">
            <a:normAutofit fontScale="90000"/>
          </a:bodyPr>
          <a:lstStyle/>
          <a:p>
            <a:pPr lvl="0">
              <a:buSzPts val="4400"/>
            </a:pPr>
            <a:r>
              <a:rPr lang="en-US" b="1" dirty="0">
                <a:latin typeface="Open Sans"/>
                <a:ea typeface="Open Sans"/>
                <a:cs typeface="Open Sans"/>
                <a:sym typeface="Open Sans"/>
              </a:rPr>
              <a:t>Lead Management &amp; Qualification </a:t>
            </a:r>
            <a:r>
              <a:rPr lang="en-US" dirty="0">
                <a:latin typeface="Open Sans"/>
                <a:ea typeface="Open Sans"/>
                <a:cs typeface="Open Sans"/>
                <a:sym typeface="Open Sans"/>
              </a:rPr>
              <a:t>- It's the </a:t>
            </a:r>
            <a:r>
              <a:rPr lang="en-US" dirty="0">
                <a:highlight>
                  <a:srgbClr val="FFFF00"/>
                </a:highlight>
                <a:latin typeface="Open Sans"/>
                <a:ea typeface="Open Sans"/>
                <a:cs typeface="Open Sans"/>
                <a:sym typeface="Open Sans"/>
              </a:rPr>
              <a:t>process of identifying, attracting, engaging, and assessing potential customers </a:t>
            </a:r>
            <a:r>
              <a:rPr lang="en-US" dirty="0">
                <a:latin typeface="Open Sans"/>
                <a:ea typeface="Open Sans"/>
                <a:cs typeface="Open Sans"/>
                <a:sym typeface="Open Sans"/>
              </a:rPr>
              <a:t>to determine their readiness to buy. It's where marketing and sales truly converge.</a:t>
            </a:r>
            <a:br>
              <a:rPr lang="en-US" sz="4400" dirty="0">
                <a:latin typeface="Open Sans"/>
                <a:ea typeface="Open Sans"/>
                <a:cs typeface="Open Sans"/>
                <a:sym typeface="Open Sans"/>
              </a:rPr>
            </a:br>
            <a:br>
              <a:rPr lang="en-US" sz="4400" dirty="0">
                <a:latin typeface="Open Sans"/>
                <a:ea typeface="Open Sans"/>
                <a:cs typeface="Open Sans"/>
                <a:sym typeface="Open Sans"/>
              </a:rPr>
            </a:br>
            <a:endParaRPr dirty="0">
              <a:latin typeface="Open Sans"/>
              <a:ea typeface="Open Sans"/>
              <a:cs typeface="Open Sans"/>
              <a:sym typeface="Open Sans"/>
            </a:endParaRPr>
          </a:p>
        </p:txBody>
      </p:sp>
      <p:pic>
        <p:nvPicPr>
          <p:cNvPr id="5" name="Picture 4">
            <a:extLst>
              <a:ext uri="{FF2B5EF4-FFF2-40B4-BE49-F238E27FC236}">
                <a16:creationId xmlns:a16="http://schemas.microsoft.com/office/drawing/2014/main" id="{8EC3E945-2677-9C2E-3998-62EF360EF2F9}"/>
              </a:ext>
            </a:extLst>
          </p:cNvPr>
          <p:cNvPicPr>
            <a:picLocks noChangeAspect="1"/>
          </p:cNvPicPr>
          <p:nvPr/>
        </p:nvPicPr>
        <p:blipFill>
          <a:blip r:embed="rId3"/>
          <a:stretch>
            <a:fillRect/>
          </a:stretch>
        </p:blipFill>
        <p:spPr>
          <a:xfrm>
            <a:off x="6441766" y="3257310"/>
            <a:ext cx="5750234" cy="3600690"/>
          </a:xfrm>
          <a:prstGeom prst="rect">
            <a:avLst/>
          </a:prstGeom>
        </p:spPr>
      </p:pic>
    </p:spTree>
    <p:extLst>
      <p:ext uri="{BB962C8B-B14F-4D97-AF65-F5344CB8AC3E}">
        <p14:creationId xmlns:p14="http://schemas.microsoft.com/office/powerpoint/2010/main" val="240700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1000"/>
                                        <p:tgtEl>
                                          <p:spTgt spid="102"/>
                                        </p:tgtEl>
                                      </p:cBhvr>
                                    </p:animEffect>
                                    <p:anim calcmode="lin" valueType="num">
                                      <p:cBhvr>
                                        <p:cTn id="8" dur="1000" fill="hold"/>
                                        <p:tgtEl>
                                          <p:spTgt spid="102"/>
                                        </p:tgtEl>
                                        <p:attrNameLst>
                                          <p:attrName>ppt_x</p:attrName>
                                        </p:attrNameLst>
                                      </p:cBhvr>
                                      <p:tavLst>
                                        <p:tav tm="0">
                                          <p:val>
                                            <p:strVal val="#ppt_x"/>
                                          </p:val>
                                        </p:tav>
                                        <p:tav tm="100000">
                                          <p:val>
                                            <p:strVal val="#ppt_x"/>
                                          </p:val>
                                        </p:tav>
                                      </p:tavLst>
                                    </p:anim>
                                    <p:anim calcmode="lin" valueType="num">
                                      <p:cBhvr>
                                        <p:cTn id="9" dur="1000" fill="hold"/>
                                        <p:tgtEl>
                                          <p:spTgt spid="1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4316FF68-6FF6-C5F9-EAE9-2AF5258B1D01}"/>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A7B9713F-C00D-1F70-2A1C-9431A538E904}"/>
              </a:ext>
            </a:extLst>
          </p:cNvPr>
          <p:cNvSpPr txBox="1">
            <a:spLocks noGrp="1"/>
          </p:cNvSpPr>
          <p:nvPr>
            <p:ph type="title"/>
          </p:nvPr>
        </p:nvSpPr>
        <p:spPr>
          <a:xfrm>
            <a:off x="176012" y="287624"/>
            <a:ext cx="11393927" cy="993613"/>
          </a:xfrm>
          <a:prstGeom prst="rect">
            <a:avLst/>
          </a:prstGeom>
          <a:noFill/>
          <a:ln>
            <a:noFill/>
          </a:ln>
        </p:spPr>
        <p:txBody>
          <a:bodyPr spcFirstLastPara="1" wrap="square" lIns="91425" tIns="45700" rIns="91425" bIns="45700" anchor="ctr" anchorCtr="0">
            <a:normAutofit fontScale="90000"/>
          </a:bodyPr>
          <a:lstStyle/>
          <a:p>
            <a:pPr lvl="0">
              <a:buSzPts val="4400"/>
            </a:pPr>
            <a:r>
              <a:rPr lang="en-US" b="1" dirty="0">
                <a:latin typeface="Open Sans"/>
                <a:ea typeface="Open Sans"/>
                <a:cs typeface="Open Sans"/>
                <a:sym typeface="Open Sans"/>
              </a:rPr>
              <a:t>Why is this crucial for you?</a:t>
            </a:r>
            <a:br>
              <a:rPr lang="en-US" sz="4400" dirty="0">
                <a:latin typeface="Open Sans"/>
                <a:ea typeface="Open Sans"/>
                <a:cs typeface="Open Sans"/>
                <a:sym typeface="Open Sans"/>
              </a:rPr>
            </a:br>
            <a:endParaRPr dirty="0">
              <a:latin typeface="Open Sans"/>
              <a:ea typeface="Open Sans"/>
              <a:cs typeface="Open Sans"/>
              <a:sym typeface="Open Sans"/>
            </a:endParaRPr>
          </a:p>
        </p:txBody>
      </p:sp>
      <p:sp>
        <p:nvSpPr>
          <p:cNvPr id="3" name="TextBox 2">
            <a:extLst>
              <a:ext uri="{FF2B5EF4-FFF2-40B4-BE49-F238E27FC236}">
                <a16:creationId xmlns:a16="http://schemas.microsoft.com/office/drawing/2014/main" id="{C6208690-720C-55FA-04F6-0C188852EAE6}"/>
              </a:ext>
            </a:extLst>
          </p:cNvPr>
          <p:cNvSpPr txBox="1"/>
          <p:nvPr/>
        </p:nvSpPr>
        <p:spPr>
          <a:xfrm>
            <a:off x="379141" y="1041741"/>
            <a:ext cx="11636847" cy="2431435"/>
          </a:xfrm>
          <a:prstGeom prst="rect">
            <a:avLst/>
          </a:prstGeom>
          <a:noFill/>
        </p:spPr>
        <p:txBody>
          <a:bodyPr wrap="square">
            <a:spAutoFit/>
          </a:bodyPr>
          <a:lstStyle/>
          <a:p>
            <a:endParaRPr lang="en-PH" sz="4000" b="0" i="0" u="none" strike="noStrike" baseline="0" dirty="0">
              <a:latin typeface="Open Sans" panose="020B0606030504020204" pitchFamily="34" charset="0"/>
            </a:endParaRPr>
          </a:p>
          <a:p>
            <a:r>
              <a:rPr lang="en-US" sz="2800" b="0" i="0" u="none" strike="noStrike" baseline="0" dirty="0">
                <a:solidFill>
                  <a:srgbClr val="000000"/>
                </a:solidFill>
                <a:latin typeface="Open Sans" panose="020B0606030504020204" pitchFamily="34" charset="0"/>
                <a:sym typeface="Wingdings" panose="05000000000000000000" pitchFamily="2" charset="2"/>
              </a:rPr>
              <a:t> </a:t>
            </a:r>
            <a:r>
              <a:rPr lang="en-US" sz="2800" b="0" i="0" u="none" strike="noStrike" baseline="0" dirty="0">
                <a:solidFill>
                  <a:srgbClr val="000000"/>
                </a:solidFill>
                <a:latin typeface="Open Sans" panose="020B0606030504020204" pitchFamily="34" charset="0"/>
              </a:rPr>
              <a:t>Whether you're in </a:t>
            </a:r>
            <a:r>
              <a:rPr lang="en-US" sz="2800" b="1" i="0" u="none" strike="noStrike" baseline="0" dirty="0">
                <a:solidFill>
                  <a:srgbClr val="000000"/>
                </a:solidFill>
                <a:latin typeface="Open Sans" panose="020B0606030504020204" pitchFamily="34" charset="0"/>
              </a:rPr>
              <a:t>marketing</a:t>
            </a:r>
            <a:r>
              <a:rPr lang="en-US" sz="2800" b="0" i="0" u="none" strike="noStrike" baseline="0" dirty="0">
                <a:solidFill>
                  <a:srgbClr val="000000"/>
                </a:solidFill>
                <a:latin typeface="Open Sans" panose="020B0606030504020204" pitchFamily="34" charset="0"/>
              </a:rPr>
              <a:t> (generating leads), </a:t>
            </a:r>
            <a:r>
              <a:rPr lang="en-US" sz="2800" b="1" i="0" u="none" strike="noStrike" baseline="0" dirty="0">
                <a:solidFill>
                  <a:srgbClr val="000000"/>
                </a:solidFill>
                <a:latin typeface="Open Sans" panose="020B0606030504020204" pitchFamily="34" charset="0"/>
              </a:rPr>
              <a:t>sales</a:t>
            </a:r>
            <a:r>
              <a:rPr lang="en-US" sz="2800" b="0" i="0" u="none" strike="noStrike" baseline="0" dirty="0">
                <a:solidFill>
                  <a:srgbClr val="000000"/>
                </a:solidFill>
                <a:latin typeface="Open Sans" panose="020B0606030504020204" pitchFamily="34" charset="0"/>
              </a:rPr>
              <a:t> (qualifying and closing leads), or even </a:t>
            </a:r>
            <a:r>
              <a:rPr lang="en-US" sz="2800" b="1" i="0" u="none" strike="noStrike" baseline="0" dirty="0">
                <a:solidFill>
                  <a:srgbClr val="000000"/>
                </a:solidFill>
                <a:latin typeface="Open Sans" panose="020B0606030504020204" pitchFamily="34" charset="0"/>
              </a:rPr>
              <a:t>product development</a:t>
            </a:r>
            <a:r>
              <a:rPr lang="en-US" sz="2800" b="0" i="0" u="none" strike="noStrike" baseline="0" dirty="0">
                <a:solidFill>
                  <a:srgbClr val="000000"/>
                </a:solidFill>
                <a:latin typeface="Open Sans" panose="020B0606030504020204" pitchFamily="34" charset="0"/>
              </a:rPr>
              <a:t> (understanding who needs your product), this process is fundamental. </a:t>
            </a:r>
          </a:p>
          <a:p>
            <a:r>
              <a:rPr lang="en-PH" sz="2800" b="0" i="0" u="none" strike="noStrike" baseline="0" dirty="0">
                <a:solidFill>
                  <a:srgbClr val="000000"/>
                </a:solidFill>
                <a:latin typeface="Open Sans" panose="020B0606030504020204" pitchFamily="34" charset="0"/>
              </a:rPr>
              <a:t>	</a:t>
            </a:r>
          </a:p>
        </p:txBody>
      </p:sp>
    </p:spTree>
    <p:extLst>
      <p:ext uri="{BB962C8B-B14F-4D97-AF65-F5344CB8AC3E}">
        <p14:creationId xmlns:p14="http://schemas.microsoft.com/office/powerpoint/2010/main" val="3229258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1000"/>
                                        <p:tgtEl>
                                          <p:spTgt spid="102"/>
                                        </p:tgtEl>
                                      </p:cBhvr>
                                    </p:animEffect>
                                    <p:anim calcmode="lin" valueType="num">
                                      <p:cBhvr>
                                        <p:cTn id="8" dur="1000" fill="hold"/>
                                        <p:tgtEl>
                                          <p:spTgt spid="102"/>
                                        </p:tgtEl>
                                        <p:attrNameLst>
                                          <p:attrName>ppt_x</p:attrName>
                                        </p:attrNameLst>
                                      </p:cBhvr>
                                      <p:tavLst>
                                        <p:tav tm="0">
                                          <p:val>
                                            <p:strVal val="#ppt_x"/>
                                          </p:val>
                                        </p:tav>
                                        <p:tav tm="100000">
                                          <p:val>
                                            <p:strVal val="#ppt_x"/>
                                          </p:val>
                                        </p:tav>
                                      </p:tavLst>
                                    </p:anim>
                                    <p:anim calcmode="lin" valueType="num">
                                      <p:cBhvr>
                                        <p:cTn id="9" dur="1000" fill="hold"/>
                                        <p:tgtEl>
                                          <p:spTgt spid="10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60E056B8-CDA7-D844-4E35-F2E51CC0F596}"/>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855AB41C-438D-0B51-EEE6-38EED3B224B2}"/>
              </a:ext>
            </a:extLst>
          </p:cNvPr>
          <p:cNvSpPr txBox="1">
            <a:spLocks noGrp="1"/>
          </p:cNvSpPr>
          <p:nvPr>
            <p:ph type="title"/>
          </p:nvPr>
        </p:nvSpPr>
        <p:spPr>
          <a:xfrm>
            <a:off x="176012" y="287624"/>
            <a:ext cx="11393927" cy="993613"/>
          </a:xfrm>
          <a:prstGeom prst="rect">
            <a:avLst/>
          </a:prstGeom>
          <a:noFill/>
          <a:ln>
            <a:noFill/>
          </a:ln>
        </p:spPr>
        <p:txBody>
          <a:bodyPr spcFirstLastPara="1" wrap="square" lIns="91425" tIns="45700" rIns="91425" bIns="45700" anchor="ctr" anchorCtr="0">
            <a:normAutofit fontScale="90000"/>
          </a:bodyPr>
          <a:lstStyle/>
          <a:p>
            <a:pPr lvl="0">
              <a:buSzPts val="4400"/>
            </a:pPr>
            <a:r>
              <a:rPr lang="en-US" b="1" dirty="0">
                <a:latin typeface="Open Sans"/>
                <a:ea typeface="Open Sans"/>
                <a:cs typeface="Open Sans"/>
                <a:sym typeface="Open Sans"/>
              </a:rPr>
              <a:t>Why is this crucial for you?</a:t>
            </a:r>
            <a:br>
              <a:rPr lang="en-US" sz="4400" dirty="0">
                <a:latin typeface="Open Sans"/>
                <a:ea typeface="Open Sans"/>
                <a:cs typeface="Open Sans"/>
                <a:sym typeface="Open Sans"/>
              </a:rPr>
            </a:br>
            <a:endParaRPr dirty="0">
              <a:latin typeface="Open Sans"/>
              <a:ea typeface="Open Sans"/>
              <a:cs typeface="Open Sans"/>
              <a:sym typeface="Open Sans"/>
            </a:endParaRPr>
          </a:p>
        </p:txBody>
      </p:sp>
      <p:sp>
        <p:nvSpPr>
          <p:cNvPr id="3" name="TextBox 2">
            <a:extLst>
              <a:ext uri="{FF2B5EF4-FFF2-40B4-BE49-F238E27FC236}">
                <a16:creationId xmlns:a16="http://schemas.microsoft.com/office/drawing/2014/main" id="{AF408F77-5C7F-887C-8CF4-A12E72ACFFEF}"/>
              </a:ext>
            </a:extLst>
          </p:cNvPr>
          <p:cNvSpPr txBox="1"/>
          <p:nvPr/>
        </p:nvSpPr>
        <p:spPr>
          <a:xfrm>
            <a:off x="379141" y="1041741"/>
            <a:ext cx="11636847" cy="2431435"/>
          </a:xfrm>
          <a:prstGeom prst="rect">
            <a:avLst/>
          </a:prstGeom>
          <a:noFill/>
        </p:spPr>
        <p:txBody>
          <a:bodyPr wrap="square">
            <a:spAutoFit/>
          </a:bodyPr>
          <a:lstStyle/>
          <a:p>
            <a:endParaRPr lang="en-PH" sz="4000" b="0" i="0" u="none" strike="noStrike" baseline="0" dirty="0">
              <a:latin typeface="Open Sans" panose="020B0606030504020204" pitchFamily="34" charset="0"/>
            </a:endParaRPr>
          </a:p>
          <a:p>
            <a:r>
              <a:rPr lang="en-US" sz="2800" b="0" i="0" u="none" strike="noStrike" baseline="0" dirty="0">
                <a:solidFill>
                  <a:srgbClr val="000000"/>
                </a:solidFill>
                <a:latin typeface="Open Sans" panose="020B0606030504020204" pitchFamily="34" charset="0"/>
                <a:sym typeface="Wingdings" panose="05000000000000000000" pitchFamily="2" charset="2"/>
              </a:rPr>
              <a:t> </a:t>
            </a:r>
            <a:r>
              <a:rPr lang="en-US" sz="2800" b="0" i="0" u="none" strike="noStrike" baseline="0" dirty="0">
                <a:solidFill>
                  <a:srgbClr val="000000"/>
                </a:solidFill>
                <a:latin typeface="Open Sans" panose="020B0606030504020204" pitchFamily="34" charset="0"/>
              </a:rPr>
              <a:t>Whether you're in </a:t>
            </a:r>
            <a:r>
              <a:rPr lang="en-US" sz="2800" b="1" i="0" u="none" strike="noStrike" baseline="0" dirty="0">
                <a:solidFill>
                  <a:srgbClr val="000000"/>
                </a:solidFill>
                <a:latin typeface="Open Sans" panose="020B0606030504020204" pitchFamily="34" charset="0"/>
              </a:rPr>
              <a:t>marketing</a:t>
            </a:r>
            <a:r>
              <a:rPr lang="en-US" sz="2800" b="0" i="0" u="none" strike="noStrike" baseline="0" dirty="0">
                <a:solidFill>
                  <a:srgbClr val="000000"/>
                </a:solidFill>
                <a:latin typeface="Open Sans" panose="020B0606030504020204" pitchFamily="34" charset="0"/>
              </a:rPr>
              <a:t> (generating leads), </a:t>
            </a:r>
            <a:r>
              <a:rPr lang="en-US" sz="2800" b="1" i="0" u="none" strike="noStrike" baseline="0" dirty="0">
                <a:solidFill>
                  <a:srgbClr val="000000"/>
                </a:solidFill>
                <a:latin typeface="Open Sans" panose="020B0606030504020204" pitchFamily="34" charset="0"/>
              </a:rPr>
              <a:t>sales</a:t>
            </a:r>
            <a:r>
              <a:rPr lang="en-US" sz="2800" b="0" i="0" u="none" strike="noStrike" baseline="0" dirty="0">
                <a:solidFill>
                  <a:srgbClr val="000000"/>
                </a:solidFill>
                <a:latin typeface="Open Sans" panose="020B0606030504020204" pitchFamily="34" charset="0"/>
              </a:rPr>
              <a:t> (qualifying and closing leads), or even </a:t>
            </a:r>
            <a:r>
              <a:rPr lang="en-US" sz="2800" b="1" i="0" u="none" strike="noStrike" baseline="0" dirty="0">
                <a:solidFill>
                  <a:srgbClr val="000000"/>
                </a:solidFill>
                <a:latin typeface="Open Sans" panose="020B0606030504020204" pitchFamily="34" charset="0"/>
              </a:rPr>
              <a:t>product development</a:t>
            </a:r>
            <a:r>
              <a:rPr lang="en-US" sz="2800" b="0" i="0" u="none" strike="noStrike" baseline="0" dirty="0">
                <a:solidFill>
                  <a:srgbClr val="000000"/>
                </a:solidFill>
                <a:latin typeface="Open Sans" panose="020B0606030504020204" pitchFamily="34" charset="0"/>
              </a:rPr>
              <a:t> (understanding who needs your product), </a:t>
            </a:r>
            <a:r>
              <a:rPr lang="en-US" sz="2800" b="0" i="0" u="none" strike="noStrike" baseline="0" dirty="0">
                <a:solidFill>
                  <a:srgbClr val="000000"/>
                </a:solidFill>
                <a:highlight>
                  <a:srgbClr val="FFFF00"/>
                </a:highlight>
                <a:latin typeface="Open Sans" panose="020B0606030504020204" pitchFamily="34" charset="0"/>
              </a:rPr>
              <a:t>this process is fundamental</a:t>
            </a:r>
            <a:r>
              <a:rPr lang="en-US" sz="2800" b="0" i="0" u="none" strike="noStrike" baseline="0" dirty="0">
                <a:solidFill>
                  <a:srgbClr val="000000"/>
                </a:solidFill>
                <a:latin typeface="Open Sans" panose="020B0606030504020204" pitchFamily="34" charset="0"/>
              </a:rPr>
              <a:t>. </a:t>
            </a:r>
          </a:p>
          <a:p>
            <a:r>
              <a:rPr lang="en-PH" sz="2800" b="0" i="0" u="none" strike="noStrike" baseline="0" dirty="0">
                <a:solidFill>
                  <a:srgbClr val="000000"/>
                </a:solidFill>
                <a:latin typeface="Open Sans" panose="020B0606030504020204" pitchFamily="34" charset="0"/>
              </a:rPr>
              <a:t>	</a:t>
            </a:r>
          </a:p>
        </p:txBody>
      </p:sp>
    </p:spTree>
    <p:extLst>
      <p:ext uri="{BB962C8B-B14F-4D97-AF65-F5344CB8AC3E}">
        <p14:creationId xmlns:p14="http://schemas.microsoft.com/office/powerpoint/2010/main" val="3910448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1000"/>
                                        <p:tgtEl>
                                          <p:spTgt spid="102"/>
                                        </p:tgtEl>
                                      </p:cBhvr>
                                    </p:animEffect>
                                    <p:anim calcmode="lin" valueType="num">
                                      <p:cBhvr>
                                        <p:cTn id="8" dur="1000" fill="hold"/>
                                        <p:tgtEl>
                                          <p:spTgt spid="102"/>
                                        </p:tgtEl>
                                        <p:attrNameLst>
                                          <p:attrName>ppt_x</p:attrName>
                                        </p:attrNameLst>
                                      </p:cBhvr>
                                      <p:tavLst>
                                        <p:tav tm="0">
                                          <p:val>
                                            <p:strVal val="#ppt_x"/>
                                          </p:val>
                                        </p:tav>
                                        <p:tav tm="100000">
                                          <p:val>
                                            <p:strVal val="#ppt_x"/>
                                          </p:val>
                                        </p:tav>
                                      </p:tavLst>
                                    </p:anim>
                                    <p:anim calcmode="lin" valueType="num">
                                      <p:cBhvr>
                                        <p:cTn id="9" dur="1000" fill="hold"/>
                                        <p:tgtEl>
                                          <p:spTgt spid="10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D4436612-6B06-5683-9AA6-A8ABB7E79E35}"/>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ECFA5786-AAA2-A73E-23EA-6F539F95E6CC}"/>
              </a:ext>
            </a:extLst>
          </p:cNvPr>
          <p:cNvSpPr txBox="1">
            <a:spLocks noGrp="1"/>
          </p:cNvSpPr>
          <p:nvPr>
            <p:ph type="title"/>
          </p:nvPr>
        </p:nvSpPr>
        <p:spPr>
          <a:xfrm>
            <a:off x="176012" y="287624"/>
            <a:ext cx="11393927" cy="993613"/>
          </a:xfrm>
          <a:prstGeom prst="rect">
            <a:avLst/>
          </a:prstGeom>
          <a:noFill/>
          <a:ln>
            <a:noFill/>
          </a:ln>
        </p:spPr>
        <p:txBody>
          <a:bodyPr spcFirstLastPara="1" wrap="square" lIns="91425" tIns="45700" rIns="91425" bIns="45700" anchor="ctr" anchorCtr="0">
            <a:normAutofit fontScale="90000"/>
          </a:bodyPr>
          <a:lstStyle/>
          <a:p>
            <a:pPr lvl="0">
              <a:buSzPts val="4400"/>
            </a:pPr>
            <a:r>
              <a:rPr lang="en-US" b="1" dirty="0">
                <a:latin typeface="Open Sans"/>
                <a:ea typeface="Open Sans"/>
                <a:cs typeface="Open Sans"/>
                <a:sym typeface="Open Sans"/>
              </a:rPr>
              <a:t>Why is this crucial for you?</a:t>
            </a:r>
            <a:br>
              <a:rPr lang="en-US" sz="4400" dirty="0">
                <a:latin typeface="Open Sans"/>
                <a:ea typeface="Open Sans"/>
                <a:cs typeface="Open Sans"/>
                <a:sym typeface="Open Sans"/>
              </a:rPr>
            </a:br>
            <a:endParaRPr dirty="0">
              <a:latin typeface="Open Sans"/>
              <a:ea typeface="Open Sans"/>
              <a:cs typeface="Open Sans"/>
              <a:sym typeface="Open Sans"/>
            </a:endParaRPr>
          </a:p>
        </p:txBody>
      </p:sp>
      <p:sp>
        <p:nvSpPr>
          <p:cNvPr id="3" name="TextBox 2">
            <a:extLst>
              <a:ext uri="{FF2B5EF4-FFF2-40B4-BE49-F238E27FC236}">
                <a16:creationId xmlns:a16="http://schemas.microsoft.com/office/drawing/2014/main" id="{AA24B74A-37E1-49CE-1DA1-FB8194CC94B9}"/>
              </a:ext>
            </a:extLst>
          </p:cNvPr>
          <p:cNvSpPr txBox="1"/>
          <p:nvPr/>
        </p:nvSpPr>
        <p:spPr>
          <a:xfrm>
            <a:off x="379141" y="1041741"/>
            <a:ext cx="11636847" cy="2431435"/>
          </a:xfrm>
          <a:prstGeom prst="rect">
            <a:avLst/>
          </a:prstGeom>
          <a:noFill/>
        </p:spPr>
        <p:txBody>
          <a:bodyPr wrap="square">
            <a:spAutoFit/>
          </a:bodyPr>
          <a:lstStyle/>
          <a:p>
            <a:endParaRPr lang="en-PH" sz="4000" b="0" i="0" u="none" strike="noStrike" baseline="0" dirty="0">
              <a:latin typeface="Open Sans" panose="020B0606030504020204" pitchFamily="34" charset="0"/>
            </a:endParaRPr>
          </a:p>
          <a:p>
            <a:r>
              <a:rPr lang="en-US" sz="2800" b="0" i="0" u="none" strike="noStrike" baseline="0" dirty="0">
                <a:solidFill>
                  <a:srgbClr val="000000"/>
                </a:solidFill>
                <a:latin typeface="Open Sans" panose="020B0606030504020204" pitchFamily="34" charset="0"/>
                <a:sym typeface="Wingdings" panose="05000000000000000000" pitchFamily="2" charset="2"/>
              </a:rPr>
              <a:t> </a:t>
            </a:r>
            <a:r>
              <a:rPr lang="en-US" sz="2800" b="0" i="0" u="none" strike="noStrike" baseline="0" dirty="0">
                <a:solidFill>
                  <a:srgbClr val="000000"/>
                </a:solidFill>
                <a:latin typeface="Open Sans" panose="020B0606030504020204" pitchFamily="34" charset="0"/>
              </a:rPr>
              <a:t>Whether you're in </a:t>
            </a:r>
            <a:r>
              <a:rPr lang="en-US" sz="2800" b="1" i="0" u="none" strike="noStrike" baseline="0" dirty="0">
                <a:solidFill>
                  <a:srgbClr val="000000"/>
                </a:solidFill>
                <a:latin typeface="Open Sans" panose="020B0606030504020204" pitchFamily="34" charset="0"/>
              </a:rPr>
              <a:t>marketing</a:t>
            </a:r>
            <a:r>
              <a:rPr lang="en-US" sz="2800" b="0" i="0" u="none" strike="noStrike" baseline="0" dirty="0">
                <a:solidFill>
                  <a:srgbClr val="000000"/>
                </a:solidFill>
                <a:latin typeface="Open Sans" panose="020B0606030504020204" pitchFamily="34" charset="0"/>
              </a:rPr>
              <a:t> (generating leads), </a:t>
            </a:r>
            <a:r>
              <a:rPr lang="en-US" sz="2800" b="1" i="0" u="none" strike="noStrike" baseline="0" dirty="0">
                <a:solidFill>
                  <a:srgbClr val="000000"/>
                </a:solidFill>
                <a:latin typeface="Open Sans" panose="020B0606030504020204" pitchFamily="34" charset="0"/>
              </a:rPr>
              <a:t>sales</a:t>
            </a:r>
            <a:r>
              <a:rPr lang="en-US" sz="2800" b="0" i="0" u="none" strike="noStrike" baseline="0" dirty="0">
                <a:solidFill>
                  <a:srgbClr val="000000"/>
                </a:solidFill>
                <a:latin typeface="Open Sans" panose="020B0606030504020204" pitchFamily="34" charset="0"/>
              </a:rPr>
              <a:t> (qualifying and closing leads), or even </a:t>
            </a:r>
            <a:r>
              <a:rPr lang="en-US" sz="2800" b="1" i="0" u="none" strike="noStrike" baseline="0" dirty="0">
                <a:solidFill>
                  <a:srgbClr val="000000"/>
                </a:solidFill>
                <a:latin typeface="Open Sans" panose="020B0606030504020204" pitchFamily="34" charset="0"/>
              </a:rPr>
              <a:t>product development</a:t>
            </a:r>
            <a:r>
              <a:rPr lang="en-US" sz="2800" b="0" i="0" u="none" strike="noStrike" baseline="0" dirty="0">
                <a:solidFill>
                  <a:srgbClr val="000000"/>
                </a:solidFill>
                <a:latin typeface="Open Sans" panose="020B0606030504020204" pitchFamily="34" charset="0"/>
              </a:rPr>
              <a:t> (understanding who needs your product), </a:t>
            </a:r>
            <a:r>
              <a:rPr lang="en-US" sz="2800" b="0" i="0" u="none" strike="noStrike" baseline="0" dirty="0">
                <a:solidFill>
                  <a:srgbClr val="000000"/>
                </a:solidFill>
                <a:highlight>
                  <a:srgbClr val="FFFF00"/>
                </a:highlight>
                <a:latin typeface="Open Sans" panose="020B0606030504020204" pitchFamily="34" charset="0"/>
              </a:rPr>
              <a:t>this process is fundamental</a:t>
            </a:r>
            <a:r>
              <a:rPr lang="en-US" sz="2800" b="0" i="0" u="none" strike="noStrike" baseline="0" dirty="0">
                <a:solidFill>
                  <a:srgbClr val="000000"/>
                </a:solidFill>
                <a:latin typeface="Open Sans" panose="020B0606030504020204" pitchFamily="34" charset="0"/>
              </a:rPr>
              <a:t>. </a:t>
            </a:r>
          </a:p>
          <a:p>
            <a:r>
              <a:rPr lang="en-PH" sz="2800" b="0" i="0" u="none" strike="noStrike" baseline="0" dirty="0">
                <a:solidFill>
                  <a:srgbClr val="000000"/>
                </a:solidFill>
                <a:latin typeface="Open Sans" panose="020B0606030504020204" pitchFamily="34" charset="0"/>
              </a:rPr>
              <a:t>	</a:t>
            </a:r>
          </a:p>
        </p:txBody>
      </p:sp>
      <p:sp>
        <p:nvSpPr>
          <p:cNvPr id="4" name="TextBox 3">
            <a:extLst>
              <a:ext uri="{FF2B5EF4-FFF2-40B4-BE49-F238E27FC236}">
                <a16:creationId xmlns:a16="http://schemas.microsoft.com/office/drawing/2014/main" id="{6B181DFD-4E6F-9665-D7B2-88581BF709E1}"/>
              </a:ext>
            </a:extLst>
          </p:cNvPr>
          <p:cNvSpPr txBox="1"/>
          <p:nvPr/>
        </p:nvSpPr>
        <p:spPr>
          <a:xfrm>
            <a:off x="379141" y="3468366"/>
            <a:ext cx="11433718" cy="2893100"/>
          </a:xfrm>
          <a:prstGeom prst="rect">
            <a:avLst/>
          </a:prstGeom>
          <a:noFill/>
        </p:spPr>
        <p:txBody>
          <a:bodyPr wrap="square">
            <a:spAutoFit/>
          </a:bodyPr>
          <a:lstStyle/>
          <a:p>
            <a:r>
              <a:rPr lang="en-US" sz="2800" dirty="0">
                <a:latin typeface="Open Sans" panose="020B0606030504020204" pitchFamily="34" charset="0"/>
                <a:sym typeface="Wingdings" panose="05000000000000000000" pitchFamily="2" charset="2"/>
              </a:rPr>
              <a:t> </a:t>
            </a:r>
            <a:r>
              <a:rPr lang="en-US" sz="2800" b="0" i="0" u="none" strike="noStrike" baseline="0" dirty="0">
                <a:solidFill>
                  <a:srgbClr val="000000"/>
                </a:solidFill>
                <a:latin typeface="Open Sans" panose="020B0606030504020204" pitchFamily="34" charset="0"/>
              </a:rPr>
              <a:t>It's about efficiency: focusing your valuable time and resources on the people most likely to become profitable customers. Today, we'll define the journey from a casual interest to a committed customer, explore where leads come from, learn how to identify the most promising ones, and discuss strategies to nurture them towards a purchase.</a:t>
            </a:r>
          </a:p>
          <a:p>
            <a:r>
              <a:rPr lang="en-PH" sz="1400" b="0" i="0" u="none" strike="noStrike" baseline="0" dirty="0">
                <a:solidFill>
                  <a:srgbClr val="000000"/>
                </a:solidFill>
                <a:latin typeface="Open Sans" panose="020B0606030504020204" pitchFamily="34" charset="0"/>
              </a:rPr>
              <a:t>	</a:t>
            </a:r>
          </a:p>
        </p:txBody>
      </p:sp>
    </p:spTree>
    <p:extLst>
      <p:ext uri="{BB962C8B-B14F-4D97-AF65-F5344CB8AC3E}">
        <p14:creationId xmlns:p14="http://schemas.microsoft.com/office/powerpoint/2010/main" val="3793512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1000"/>
                                        <p:tgtEl>
                                          <p:spTgt spid="102"/>
                                        </p:tgtEl>
                                      </p:cBhvr>
                                    </p:animEffect>
                                    <p:anim calcmode="lin" valueType="num">
                                      <p:cBhvr>
                                        <p:cTn id="8" dur="1000" fill="hold"/>
                                        <p:tgtEl>
                                          <p:spTgt spid="102"/>
                                        </p:tgtEl>
                                        <p:attrNameLst>
                                          <p:attrName>ppt_x</p:attrName>
                                        </p:attrNameLst>
                                      </p:cBhvr>
                                      <p:tavLst>
                                        <p:tav tm="0">
                                          <p:val>
                                            <p:strVal val="#ppt_x"/>
                                          </p:val>
                                        </p:tav>
                                        <p:tav tm="100000">
                                          <p:val>
                                            <p:strVal val="#ppt_x"/>
                                          </p:val>
                                        </p:tav>
                                      </p:tavLst>
                                    </p:anim>
                                    <p:anim calcmode="lin" valueType="num">
                                      <p:cBhvr>
                                        <p:cTn id="9" dur="1000" fill="hold"/>
                                        <p:tgtEl>
                                          <p:spTgt spid="10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2190F910-F084-ABF7-EF22-990437278D93}"/>
            </a:ext>
          </a:extLst>
        </p:cNvPr>
        <p:cNvGrpSpPr/>
        <p:nvPr/>
      </p:nvGrpSpPr>
      <p:grpSpPr>
        <a:xfrm>
          <a:off x="0" y="0"/>
          <a:ext cx="0" cy="0"/>
          <a:chOff x="0" y="0"/>
          <a:chExt cx="0" cy="0"/>
        </a:xfrm>
      </p:grpSpPr>
      <p:sp>
        <p:nvSpPr>
          <p:cNvPr id="102" name="Google Shape;102;p3">
            <a:extLst>
              <a:ext uri="{FF2B5EF4-FFF2-40B4-BE49-F238E27FC236}">
                <a16:creationId xmlns:a16="http://schemas.microsoft.com/office/drawing/2014/main" id="{4D40420E-B27A-6CDD-662F-E756D581BE0E}"/>
              </a:ext>
            </a:extLst>
          </p:cNvPr>
          <p:cNvSpPr txBox="1">
            <a:spLocks noGrp="1"/>
          </p:cNvSpPr>
          <p:nvPr>
            <p:ph type="title"/>
          </p:nvPr>
        </p:nvSpPr>
        <p:spPr>
          <a:xfrm>
            <a:off x="176012" y="287624"/>
            <a:ext cx="11393927" cy="993613"/>
          </a:xfrm>
          <a:prstGeom prst="rect">
            <a:avLst/>
          </a:prstGeom>
          <a:noFill/>
          <a:ln>
            <a:noFill/>
          </a:ln>
        </p:spPr>
        <p:txBody>
          <a:bodyPr spcFirstLastPara="1" wrap="square" lIns="91425" tIns="45700" rIns="91425" bIns="45700" anchor="ctr" anchorCtr="0">
            <a:normAutofit fontScale="90000"/>
          </a:bodyPr>
          <a:lstStyle/>
          <a:p>
            <a:pPr lvl="0">
              <a:buSzPts val="4400"/>
            </a:pPr>
            <a:r>
              <a:rPr lang="en-US" b="1" dirty="0">
                <a:latin typeface="Open Sans"/>
                <a:ea typeface="Open Sans"/>
                <a:cs typeface="Open Sans"/>
                <a:sym typeface="Open Sans"/>
              </a:rPr>
              <a:t>Why is this crucial for you?</a:t>
            </a:r>
            <a:br>
              <a:rPr lang="en-US" sz="4400" dirty="0">
                <a:latin typeface="Open Sans"/>
                <a:ea typeface="Open Sans"/>
                <a:cs typeface="Open Sans"/>
                <a:sym typeface="Open Sans"/>
              </a:rPr>
            </a:br>
            <a:endParaRPr dirty="0">
              <a:latin typeface="Open Sans"/>
              <a:ea typeface="Open Sans"/>
              <a:cs typeface="Open Sans"/>
              <a:sym typeface="Open Sans"/>
            </a:endParaRPr>
          </a:p>
        </p:txBody>
      </p:sp>
      <p:sp>
        <p:nvSpPr>
          <p:cNvPr id="3" name="TextBox 2">
            <a:extLst>
              <a:ext uri="{FF2B5EF4-FFF2-40B4-BE49-F238E27FC236}">
                <a16:creationId xmlns:a16="http://schemas.microsoft.com/office/drawing/2014/main" id="{F385C48F-C839-BFA1-273D-D26EBDF6C6C6}"/>
              </a:ext>
            </a:extLst>
          </p:cNvPr>
          <p:cNvSpPr txBox="1"/>
          <p:nvPr/>
        </p:nvSpPr>
        <p:spPr>
          <a:xfrm>
            <a:off x="379141" y="1041741"/>
            <a:ext cx="11636847" cy="2431435"/>
          </a:xfrm>
          <a:prstGeom prst="rect">
            <a:avLst/>
          </a:prstGeom>
          <a:noFill/>
        </p:spPr>
        <p:txBody>
          <a:bodyPr wrap="square">
            <a:spAutoFit/>
          </a:bodyPr>
          <a:lstStyle/>
          <a:p>
            <a:endParaRPr lang="en-PH" sz="4000" b="0" i="0" u="none" strike="noStrike" baseline="0" dirty="0">
              <a:latin typeface="Open Sans" panose="020B0606030504020204" pitchFamily="34" charset="0"/>
            </a:endParaRPr>
          </a:p>
          <a:p>
            <a:r>
              <a:rPr lang="en-US" sz="2800" b="0" i="0" u="none" strike="noStrike" baseline="0" dirty="0">
                <a:solidFill>
                  <a:srgbClr val="000000"/>
                </a:solidFill>
                <a:latin typeface="Open Sans" panose="020B0606030504020204" pitchFamily="34" charset="0"/>
                <a:sym typeface="Wingdings" panose="05000000000000000000" pitchFamily="2" charset="2"/>
              </a:rPr>
              <a:t> </a:t>
            </a:r>
            <a:r>
              <a:rPr lang="en-US" sz="2800" b="0" i="0" u="none" strike="noStrike" baseline="0" dirty="0">
                <a:solidFill>
                  <a:srgbClr val="000000"/>
                </a:solidFill>
                <a:latin typeface="Open Sans" panose="020B0606030504020204" pitchFamily="34" charset="0"/>
              </a:rPr>
              <a:t>Whether you're in </a:t>
            </a:r>
            <a:r>
              <a:rPr lang="en-US" sz="2800" b="1" i="0" u="none" strike="noStrike" baseline="0" dirty="0">
                <a:solidFill>
                  <a:srgbClr val="000000"/>
                </a:solidFill>
                <a:latin typeface="Open Sans" panose="020B0606030504020204" pitchFamily="34" charset="0"/>
              </a:rPr>
              <a:t>marketing</a:t>
            </a:r>
            <a:r>
              <a:rPr lang="en-US" sz="2800" b="0" i="0" u="none" strike="noStrike" baseline="0" dirty="0">
                <a:solidFill>
                  <a:srgbClr val="000000"/>
                </a:solidFill>
                <a:latin typeface="Open Sans" panose="020B0606030504020204" pitchFamily="34" charset="0"/>
              </a:rPr>
              <a:t> (generating leads), </a:t>
            </a:r>
            <a:r>
              <a:rPr lang="en-US" sz="2800" b="1" i="0" u="none" strike="noStrike" baseline="0" dirty="0">
                <a:solidFill>
                  <a:srgbClr val="000000"/>
                </a:solidFill>
                <a:latin typeface="Open Sans" panose="020B0606030504020204" pitchFamily="34" charset="0"/>
              </a:rPr>
              <a:t>sales</a:t>
            </a:r>
            <a:r>
              <a:rPr lang="en-US" sz="2800" b="0" i="0" u="none" strike="noStrike" baseline="0" dirty="0">
                <a:solidFill>
                  <a:srgbClr val="000000"/>
                </a:solidFill>
                <a:latin typeface="Open Sans" panose="020B0606030504020204" pitchFamily="34" charset="0"/>
              </a:rPr>
              <a:t> (qualifying and closing leads), or even </a:t>
            </a:r>
            <a:r>
              <a:rPr lang="en-US" sz="2800" b="1" i="0" u="none" strike="noStrike" baseline="0" dirty="0">
                <a:solidFill>
                  <a:srgbClr val="000000"/>
                </a:solidFill>
                <a:latin typeface="Open Sans" panose="020B0606030504020204" pitchFamily="34" charset="0"/>
              </a:rPr>
              <a:t>product development</a:t>
            </a:r>
            <a:r>
              <a:rPr lang="en-US" sz="2800" b="0" i="0" u="none" strike="noStrike" baseline="0" dirty="0">
                <a:solidFill>
                  <a:srgbClr val="000000"/>
                </a:solidFill>
                <a:latin typeface="Open Sans" panose="020B0606030504020204" pitchFamily="34" charset="0"/>
              </a:rPr>
              <a:t> (understanding who needs your product), </a:t>
            </a:r>
            <a:r>
              <a:rPr lang="en-US" sz="2800" b="0" i="0" u="none" strike="noStrike" baseline="0" dirty="0">
                <a:solidFill>
                  <a:srgbClr val="000000"/>
                </a:solidFill>
                <a:highlight>
                  <a:srgbClr val="FFFF00"/>
                </a:highlight>
                <a:latin typeface="Open Sans" panose="020B0606030504020204" pitchFamily="34" charset="0"/>
              </a:rPr>
              <a:t>this process is fundamental</a:t>
            </a:r>
            <a:r>
              <a:rPr lang="en-US" sz="2800" b="0" i="0" u="none" strike="noStrike" baseline="0" dirty="0">
                <a:solidFill>
                  <a:srgbClr val="000000"/>
                </a:solidFill>
                <a:latin typeface="Open Sans" panose="020B0606030504020204" pitchFamily="34" charset="0"/>
              </a:rPr>
              <a:t>. </a:t>
            </a:r>
          </a:p>
          <a:p>
            <a:r>
              <a:rPr lang="en-PH" sz="2800" b="0" i="0" u="none" strike="noStrike" baseline="0" dirty="0">
                <a:solidFill>
                  <a:srgbClr val="000000"/>
                </a:solidFill>
                <a:latin typeface="Open Sans" panose="020B0606030504020204" pitchFamily="34" charset="0"/>
              </a:rPr>
              <a:t>	</a:t>
            </a:r>
          </a:p>
        </p:txBody>
      </p:sp>
      <p:sp>
        <p:nvSpPr>
          <p:cNvPr id="4" name="TextBox 3">
            <a:extLst>
              <a:ext uri="{FF2B5EF4-FFF2-40B4-BE49-F238E27FC236}">
                <a16:creationId xmlns:a16="http://schemas.microsoft.com/office/drawing/2014/main" id="{9F6EA20E-7401-42E6-D037-C5036B7EC9F4}"/>
              </a:ext>
            </a:extLst>
          </p:cNvPr>
          <p:cNvSpPr txBox="1"/>
          <p:nvPr/>
        </p:nvSpPr>
        <p:spPr>
          <a:xfrm>
            <a:off x="379141" y="3468366"/>
            <a:ext cx="11433718" cy="2893100"/>
          </a:xfrm>
          <a:prstGeom prst="rect">
            <a:avLst/>
          </a:prstGeom>
          <a:noFill/>
        </p:spPr>
        <p:txBody>
          <a:bodyPr wrap="square">
            <a:spAutoFit/>
          </a:bodyPr>
          <a:lstStyle/>
          <a:p>
            <a:r>
              <a:rPr lang="en-US" sz="2800" dirty="0">
                <a:latin typeface="Open Sans" panose="020B0606030504020204" pitchFamily="34" charset="0"/>
                <a:sym typeface="Wingdings" panose="05000000000000000000" pitchFamily="2" charset="2"/>
              </a:rPr>
              <a:t> </a:t>
            </a:r>
            <a:r>
              <a:rPr lang="en-US" sz="2800" b="0" i="0" u="none" strike="noStrike" baseline="0" dirty="0">
                <a:solidFill>
                  <a:srgbClr val="000000"/>
                </a:solidFill>
                <a:latin typeface="Open Sans" panose="020B0606030504020204" pitchFamily="34" charset="0"/>
              </a:rPr>
              <a:t>It's about efficiency: focusing your valuable time and resources on the </a:t>
            </a:r>
            <a:r>
              <a:rPr lang="en-US" sz="2800" b="0" i="0" u="none" strike="noStrike" baseline="0" dirty="0">
                <a:solidFill>
                  <a:srgbClr val="000000"/>
                </a:solidFill>
                <a:highlight>
                  <a:srgbClr val="FFFF00"/>
                </a:highlight>
                <a:latin typeface="Open Sans" panose="020B0606030504020204" pitchFamily="34" charset="0"/>
              </a:rPr>
              <a:t>people most likely to become profitable customers</a:t>
            </a:r>
            <a:r>
              <a:rPr lang="en-US" sz="2800" b="0" i="0" u="none" strike="noStrike" baseline="0" dirty="0">
                <a:solidFill>
                  <a:srgbClr val="000000"/>
                </a:solidFill>
                <a:latin typeface="Open Sans" panose="020B0606030504020204" pitchFamily="34" charset="0"/>
              </a:rPr>
              <a:t>. Today, we'll define the journey from a casual interest to a committed customer, explore where leads come from, learn how to identify the most promising ones, and discuss strategies to nurture them towards a purchase.</a:t>
            </a:r>
          </a:p>
          <a:p>
            <a:r>
              <a:rPr lang="en-PH" sz="1400" b="0" i="0" u="none" strike="noStrike" baseline="0" dirty="0">
                <a:solidFill>
                  <a:srgbClr val="000000"/>
                </a:solidFill>
                <a:latin typeface="Open Sans" panose="020B0606030504020204" pitchFamily="34" charset="0"/>
              </a:rPr>
              <a:t>	</a:t>
            </a:r>
          </a:p>
        </p:txBody>
      </p:sp>
    </p:spTree>
    <p:extLst>
      <p:ext uri="{BB962C8B-B14F-4D97-AF65-F5344CB8AC3E}">
        <p14:creationId xmlns:p14="http://schemas.microsoft.com/office/powerpoint/2010/main" val="205323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1000"/>
                                        <p:tgtEl>
                                          <p:spTgt spid="102"/>
                                        </p:tgtEl>
                                      </p:cBhvr>
                                    </p:animEffect>
                                    <p:anim calcmode="lin" valueType="num">
                                      <p:cBhvr>
                                        <p:cTn id="8" dur="1000" fill="hold"/>
                                        <p:tgtEl>
                                          <p:spTgt spid="102"/>
                                        </p:tgtEl>
                                        <p:attrNameLst>
                                          <p:attrName>ppt_x</p:attrName>
                                        </p:attrNameLst>
                                      </p:cBhvr>
                                      <p:tavLst>
                                        <p:tav tm="0">
                                          <p:val>
                                            <p:strVal val="#ppt_x"/>
                                          </p:val>
                                        </p:tav>
                                        <p:tav tm="100000">
                                          <p:val>
                                            <p:strVal val="#ppt_x"/>
                                          </p:val>
                                        </p:tav>
                                      </p:tavLst>
                                    </p:anim>
                                    <p:anim calcmode="lin" valueType="num">
                                      <p:cBhvr>
                                        <p:cTn id="9" dur="1000" fill="hold"/>
                                        <p:tgtEl>
                                          <p:spTgt spid="10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2BBB49E-ADCE-34BF-3B8F-A6E221E739B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DC5E84B-CD31-DF61-1683-880CA0D7FAE7}"/>
              </a:ext>
            </a:extLst>
          </p:cNvPr>
          <p:cNvSpPr>
            <a:spLocks noGrp="1"/>
          </p:cNvSpPr>
          <p:nvPr>
            <p:ph type="title"/>
          </p:nvPr>
        </p:nvSpPr>
        <p:spPr>
          <a:xfrm>
            <a:off x="489857" y="365125"/>
            <a:ext cx="11315700" cy="1325563"/>
          </a:xfrm>
        </p:spPr>
        <p:txBody>
          <a:bodyPr/>
          <a:lstStyle/>
          <a:p>
            <a:r>
              <a:rPr lang="en-PH" dirty="0"/>
              <a:t>https://www.youtube.com/shorts/n2s1h4ReE_Y</a:t>
            </a:r>
          </a:p>
        </p:txBody>
      </p:sp>
    </p:spTree>
    <p:extLst>
      <p:ext uri="{BB962C8B-B14F-4D97-AF65-F5344CB8AC3E}">
        <p14:creationId xmlns:p14="http://schemas.microsoft.com/office/powerpoint/2010/main" val="3739443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6556FD90-7B36-CA5F-BCFA-1969F1C557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DCF597-5236-E6D3-83B1-75DC42521DFD}"/>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1. Defining Leads, Prospects, and Customers: The Journey Stages </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F746AC51-B606-FFBD-81FE-EB9F558842CD}"/>
              </a:ext>
            </a:extLst>
          </p:cNvPr>
          <p:cNvPicPr>
            <a:picLocks noChangeAspect="1"/>
          </p:cNvPicPr>
          <p:nvPr/>
        </p:nvPicPr>
        <p:blipFill>
          <a:blip r:embed="rId3"/>
          <a:stretch>
            <a:fillRect/>
          </a:stretch>
        </p:blipFill>
        <p:spPr>
          <a:xfrm>
            <a:off x="1444119" y="1508892"/>
            <a:ext cx="9303762" cy="3840215"/>
          </a:xfrm>
          <a:prstGeom prst="rect">
            <a:avLst/>
          </a:prstGeom>
        </p:spPr>
      </p:pic>
    </p:spTree>
    <p:extLst>
      <p:ext uri="{BB962C8B-B14F-4D97-AF65-F5344CB8AC3E}">
        <p14:creationId xmlns:p14="http://schemas.microsoft.com/office/powerpoint/2010/main" val="148780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332DB174-B4A6-BCAC-B857-CF06B7C0FA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EF2AABA-6835-56E6-FCFA-8C1C610F84C7}"/>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1. Defining Leads, Prospects, and Customers: The Journey Stages </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DB2BFB11-4C6D-6855-A921-DDE7C45B737B}"/>
              </a:ext>
            </a:extLst>
          </p:cNvPr>
          <p:cNvPicPr>
            <a:picLocks noChangeAspect="1"/>
          </p:cNvPicPr>
          <p:nvPr/>
        </p:nvPicPr>
        <p:blipFill>
          <a:blip r:embed="rId3"/>
          <a:stretch>
            <a:fillRect/>
          </a:stretch>
        </p:blipFill>
        <p:spPr>
          <a:xfrm>
            <a:off x="1807029" y="732710"/>
            <a:ext cx="8218714" cy="1177733"/>
          </a:xfrm>
          <a:prstGeom prst="rect">
            <a:avLst/>
          </a:prstGeom>
        </p:spPr>
      </p:pic>
      <p:sp>
        <p:nvSpPr>
          <p:cNvPr id="4" name="TextBox 3">
            <a:extLst>
              <a:ext uri="{FF2B5EF4-FFF2-40B4-BE49-F238E27FC236}">
                <a16:creationId xmlns:a16="http://schemas.microsoft.com/office/drawing/2014/main" id="{BF16B312-6BF5-26B6-2FC6-D82A6C90D581}"/>
              </a:ext>
            </a:extLst>
          </p:cNvPr>
          <p:cNvSpPr txBox="1"/>
          <p:nvPr/>
        </p:nvSpPr>
        <p:spPr>
          <a:xfrm>
            <a:off x="277586" y="2049700"/>
            <a:ext cx="11772899" cy="1200329"/>
          </a:xfrm>
          <a:prstGeom prst="rect">
            <a:avLst/>
          </a:prstGeom>
          <a:noFill/>
        </p:spPr>
        <p:txBody>
          <a:bodyPr wrap="square">
            <a:spAutoFit/>
          </a:bodyPr>
          <a:lstStyle/>
          <a:p>
            <a:r>
              <a:rPr lang="en-PH" sz="2400" b="1" i="0" u="none" strike="noStrike" baseline="0" dirty="0">
                <a:solidFill>
                  <a:srgbClr val="000000"/>
                </a:solidFill>
                <a:latin typeface="Open Sans" panose="020B0606030504020204" pitchFamily="34" charset="0"/>
              </a:rPr>
              <a:t>a. Lead- </a:t>
            </a:r>
            <a:r>
              <a:rPr lang="en-US" sz="2400" b="0" i="0" u="none" strike="noStrike" baseline="0" dirty="0">
                <a:solidFill>
                  <a:srgbClr val="000000"/>
                </a:solidFill>
                <a:latin typeface="Open Sans" panose="020B0606030504020204" pitchFamily="34" charset="0"/>
              </a:rPr>
              <a:t>An individual or organization that has shown some level of interest in your product or service, or whose characteristics suggest they might be a potential customer. </a:t>
            </a:r>
            <a:r>
              <a:rPr lang="en-PH" sz="2400" b="0" i="0" u="none" strike="noStrike" baseline="0" dirty="0">
                <a:solidFill>
                  <a:srgbClr val="000000"/>
                </a:solidFill>
                <a:latin typeface="Open Sans" panose="020B0606030504020204" pitchFamily="34" charset="0"/>
              </a:rPr>
              <a:t>	</a:t>
            </a:r>
          </a:p>
        </p:txBody>
      </p:sp>
      <p:sp>
        <p:nvSpPr>
          <p:cNvPr id="6" name="TextBox 5">
            <a:extLst>
              <a:ext uri="{FF2B5EF4-FFF2-40B4-BE49-F238E27FC236}">
                <a16:creationId xmlns:a16="http://schemas.microsoft.com/office/drawing/2014/main" id="{10ADF42F-AF9B-46D8-016D-481DB6341D22}"/>
              </a:ext>
            </a:extLst>
          </p:cNvPr>
          <p:cNvSpPr txBox="1"/>
          <p:nvPr/>
        </p:nvSpPr>
        <p:spPr>
          <a:xfrm>
            <a:off x="277586" y="3162762"/>
            <a:ext cx="11772898" cy="1938992"/>
          </a:xfrm>
          <a:prstGeom prst="rect">
            <a:avLst/>
          </a:prstGeom>
          <a:noFill/>
        </p:spPr>
        <p:txBody>
          <a:bodyPr wrap="square">
            <a:spAutoFit/>
          </a:bodyPr>
          <a:lstStyle/>
          <a:p>
            <a:endParaRPr lang="en-PH" sz="2400" b="0" i="0" u="none" strike="noStrike" baseline="0" dirty="0">
              <a:latin typeface="Open Sans" panose="020B0606030504020204" pitchFamily="34" charset="0"/>
            </a:endParaRPr>
          </a:p>
          <a:p>
            <a:r>
              <a:rPr lang="en-US" sz="2400" b="1" i="0" u="none" strike="noStrike" baseline="0" dirty="0">
                <a:solidFill>
                  <a:srgbClr val="000000"/>
                </a:solidFill>
                <a:latin typeface="Open Sans" panose="020B0606030504020204" pitchFamily="34" charset="0"/>
              </a:rPr>
              <a:t>Characteristics: </a:t>
            </a:r>
            <a:r>
              <a:rPr lang="en-US" sz="2400" b="0" i="0" u="none" strike="noStrike" baseline="0" dirty="0">
                <a:solidFill>
                  <a:srgbClr val="000000"/>
                </a:solidFill>
                <a:latin typeface="Open Sans" panose="020B0606030504020204" pitchFamily="34" charset="0"/>
              </a:rPr>
              <a:t>They might have filled out a form, downloaded content, visited a specific page, or simply fit your target demographic. They are </a:t>
            </a:r>
            <a:r>
              <a:rPr lang="en-US" sz="2400" b="0" i="1" u="none" strike="noStrike" baseline="0" dirty="0">
                <a:solidFill>
                  <a:srgbClr val="000000"/>
                </a:solidFill>
                <a:latin typeface="Open Sans" panose="020B0606030504020204" pitchFamily="34" charset="0"/>
              </a:rPr>
              <a:t>potential </a:t>
            </a:r>
            <a:r>
              <a:rPr lang="en-US" sz="2400" b="0" i="0" u="none" strike="noStrike" baseline="0" dirty="0">
                <a:solidFill>
                  <a:srgbClr val="000000"/>
                </a:solidFill>
                <a:latin typeface="Open Sans" panose="020B0606030504020204" pitchFamily="34" charset="0"/>
              </a:rPr>
              <a:t>future customers. </a:t>
            </a:r>
          </a:p>
          <a:p>
            <a:r>
              <a:rPr lang="en-PH" sz="2400" b="0" i="0" u="none" strike="noStrike" baseline="0" dirty="0">
                <a:solidFill>
                  <a:srgbClr val="000000"/>
                </a:solidFill>
                <a:latin typeface="Open Sans" panose="020B0606030504020204" pitchFamily="34" charset="0"/>
              </a:rPr>
              <a:t>	</a:t>
            </a:r>
          </a:p>
        </p:txBody>
      </p:sp>
      <p:sp>
        <p:nvSpPr>
          <p:cNvPr id="9" name="TextBox 8">
            <a:extLst>
              <a:ext uri="{FF2B5EF4-FFF2-40B4-BE49-F238E27FC236}">
                <a16:creationId xmlns:a16="http://schemas.microsoft.com/office/drawing/2014/main" id="{CFB02185-EE13-21DD-756A-0148D5098A62}"/>
              </a:ext>
            </a:extLst>
          </p:cNvPr>
          <p:cNvSpPr txBox="1"/>
          <p:nvPr/>
        </p:nvSpPr>
        <p:spPr>
          <a:xfrm>
            <a:off x="3002598" y="4274631"/>
            <a:ext cx="9047886" cy="1938992"/>
          </a:xfrm>
          <a:prstGeom prst="rect">
            <a:avLst/>
          </a:prstGeom>
          <a:noFill/>
        </p:spPr>
        <p:txBody>
          <a:bodyPr wrap="square">
            <a:spAutoFit/>
          </a:bodyPr>
          <a:lstStyle/>
          <a:p>
            <a:endParaRPr lang="en-PH" sz="2400" b="0" i="0" u="none" strike="noStrike" baseline="0" dirty="0">
              <a:latin typeface="Open Sans" panose="020B0606030504020204" pitchFamily="34" charset="0"/>
            </a:endParaRPr>
          </a:p>
          <a:p>
            <a:r>
              <a:rPr lang="en-US" sz="2400" b="1" i="0" u="none" strike="noStrike" baseline="0" dirty="0">
                <a:solidFill>
                  <a:srgbClr val="000000"/>
                </a:solidFill>
                <a:latin typeface="Open Sans" panose="020B0606030504020204" pitchFamily="34" charset="0"/>
              </a:rPr>
              <a:t>Example: </a:t>
            </a:r>
            <a:r>
              <a:rPr lang="en-US" sz="2400" b="0" i="0" u="none" strike="noStrike" baseline="0" dirty="0">
                <a:solidFill>
                  <a:srgbClr val="000000"/>
                </a:solidFill>
                <a:latin typeface="Open Sans" panose="020B0606030504020204" pitchFamily="34" charset="0"/>
              </a:rPr>
              <a:t>Someone who downloaded your e-book on "Digital Marketing Trends." You know their email, but not much else about their specific needs or buying intent. </a:t>
            </a:r>
          </a:p>
          <a:p>
            <a:r>
              <a:rPr lang="en-PH" sz="2400" b="0" i="0" u="none" strike="noStrike" baseline="0" dirty="0">
                <a:solidFill>
                  <a:srgbClr val="000000"/>
                </a:solidFill>
                <a:latin typeface="Open Sans" panose="020B0606030504020204" pitchFamily="34" charset="0"/>
              </a:rPr>
              <a:t>	</a:t>
            </a:r>
          </a:p>
        </p:txBody>
      </p:sp>
    </p:spTree>
    <p:extLst>
      <p:ext uri="{BB962C8B-B14F-4D97-AF65-F5344CB8AC3E}">
        <p14:creationId xmlns:p14="http://schemas.microsoft.com/office/powerpoint/2010/main" val="522427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94FDB27B-254F-2F83-BC9B-BFEAD72064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736B71-A7A2-2700-083B-402B51E54E95}"/>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1. Defining Leads, Prospects, and Customers: The Journey Stages </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D5F896DA-7AD5-3FB8-3B07-2A22433C3781}"/>
              </a:ext>
            </a:extLst>
          </p:cNvPr>
          <p:cNvPicPr>
            <a:picLocks noChangeAspect="1"/>
          </p:cNvPicPr>
          <p:nvPr/>
        </p:nvPicPr>
        <p:blipFill>
          <a:blip r:embed="rId3"/>
          <a:stretch>
            <a:fillRect/>
          </a:stretch>
        </p:blipFill>
        <p:spPr>
          <a:xfrm>
            <a:off x="1807029" y="732710"/>
            <a:ext cx="8218714" cy="1177733"/>
          </a:xfrm>
          <a:prstGeom prst="rect">
            <a:avLst/>
          </a:prstGeom>
        </p:spPr>
      </p:pic>
      <p:sp>
        <p:nvSpPr>
          <p:cNvPr id="4" name="TextBox 3">
            <a:extLst>
              <a:ext uri="{FF2B5EF4-FFF2-40B4-BE49-F238E27FC236}">
                <a16:creationId xmlns:a16="http://schemas.microsoft.com/office/drawing/2014/main" id="{AFC43CA3-6862-D3F1-E65D-876DFB62708B}"/>
              </a:ext>
            </a:extLst>
          </p:cNvPr>
          <p:cNvSpPr txBox="1"/>
          <p:nvPr/>
        </p:nvSpPr>
        <p:spPr>
          <a:xfrm>
            <a:off x="277586" y="2049700"/>
            <a:ext cx="11772899" cy="1200329"/>
          </a:xfrm>
          <a:prstGeom prst="rect">
            <a:avLst/>
          </a:prstGeom>
          <a:noFill/>
        </p:spPr>
        <p:txBody>
          <a:bodyPr wrap="square">
            <a:spAutoFit/>
          </a:bodyPr>
          <a:lstStyle/>
          <a:p>
            <a:r>
              <a:rPr lang="en-PH" sz="2400" b="1" dirty="0">
                <a:latin typeface="Open Sans" panose="020B0606030504020204" pitchFamily="34" charset="0"/>
              </a:rPr>
              <a:t>b</a:t>
            </a:r>
            <a:r>
              <a:rPr lang="en-PH" sz="2400" b="1" i="0" u="none" strike="noStrike" baseline="0" dirty="0">
                <a:solidFill>
                  <a:srgbClr val="000000"/>
                </a:solidFill>
                <a:latin typeface="Open Sans" panose="020B0606030504020204" pitchFamily="34" charset="0"/>
              </a:rPr>
              <a:t>. Prospect - </a:t>
            </a:r>
            <a:r>
              <a:rPr lang="en-US" sz="2400" b="0" i="0" u="none" strike="noStrike" baseline="0" dirty="0">
                <a:solidFill>
                  <a:srgbClr val="000000"/>
                </a:solidFill>
                <a:latin typeface="Open Sans" panose="020B0606030504020204" pitchFamily="34" charset="0"/>
              </a:rPr>
              <a:t>A qualified lead who has been identified as having a need for your product/service, the budget to purchase it, the authority to make a decision, and a timeline for purchase</a:t>
            </a:r>
            <a:r>
              <a:rPr lang="en-PH" sz="2400" b="0" i="0" u="none" strike="noStrike" baseline="0" dirty="0">
                <a:solidFill>
                  <a:srgbClr val="000000"/>
                </a:solidFill>
                <a:latin typeface="Open Sans" panose="020B0606030504020204" pitchFamily="34" charset="0"/>
              </a:rPr>
              <a:t>	</a:t>
            </a:r>
          </a:p>
        </p:txBody>
      </p:sp>
      <p:sp>
        <p:nvSpPr>
          <p:cNvPr id="6" name="TextBox 5">
            <a:extLst>
              <a:ext uri="{FF2B5EF4-FFF2-40B4-BE49-F238E27FC236}">
                <a16:creationId xmlns:a16="http://schemas.microsoft.com/office/drawing/2014/main" id="{B0C5A03D-EF65-3FC2-7C13-667D5415D232}"/>
              </a:ext>
            </a:extLst>
          </p:cNvPr>
          <p:cNvSpPr txBox="1"/>
          <p:nvPr/>
        </p:nvSpPr>
        <p:spPr>
          <a:xfrm>
            <a:off x="141515" y="3429000"/>
            <a:ext cx="11772898" cy="1200329"/>
          </a:xfrm>
          <a:prstGeom prst="rect">
            <a:avLst/>
          </a:prstGeom>
          <a:noFill/>
        </p:spPr>
        <p:txBody>
          <a:bodyPr wrap="square">
            <a:spAutoFit/>
          </a:bodyPr>
          <a:lstStyle/>
          <a:p>
            <a:r>
              <a:rPr lang="en-US" sz="2400" b="1" i="0" u="none" strike="noStrike" baseline="0" dirty="0">
                <a:solidFill>
                  <a:srgbClr val="000000"/>
                </a:solidFill>
                <a:latin typeface="Open Sans" panose="020B0606030504020204" pitchFamily="34" charset="0"/>
              </a:rPr>
              <a:t>Characteristics: </a:t>
            </a:r>
            <a:r>
              <a:rPr lang="en-US" sz="2400" b="0" i="0" u="none" strike="noStrike" baseline="0" dirty="0">
                <a:solidFill>
                  <a:srgbClr val="000000"/>
                </a:solidFill>
                <a:latin typeface="Open Sans" panose="020B0606030504020204" pitchFamily="34" charset="0"/>
              </a:rPr>
              <a:t>They've engaged more deeply, perhaps requested a demo, had a discovery call, or explicitly stated a problem your product can solve. They are a potential customer with a higher likelihood of conversion.</a:t>
            </a:r>
            <a:r>
              <a:rPr lang="en-PH" sz="2400" b="0" i="0" u="none" strike="noStrike" baseline="0" dirty="0">
                <a:solidFill>
                  <a:srgbClr val="000000"/>
                </a:solidFill>
                <a:latin typeface="Open Sans" panose="020B0606030504020204" pitchFamily="34" charset="0"/>
              </a:rPr>
              <a:t>	</a:t>
            </a:r>
          </a:p>
        </p:txBody>
      </p:sp>
      <p:sp>
        <p:nvSpPr>
          <p:cNvPr id="9" name="TextBox 8">
            <a:extLst>
              <a:ext uri="{FF2B5EF4-FFF2-40B4-BE49-F238E27FC236}">
                <a16:creationId xmlns:a16="http://schemas.microsoft.com/office/drawing/2014/main" id="{4D1BD49D-6A12-B002-6939-32A982F5BCA7}"/>
              </a:ext>
            </a:extLst>
          </p:cNvPr>
          <p:cNvSpPr txBox="1"/>
          <p:nvPr/>
        </p:nvSpPr>
        <p:spPr>
          <a:xfrm>
            <a:off x="2645758" y="4363091"/>
            <a:ext cx="9268655" cy="1569660"/>
          </a:xfrm>
          <a:prstGeom prst="rect">
            <a:avLst/>
          </a:prstGeom>
          <a:noFill/>
        </p:spPr>
        <p:txBody>
          <a:bodyPr wrap="square">
            <a:spAutoFit/>
          </a:bodyPr>
          <a:lstStyle/>
          <a:p>
            <a:endParaRPr lang="en-PH" sz="2400" b="0" i="0" u="none" strike="noStrike" baseline="0" dirty="0">
              <a:latin typeface="Open Sans" panose="020B0606030504020204" pitchFamily="34" charset="0"/>
            </a:endParaRPr>
          </a:p>
          <a:p>
            <a:r>
              <a:rPr lang="en-US" sz="2400" b="1" i="0" u="none" strike="noStrike" baseline="0" dirty="0">
                <a:solidFill>
                  <a:srgbClr val="000000"/>
                </a:solidFill>
                <a:latin typeface="Open Sans" panose="020B0606030504020204" pitchFamily="34" charset="0"/>
              </a:rPr>
              <a:t>Example: </a:t>
            </a:r>
            <a:r>
              <a:rPr lang="en-US" sz="2400" b="0" i="0" u="none" strike="noStrike" baseline="0" dirty="0">
                <a:solidFill>
                  <a:srgbClr val="000000"/>
                </a:solidFill>
                <a:latin typeface="Open Sans" panose="020B0606030504020204" pitchFamily="34" charset="0"/>
              </a:rPr>
              <a:t>The person who downloaded your e-book then requested a free consultation call and discussed their company's specific marketing challenges.</a:t>
            </a:r>
            <a:endParaRPr lang="en-PH" sz="2400" b="0" i="0" u="none" strike="noStrike" baseline="0" dirty="0">
              <a:solidFill>
                <a:srgbClr val="000000"/>
              </a:solidFill>
              <a:latin typeface="Open Sans" panose="020B0606030504020204" pitchFamily="34" charset="0"/>
            </a:endParaRPr>
          </a:p>
        </p:txBody>
      </p:sp>
    </p:spTree>
    <p:extLst>
      <p:ext uri="{BB962C8B-B14F-4D97-AF65-F5344CB8AC3E}">
        <p14:creationId xmlns:p14="http://schemas.microsoft.com/office/powerpoint/2010/main" val="399702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6F502683-CEDD-95EA-C67C-0C1A904D64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D362A5-B8BD-A08C-ED84-DCB850219FAA}"/>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1. Defining Leads, Prospects, and Customers: The Journey Stages </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FC1F353F-A3C7-3A78-CB8D-E333173D5AB1}"/>
              </a:ext>
            </a:extLst>
          </p:cNvPr>
          <p:cNvPicPr>
            <a:picLocks noChangeAspect="1"/>
          </p:cNvPicPr>
          <p:nvPr/>
        </p:nvPicPr>
        <p:blipFill>
          <a:blip r:embed="rId3"/>
          <a:stretch>
            <a:fillRect/>
          </a:stretch>
        </p:blipFill>
        <p:spPr>
          <a:xfrm>
            <a:off x="1807029" y="732710"/>
            <a:ext cx="8218714" cy="1177733"/>
          </a:xfrm>
          <a:prstGeom prst="rect">
            <a:avLst/>
          </a:prstGeom>
        </p:spPr>
      </p:pic>
      <p:sp>
        <p:nvSpPr>
          <p:cNvPr id="4" name="TextBox 3">
            <a:extLst>
              <a:ext uri="{FF2B5EF4-FFF2-40B4-BE49-F238E27FC236}">
                <a16:creationId xmlns:a16="http://schemas.microsoft.com/office/drawing/2014/main" id="{345A05CB-30C3-3083-73B6-6B362B5BC540}"/>
              </a:ext>
            </a:extLst>
          </p:cNvPr>
          <p:cNvSpPr txBox="1"/>
          <p:nvPr/>
        </p:nvSpPr>
        <p:spPr>
          <a:xfrm>
            <a:off x="277586" y="2049700"/>
            <a:ext cx="11772899" cy="830997"/>
          </a:xfrm>
          <a:prstGeom prst="rect">
            <a:avLst/>
          </a:prstGeom>
          <a:noFill/>
        </p:spPr>
        <p:txBody>
          <a:bodyPr wrap="square">
            <a:spAutoFit/>
          </a:bodyPr>
          <a:lstStyle/>
          <a:p>
            <a:r>
              <a:rPr lang="en-PH" sz="2400" b="1" dirty="0">
                <a:latin typeface="Open Sans" panose="020B0606030504020204" pitchFamily="34" charset="0"/>
              </a:rPr>
              <a:t>c</a:t>
            </a:r>
            <a:r>
              <a:rPr lang="en-PH" sz="2400" b="1" i="0" u="none" strike="noStrike" baseline="0" dirty="0">
                <a:solidFill>
                  <a:srgbClr val="000000"/>
                </a:solidFill>
                <a:latin typeface="Open Sans" panose="020B0606030504020204" pitchFamily="34" charset="0"/>
              </a:rPr>
              <a:t>. Customer- </a:t>
            </a:r>
            <a:r>
              <a:rPr lang="en-US" sz="2400" b="0" i="0" u="none" strike="noStrike" baseline="0" dirty="0">
                <a:solidFill>
                  <a:srgbClr val="000000"/>
                </a:solidFill>
                <a:latin typeface="Open Sans" panose="020B0606030504020204" pitchFamily="34" charset="0"/>
              </a:rPr>
              <a:t>An individual or organization that has purchased your product or service.</a:t>
            </a:r>
            <a:endParaRPr lang="en-PH" sz="2400" b="0" i="0" u="none" strike="noStrike" baseline="0" dirty="0">
              <a:solidFill>
                <a:srgbClr val="000000"/>
              </a:solidFill>
              <a:latin typeface="Open Sans" panose="020B0606030504020204" pitchFamily="34" charset="0"/>
            </a:endParaRPr>
          </a:p>
        </p:txBody>
      </p:sp>
      <p:sp>
        <p:nvSpPr>
          <p:cNvPr id="6" name="TextBox 5">
            <a:extLst>
              <a:ext uri="{FF2B5EF4-FFF2-40B4-BE49-F238E27FC236}">
                <a16:creationId xmlns:a16="http://schemas.microsoft.com/office/drawing/2014/main" id="{B2F3996F-F88D-CC4D-C8A0-F24C00E9FE8A}"/>
              </a:ext>
            </a:extLst>
          </p:cNvPr>
          <p:cNvSpPr txBox="1"/>
          <p:nvPr/>
        </p:nvSpPr>
        <p:spPr>
          <a:xfrm>
            <a:off x="141515" y="3199555"/>
            <a:ext cx="11772898" cy="1200329"/>
          </a:xfrm>
          <a:prstGeom prst="rect">
            <a:avLst/>
          </a:prstGeom>
          <a:noFill/>
        </p:spPr>
        <p:txBody>
          <a:bodyPr wrap="square">
            <a:spAutoFit/>
          </a:bodyPr>
          <a:lstStyle/>
          <a:p>
            <a:r>
              <a:rPr lang="en-US" sz="2400" b="1" i="0" u="none" strike="noStrike" baseline="0" dirty="0">
                <a:solidFill>
                  <a:srgbClr val="000000"/>
                </a:solidFill>
                <a:latin typeface="Open Sans" panose="020B0606030504020204" pitchFamily="34" charset="0"/>
              </a:rPr>
              <a:t>Characteristics: </a:t>
            </a:r>
            <a:r>
              <a:rPr lang="en-US" sz="2400" b="0" i="0" u="none" strike="noStrike" baseline="0" dirty="0">
                <a:solidFill>
                  <a:srgbClr val="000000"/>
                </a:solidFill>
                <a:latin typeface="Open Sans" panose="020B0606030504020204" pitchFamily="34" charset="0"/>
              </a:rPr>
              <a:t>They have completed a transaction and are now part of your client base. The focus shifts from acquisition to retention, satisfaction, and potentially advocacy.</a:t>
            </a:r>
            <a:endParaRPr lang="en-PH" sz="2400" b="0" i="0" u="none" strike="noStrike" baseline="0" dirty="0">
              <a:solidFill>
                <a:srgbClr val="000000"/>
              </a:solidFill>
              <a:latin typeface="Open Sans" panose="020B0606030504020204" pitchFamily="34" charset="0"/>
            </a:endParaRPr>
          </a:p>
        </p:txBody>
      </p:sp>
      <p:sp>
        <p:nvSpPr>
          <p:cNvPr id="9" name="TextBox 8">
            <a:extLst>
              <a:ext uri="{FF2B5EF4-FFF2-40B4-BE49-F238E27FC236}">
                <a16:creationId xmlns:a16="http://schemas.microsoft.com/office/drawing/2014/main" id="{95E3BBF4-50B2-D8B9-1C64-31FAE53AF3BB}"/>
              </a:ext>
            </a:extLst>
          </p:cNvPr>
          <p:cNvSpPr txBox="1"/>
          <p:nvPr/>
        </p:nvSpPr>
        <p:spPr>
          <a:xfrm>
            <a:off x="1807029" y="4377288"/>
            <a:ext cx="9268655" cy="1200329"/>
          </a:xfrm>
          <a:prstGeom prst="rect">
            <a:avLst/>
          </a:prstGeom>
          <a:noFill/>
        </p:spPr>
        <p:txBody>
          <a:bodyPr wrap="square">
            <a:spAutoFit/>
          </a:bodyPr>
          <a:lstStyle/>
          <a:p>
            <a:endParaRPr lang="en-PH" sz="2400" b="0" i="0" u="none" strike="noStrike" baseline="0" dirty="0">
              <a:latin typeface="Open Sans" panose="020B0606030504020204" pitchFamily="34" charset="0"/>
            </a:endParaRPr>
          </a:p>
          <a:p>
            <a:r>
              <a:rPr lang="en-US" sz="2400" b="1" i="0" u="none" strike="noStrike" baseline="0" dirty="0">
                <a:solidFill>
                  <a:srgbClr val="000000"/>
                </a:solidFill>
                <a:latin typeface="Open Sans" panose="020B0606030504020204" pitchFamily="34" charset="0"/>
              </a:rPr>
              <a:t>Example: </a:t>
            </a:r>
            <a:r>
              <a:rPr lang="en-US" sz="2400" b="0" i="0" u="none" strike="noStrike" baseline="0" dirty="0">
                <a:solidFill>
                  <a:srgbClr val="000000"/>
                </a:solidFill>
                <a:latin typeface="Open Sans" panose="020B0606030504020204" pitchFamily="34" charset="0"/>
              </a:rPr>
              <a:t>The prospect who signed a contract and paid for your digital marketing services.</a:t>
            </a:r>
            <a:endParaRPr lang="en-PH" sz="2400" b="0" i="0" u="none" strike="noStrike" baseline="0" dirty="0">
              <a:solidFill>
                <a:srgbClr val="000000"/>
              </a:solidFill>
              <a:latin typeface="Open Sans" panose="020B0606030504020204" pitchFamily="34" charset="0"/>
            </a:endParaRPr>
          </a:p>
        </p:txBody>
      </p:sp>
    </p:spTree>
    <p:extLst>
      <p:ext uri="{BB962C8B-B14F-4D97-AF65-F5344CB8AC3E}">
        <p14:creationId xmlns:p14="http://schemas.microsoft.com/office/powerpoint/2010/main" val="273346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9A828977-73F7-FAEA-8443-16983E41BA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A35D23-9DCC-27A8-1CE1-4CF450A829BE}"/>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2. Lead Generation Sources: Where Do They Come From?</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A2F20B3B-5E30-AB5C-8D67-6650D14CA697}"/>
              </a:ext>
            </a:extLst>
          </p:cNvPr>
          <p:cNvSpPr txBox="1"/>
          <p:nvPr/>
        </p:nvSpPr>
        <p:spPr>
          <a:xfrm>
            <a:off x="5510893" y="1202189"/>
            <a:ext cx="6411683" cy="2677656"/>
          </a:xfrm>
          <a:prstGeom prst="rect">
            <a:avLst/>
          </a:prstGeom>
          <a:noFill/>
        </p:spPr>
        <p:txBody>
          <a:bodyPr wrap="square">
            <a:spAutoFit/>
          </a:bodyPr>
          <a:lstStyle/>
          <a:p>
            <a:r>
              <a:rPr lang="en-US" sz="2800" b="1" i="0" u="none" strike="noStrike" baseline="0" dirty="0">
                <a:solidFill>
                  <a:srgbClr val="000000"/>
                </a:solidFill>
                <a:latin typeface="Open Sans" panose="020B0606030504020204" pitchFamily="34" charset="0"/>
              </a:rPr>
              <a:t>a. Inbound Lead Generation (Attracting):</a:t>
            </a:r>
          </a:p>
          <a:p>
            <a:r>
              <a:rPr lang="en-US" sz="2800" b="1" i="0" u="none" strike="noStrike" baseline="0" dirty="0">
                <a:solidFill>
                  <a:srgbClr val="000000"/>
                </a:solidFill>
                <a:latin typeface="Open Sans" panose="020B0606030504020204" pitchFamily="34" charset="0"/>
              </a:rPr>
              <a:t>- </a:t>
            </a:r>
            <a:r>
              <a:rPr lang="en-US" sz="2800" i="0" u="none" strike="noStrike" baseline="0" dirty="0">
                <a:solidFill>
                  <a:srgbClr val="000000"/>
                </a:solidFill>
                <a:latin typeface="Open Sans" panose="020B0606030504020204" pitchFamily="34" charset="0"/>
              </a:rPr>
              <a:t>Attracting potential customers by creating valuable content and experiences tailored to them. The customer initiates the contact.</a:t>
            </a:r>
            <a:endParaRPr lang="en-PH" sz="2800" i="0" u="none" strike="noStrike" baseline="0" dirty="0">
              <a:solidFill>
                <a:srgbClr val="000000"/>
              </a:solidFill>
              <a:latin typeface="Open Sans" panose="020B0606030504020204" pitchFamily="34" charset="0"/>
            </a:endParaRPr>
          </a:p>
        </p:txBody>
      </p:sp>
      <p:pic>
        <p:nvPicPr>
          <p:cNvPr id="5" name="Picture 4">
            <a:extLst>
              <a:ext uri="{FF2B5EF4-FFF2-40B4-BE49-F238E27FC236}">
                <a16:creationId xmlns:a16="http://schemas.microsoft.com/office/drawing/2014/main" id="{11BA579D-270B-5B41-3AAD-8A12F4A73A23}"/>
              </a:ext>
            </a:extLst>
          </p:cNvPr>
          <p:cNvPicPr>
            <a:picLocks noChangeAspect="1"/>
          </p:cNvPicPr>
          <p:nvPr/>
        </p:nvPicPr>
        <p:blipFill>
          <a:blip r:embed="rId3"/>
          <a:stretch>
            <a:fillRect/>
          </a:stretch>
        </p:blipFill>
        <p:spPr>
          <a:xfrm>
            <a:off x="155123" y="732710"/>
            <a:ext cx="5355770" cy="5647938"/>
          </a:xfrm>
          <a:prstGeom prst="rect">
            <a:avLst/>
          </a:prstGeom>
        </p:spPr>
      </p:pic>
      <p:sp>
        <p:nvSpPr>
          <p:cNvPr id="10" name="TextBox 9">
            <a:extLst>
              <a:ext uri="{FF2B5EF4-FFF2-40B4-BE49-F238E27FC236}">
                <a16:creationId xmlns:a16="http://schemas.microsoft.com/office/drawing/2014/main" id="{81E6F374-931B-41C1-33F4-E839E6EB063C}"/>
              </a:ext>
            </a:extLst>
          </p:cNvPr>
          <p:cNvSpPr txBox="1"/>
          <p:nvPr/>
        </p:nvSpPr>
        <p:spPr>
          <a:xfrm>
            <a:off x="5510894" y="4347474"/>
            <a:ext cx="6411682" cy="1200329"/>
          </a:xfrm>
          <a:prstGeom prst="rect">
            <a:avLst/>
          </a:prstGeom>
          <a:noFill/>
        </p:spPr>
        <p:txBody>
          <a:bodyPr wrap="square">
            <a:spAutoFit/>
          </a:bodyPr>
          <a:lstStyle/>
          <a:p>
            <a:r>
              <a:rPr lang="en-US" sz="2400" b="1" i="0" u="none" strike="noStrike" baseline="0" dirty="0">
                <a:solidFill>
                  <a:srgbClr val="000000"/>
                </a:solidFill>
                <a:latin typeface="Open Sans" panose="020B0606030504020204" pitchFamily="34" charset="0"/>
              </a:rPr>
              <a:t>Characteristics: </a:t>
            </a:r>
            <a:r>
              <a:rPr lang="en-US" sz="2400" b="0" i="0" u="none" strike="noStrike" baseline="0" dirty="0">
                <a:solidFill>
                  <a:srgbClr val="000000"/>
                </a:solidFill>
                <a:latin typeface="Open Sans" panose="020B0606030504020204" pitchFamily="34" charset="0"/>
              </a:rPr>
              <a:t>Often more cost-effective and higher quality leads as they've shown interest. </a:t>
            </a:r>
            <a:r>
              <a:rPr lang="en-PH" sz="2400" b="0" i="0" u="none" strike="noStrike" baseline="0" dirty="0">
                <a:solidFill>
                  <a:srgbClr val="000000"/>
                </a:solidFill>
                <a:latin typeface="Open Sans" panose="020B0606030504020204" pitchFamily="34" charset="0"/>
              </a:rPr>
              <a:t>	</a:t>
            </a:r>
          </a:p>
        </p:txBody>
      </p:sp>
    </p:spTree>
    <p:extLst>
      <p:ext uri="{BB962C8B-B14F-4D97-AF65-F5344CB8AC3E}">
        <p14:creationId xmlns:p14="http://schemas.microsoft.com/office/powerpoint/2010/main" val="154762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A7039857-FDA6-7DFC-D8B2-3C5E9B32D2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447F35F-58A4-63C9-A6C2-0FF67C473A37}"/>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2. Lead Generation Sources: Where Do They Come From?</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30DDF5FA-706B-ED60-A7F5-C2F92D35BB30}"/>
              </a:ext>
            </a:extLst>
          </p:cNvPr>
          <p:cNvSpPr txBox="1"/>
          <p:nvPr/>
        </p:nvSpPr>
        <p:spPr>
          <a:xfrm>
            <a:off x="5510893" y="979164"/>
            <a:ext cx="6681107" cy="4524315"/>
          </a:xfrm>
          <a:prstGeom prst="rect">
            <a:avLst/>
          </a:prstGeom>
          <a:noFill/>
        </p:spPr>
        <p:txBody>
          <a:bodyPr wrap="square">
            <a:spAutoFit/>
          </a:bodyPr>
          <a:lstStyle/>
          <a:p>
            <a:r>
              <a:rPr lang="en-US" sz="2400" i="0" u="none" strike="noStrike" baseline="0" dirty="0">
                <a:solidFill>
                  <a:srgbClr val="000000"/>
                </a:solidFill>
                <a:latin typeface="Open Sans" panose="020B0606030504020204" pitchFamily="34" charset="0"/>
              </a:rPr>
              <a:t>Sources:</a:t>
            </a:r>
          </a:p>
          <a:p>
            <a:endParaRPr lang="en-US" sz="2400" i="0" u="none" strike="noStrike" baseline="0" dirty="0">
              <a:solidFill>
                <a:srgbClr val="000000"/>
              </a:solidFill>
              <a:latin typeface="Open Sans" panose="020B0606030504020204" pitchFamily="34" charset="0"/>
            </a:endParaRPr>
          </a:p>
          <a:p>
            <a:r>
              <a:rPr lang="en-US" sz="2400" i="0" u="none" strike="noStrike" baseline="0" dirty="0">
                <a:solidFill>
                  <a:srgbClr val="000000"/>
                </a:solidFill>
                <a:latin typeface="Open Sans" panose="020B0606030504020204" pitchFamily="34" charset="0"/>
              </a:rPr>
              <a:t>• </a:t>
            </a:r>
            <a:r>
              <a:rPr lang="en-US" sz="2400" b="1" i="0" u="none" strike="noStrike" baseline="0" dirty="0">
                <a:solidFill>
                  <a:srgbClr val="000000"/>
                </a:solidFill>
                <a:latin typeface="Open Sans" panose="020B0606030504020204" pitchFamily="34" charset="0"/>
              </a:rPr>
              <a:t>Website/Blog</a:t>
            </a:r>
            <a:r>
              <a:rPr lang="en-US" sz="2400" i="0" u="none" strike="noStrike" baseline="0" dirty="0">
                <a:solidFill>
                  <a:srgbClr val="000000"/>
                </a:solidFill>
                <a:latin typeface="Open Sans" panose="020B0606030504020204" pitchFamily="34" charset="0"/>
              </a:rPr>
              <a:t>: SEO (Search Engine Optimization) to rank high in search results, valuable blog posts, resource pages (e.g., whitepapers, e-books, templates) that require an email to download.</a:t>
            </a:r>
          </a:p>
          <a:p>
            <a:endParaRPr lang="en-US" sz="2400" i="0" u="none" strike="noStrike" baseline="0" dirty="0">
              <a:solidFill>
                <a:srgbClr val="000000"/>
              </a:solidFill>
              <a:latin typeface="Open Sans" panose="020B0606030504020204" pitchFamily="34" charset="0"/>
            </a:endParaRPr>
          </a:p>
          <a:p>
            <a:r>
              <a:rPr lang="en-US" sz="2400" i="0" u="none" strike="noStrike" baseline="0" dirty="0">
                <a:solidFill>
                  <a:srgbClr val="000000"/>
                </a:solidFill>
                <a:latin typeface="Open Sans" panose="020B0606030504020204" pitchFamily="34" charset="0"/>
              </a:rPr>
              <a:t>• </a:t>
            </a:r>
            <a:r>
              <a:rPr lang="en-US" sz="2400" b="1" i="0" u="none" strike="noStrike" baseline="0" dirty="0">
                <a:solidFill>
                  <a:srgbClr val="000000"/>
                </a:solidFill>
                <a:latin typeface="Open Sans" panose="020B0606030504020204" pitchFamily="34" charset="0"/>
              </a:rPr>
              <a:t>Social Media</a:t>
            </a:r>
            <a:r>
              <a:rPr lang="en-US" sz="2400" i="0" u="none" strike="noStrike" baseline="0" dirty="0">
                <a:solidFill>
                  <a:srgbClr val="000000"/>
                </a:solidFill>
                <a:latin typeface="Open Sans" panose="020B0606030504020204" pitchFamily="34" charset="0"/>
              </a:rPr>
              <a:t>: Engaging content, contests, direct messaging, social listening to identify needs.</a:t>
            </a:r>
          </a:p>
          <a:p>
            <a:r>
              <a:rPr lang="en-US" sz="2400" i="0" u="none" strike="noStrike" baseline="0" dirty="0">
                <a:solidFill>
                  <a:srgbClr val="000000"/>
                </a:solidFill>
                <a:latin typeface="Open Sans" panose="020B0606030504020204" pitchFamily="34" charset="0"/>
              </a:rPr>
              <a:t>•</a:t>
            </a:r>
            <a:endParaRPr lang="en-PH" sz="2400" i="0" u="none" strike="noStrike" baseline="0" dirty="0">
              <a:solidFill>
                <a:srgbClr val="000000"/>
              </a:solidFill>
              <a:latin typeface="Open Sans" panose="020B0606030504020204" pitchFamily="34" charset="0"/>
            </a:endParaRPr>
          </a:p>
        </p:txBody>
      </p:sp>
      <p:pic>
        <p:nvPicPr>
          <p:cNvPr id="5" name="Picture 4">
            <a:extLst>
              <a:ext uri="{FF2B5EF4-FFF2-40B4-BE49-F238E27FC236}">
                <a16:creationId xmlns:a16="http://schemas.microsoft.com/office/drawing/2014/main" id="{80E5DE87-1870-CC28-2904-E6CA171796DB}"/>
              </a:ext>
            </a:extLst>
          </p:cNvPr>
          <p:cNvPicPr>
            <a:picLocks noChangeAspect="1"/>
          </p:cNvPicPr>
          <p:nvPr/>
        </p:nvPicPr>
        <p:blipFill>
          <a:blip r:embed="rId3"/>
          <a:stretch>
            <a:fillRect/>
          </a:stretch>
        </p:blipFill>
        <p:spPr>
          <a:xfrm>
            <a:off x="155123" y="732710"/>
            <a:ext cx="5355770" cy="5647938"/>
          </a:xfrm>
          <a:prstGeom prst="rect">
            <a:avLst/>
          </a:prstGeom>
        </p:spPr>
      </p:pic>
    </p:spTree>
    <p:extLst>
      <p:ext uri="{BB962C8B-B14F-4D97-AF65-F5344CB8AC3E}">
        <p14:creationId xmlns:p14="http://schemas.microsoft.com/office/powerpoint/2010/main" val="322645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AD5F7061-A70D-039E-8D8C-7BB6DD7A27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91BC1D-9ADD-C636-AB7C-42AB65749DA6}"/>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2. Lead Generation Sources: Where Do They Come From?</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15C78488-539E-4F77-32DD-5650E9DF0F22}"/>
              </a:ext>
            </a:extLst>
          </p:cNvPr>
          <p:cNvSpPr txBox="1"/>
          <p:nvPr/>
        </p:nvSpPr>
        <p:spPr>
          <a:xfrm>
            <a:off x="5510893" y="934559"/>
            <a:ext cx="6681107" cy="6432530"/>
          </a:xfrm>
          <a:prstGeom prst="rect">
            <a:avLst/>
          </a:prstGeom>
          <a:noFill/>
        </p:spPr>
        <p:txBody>
          <a:bodyPr wrap="square">
            <a:spAutoFit/>
          </a:bodyPr>
          <a:lstStyle/>
          <a:p>
            <a:r>
              <a:rPr lang="en-US" sz="2400" dirty="0">
                <a:latin typeface="Open Sans" panose="020B0606030504020204" pitchFamily="34" charset="0"/>
              </a:rPr>
              <a:t>• </a:t>
            </a:r>
            <a:r>
              <a:rPr lang="en-US" sz="2400" b="1" dirty="0">
                <a:latin typeface="Open Sans" panose="020B0606030504020204" pitchFamily="34" charset="0"/>
              </a:rPr>
              <a:t>Content Marketing</a:t>
            </a:r>
            <a:r>
              <a:rPr lang="en-US" sz="2400" dirty="0">
                <a:latin typeface="Open Sans" panose="020B0606030504020204" pitchFamily="34" charset="0"/>
              </a:rPr>
              <a:t>: Creating and distributing valuable, relevant, and consistent content to attract and retain a clearly defined audience (e.g., webinars, podcasts, videos, infographics).</a:t>
            </a:r>
          </a:p>
          <a:p>
            <a:endParaRPr lang="en-US" sz="2400" dirty="0">
              <a:latin typeface="Open Sans" panose="020B0606030504020204" pitchFamily="34" charset="0"/>
            </a:endParaRPr>
          </a:p>
          <a:p>
            <a:r>
              <a:rPr lang="en-US" sz="2400" dirty="0">
                <a:latin typeface="Open Sans" panose="020B0606030504020204" pitchFamily="34" charset="0"/>
              </a:rPr>
              <a:t>• </a:t>
            </a:r>
            <a:r>
              <a:rPr lang="en-US" sz="2400" b="1" dirty="0">
                <a:latin typeface="Open Sans" panose="020B0606030504020204" pitchFamily="34" charset="0"/>
              </a:rPr>
              <a:t>Email Marketing</a:t>
            </a:r>
            <a:r>
              <a:rPr lang="en-US" sz="2400" dirty="0">
                <a:latin typeface="Open Sans" panose="020B0606030504020204" pitchFamily="34" charset="0"/>
              </a:rPr>
              <a:t>: Opt-in newsletters, content updates.</a:t>
            </a:r>
          </a:p>
          <a:p>
            <a:endParaRPr lang="en-US" sz="2400" dirty="0">
              <a:latin typeface="Open Sans" panose="020B0606030504020204" pitchFamily="34" charset="0"/>
            </a:endParaRPr>
          </a:p>
          <a:p>
            <a:r>
              <a:rPr lang="en-US" sz="2400" dirty="0">
                <a:latin typeface="Open Sans" panose="020B0606030504020204" pitchFamily="34" charset="0"/>
              </a:rPr>
              <a:t>• </a:t>
            </a:r>
            <a:r>
              <a:rPr lang="en-US" sz="2400" b="1" dirty="0">
                <a:latin typeface="Open Sans" panose="020B0606030504020204" pitchFamily="34" charset="0"/>
              </a:rPr>
              <a:t>Online Forms/Landing Pages</a:t>
            </a:r>
            <a:r>
              <a:rPr lang="en-US" sz="2400" dirty="0">
                <a:latin typeface="Open Sans" panose="020B0606030504020204" pitchFamily="34" charset="0"/>
              </a:rPr>
              <a:t>: Dedicated pages designed to capture lead information in exchange for an offer.</a:t>
            </a:r>
          </a:p>
          <a:p>
            <a:endParaRPr lang="en-US" sz="2400" i="0" u="none" strike="noStrike" baseline="0" dirty="0">
              <a:solidFill>
                <a:srgbClr val="000000"/>
              </a:solidFill>
              <a:latin typeface="Open Sans" panose="020B0606030504020204" pitchFamily="34" charset="0"/>
            </a:endParaRPr>
          </a:p>
          <a:p>
            <a:r>
              <a:rPr lang="en-US" sz="2400" i="0" u="none" strike="noStrike" baseline="0" dirty="0">
                <a:solidFill>
                  <a:srgbClr val="000000"/>
                </a:solidFill>
                <a:latin typeface="Open Sans" panose="020B0606030504020204" pitchFamily="34" charset="0"/>
              </a:rPr>
              <a:t>• </a:t>
            </a:r>
            <a:r>
              <a:rPr lang="en-US" sz="2400" b="1" dirty="0">
                <a:latin typeface="Open Sans" panose="020B0606030504020204" pitchFamily="34" charset="0"/>
              </a:rPr>
              <a:t>Referrals</a:t>
            </a:r>
            <a:r>
              <a:rPr lang="en-US" sz="2400" dirty="0">
                <a:latin typeface="Open Sans" panose="020B0606030504020204" pitchFamily="34" charset="0"/>
              </a:rPr>
              <a:t>: Existing customers referring new business (often the highest quality leads). </a:t>
            </a:r>
          </a:p>
          <a:p>
            <a:endParaRPr lang="en-PH" dirty="0"/>
          </a:p>
          <a:p>
            <a:r>
              <a:rPr lang="en-PH" dirty="0"/>
              <a:t>	</a:t>
            </a:r>
          </a:p>
          <a:p>
            <a:endParaRPr lang="en-PH" sz="2400" i="0" u="none" strike="noStrike" baseline="0" dirty="0">
              <a:solidFill>
                <a:srgbClr val="000000"/>
              </a:solidFill>
              <a:latin typeface="Open Sans" panose="020B0606030504020204" pitchFamily="34" charset="0"/>
            </a:endParaRPr>
          </a:p>
        </p:txBody>
      </p:sp>
      <p:pic>
        <p:nvPicPr>
          <p:cNvPr id="5" name="Picture 4">
            <a:extLst>
              <a:ext uri="{FF2B5EF4-FFF2-40B4-BE49-F238E27FC236}">
                <a16:creationId xmlns:a16="http://schemas.microsoft.com/office/drawing/2014/main" id="{848BCF88-9787-9276-7F34-29A772E17FFE}"/>
              </a:ext>
            </a:extLst>
          </p:cNvPr>
          <p:cNvPicPr>
            <a:picLocks noChangeAspect="1"/>
          </p:cNvPicPr>
          <p:nvPr/>
        </p:nvPicPr>
        <p:blipFill>
          <a:blip r:embed="rId3"/>
          <a:stretch>
            <a:fillRect/>
          </a:stretch>
        </p:blipFill>
        <p:spPr>
          <a:xfrm>
            <a:off x="155123" y="732710"/>
            <a:ext cx="5355770" cy="5647938"/>
          </a:xfrm>
          <a:prstGeom prst="rect">
            <a:avLst/>
          </a:prstGeom>
        </p:spPr>
      </p:pic>
    </p:spTree>
    <p:extLst>
      <p:ext uri="{BB962C8B-B14F-4D97-AF65-F5344CB8AC3E}">
        <p14:creationId xmlns:p14="http://schemas.microsoft.com/office/powerpoint/2010/main" val="3826308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2416DFD-35D5-74C3-4027-6BE7D8C4469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3A5124-64DA-5D46-6BA7-E15AC7B957FD}"/>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2. Lead Generation Sources: Where Do They Come From?</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632E6FC5-62B6-5758-9296-24E203869EDB}"/>
              </a:ext>
            </a:extLst>
          </p:cNvPr>
          <p:cNvSpPr txBox="1"/>
          <p:nvPr/>
        </p:nvSpPr>
        <p:spPr>
          <a:xfrm>
            <a:off x="5510893" y="1202189"/>
            <a:ext cx="6411683" cy="2246769"/>
          </a:xfrm>
          <a:prstGeom prst="rect">
            <a:avLst/>
          </a:prstGeom>
          <a:noFill/>
        </p:spPr>
        <p:txBody>
          <a:bodyPr wrap="square">
            <a:spAutoFit/>
          </a:bodyPr>
          <a:lstStyle/>
          <a:p>
            <a:r>
              <a:rPr lang="en-US" sz="2800" b="1" dirty="0">
                <a:latin typeface="Open Sans" panose="020B0606030504020204" pitchFamily="34" charset="0"/>
              </a:rPr>
              <a:t>b</a:t>
            </a:r>
            <a:r>
              <a:rPr lang="en-US" sz="2800" b="1" i="0" u="none" strike="noStrike" baseline="0" dirty="0">
                <a:solidFill>
                  <a:srgbClr val="000000"/>
                </a:solidFill>
                <a:latin typeface="Open Sans" panose="020B0606030504020204" pitchFamily="34" charset="0"/>
              </a:rPr>
              <a:t>. Outbound Lead Generation (Reaching Out):</a:t>
            </a:r>
          </a:p>
          <a:p>
            <a:r>
              <a:rPr lang="en-US" sz="2800" b="1" i="0" u="none" strike="noStrike" baseline="0" dirty="0">
                <a:solidFill>
                  <a:srgbClr val="000000"/>
                </a:solidFill>
                <a:latin typeface="Open Sans" panose="020B0606030504020204" pitchFamily="34" charset="0"/>
              </a:rPr>
              <a:t>- </a:t>
            </a:r>
            <a:r>
              <a:rPr lang="en-US" sz="2800" i="0" u="none" strike="noStrike" baseline="0" dirty="0">
                <a:solidFill>
                  <a:srgbClr val="000000"/>
                </a:solidFill>
                <a:latin typeface="Open Sans" panose="020B0606030504020204" pitchFamily="34" charset="0"/>
              </a:rPr>
              <a:t>Proactively reaching out to potential customers who may or may not have expressed prior interest.</a:t>
            </a:r>
            <a:endParaRPr lang="en-PH" sz="2800" i="0" u="none" strike="noStrike" baseline="0" dirty="0">
              <a:solidFill>
                <a:srgbClr val="000000"/>
              </a:solidFill>
              <a:latin typeface="Open Sans" panose="020B0606030504020204" pitchFamily="34" charset="0"/>
            </a:endParaRPr>
          </a:p>
        </p:txBody>
      </p:sp>
      <p:pic>
        <p:nvPicPr>
          <p:cNvPr id="5" name="Picture 4">
            <a:extLst>
              <a:ext uri="{FF2B5EF4-FFF2-40B4-BE49-F238E27FC236}">
                <a16:creationId xmlns:a16="http://schemas.microsoft.com/office/drawing/2014/main" id="{07C47808-C1C5-F43A-5BAD-B46BA43F1216}"/>
              </a:ext>
            </a:extLst>
          </p:cNvPr>
          <p:cNvPicPr>
            <a:picLocks noChangeAspect="1"/>
          </p:cNvPicPr>
          <p:nvPr/>
        </p:nvPicPr>
        <p:blipFill>
          <a:blip r:embed="rId3"/>
          <a:stretch>
            <a:fillRect/>
          </a:stretch>
        </p:blipFill>
        <p:spPr>
          <a:xfrm>
            <a:off x="155123" y="732710"/>
            <a:ext cx="5355770" cy="5647938"/>
          </a:xfrm>
          <a:prstGeom prst="rect">
            <a:avLst/>
          </a:prstGeom>
        </p:spPr>
      </p:pic>
      <p:sp>
        <p:nvSpPr>
          <p:cNvPr id="10" name="TextBox 9">
            <a:extLst>
              <a:ext uri="{FF2B5EF4-FFF2-40B4-BE49-F238E27FC236}">
                <a16:creationId xmlns:a16="http://schemas.microsoft.com/office/drawing/2014/main" id="{29A2EC4C-DB26-56FD-5C8F-70C10C312251}"/>
              </a:ext>
            </a:extLst>
          </p:cNvPr>
          <p:cNvSpPr txBox="1"/>
          <p:nvPr/>
        </p:nvSpPr>
        <p:spPr>
          <a:xfrm>
            <a:off x="5510894" y="4347474"/>
            <a:ext cx="6411682" cy="1200329"/>
          </a:xfrm>
          <a:prstGeom prst="rect">
            <a:avLst/>
          </a:prstGeom>
          <a:noFill/>
        </p:spPr>
        <p:txBody>
          <a:bodyPr wrap="square">
            <a:spAutoFit/>
          </a:bodyPr>
          <a:lstStyle/>
          <a:p>
            <a:r>
              <a:rPr lang="en-US" sz="2400" b="1" i="0" u="none" strike="noStrike" baseline="0" dirty="0">
                <a:solidFill>
                  <a:srgbClr val="000000"/>
                </a:solidFill>
                <a:latin typeface="Open Sans" panose="020B0606030504020204" pitchFamily="34" charset="0"/>
              </a:rPr>
              <a:t>Characteristics: </a:t>
            </a:r>
            <a:r>
              <a:rPr lang="en-US" sz="2400" b="0" i="0" u="none" strike="noStrike" baseline="0" dirty="0">
                <a:solidFill>
                  <a:srgbClr val="000000"/>
                </a:solidFill>
                <a:latin typeface="Open Sans" panose="020B0606030504020204" pitchFamily="34" charset="0"/>
              </a:rPr>
              <a:t>Can be faster for immediate results, but often more expensive and lower conversion rates.</a:t>
            </a:r>
            <a:endParaRPr lang="en-PH" sz="2400" b="0" i="0" u="none" strike="noStrike" baseline="0" dirty="0">
              <a:solidFill>
                <a:srgbClr val="000000"/>
              </a:solidFill>
              <a:latin typeface="Open Sans" panose="020B0606030504020204" pitchFamily="34" charset="0"/>
            </a:endParaRPr>
          </a:p>
        </p:txBody>
      </p:sp>
    </p:spTree>
    <p:extLst>
      <p:ext uri="{BB962C8B-B14F-4D97-AF65-F5344CB8AC3E}">
        <p14:creationId xmlns:p14="http://schemas.microsoft.com/office/powerpoint/2010/main" val="43662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70DA2AED-3F34-F75A-799A-29E2CA30269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329295-11A2-2633-8903-0ABA73BCE141}"/>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2. Lead Generation Sources: Where Do They Come From?</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F9A3FF08-96C8-05FC-5BE4-7ACAF37F0403}"/>
              </a:ext>
            </a:extLst>
          </p:cNvPr>
          <p:cNvSpPr txBox="1"/>
          <p:nvPr/>
        </p:nvSpPr>
        <p:spPr>
          <a:xfrm>
            <a:off x="5510893" y="979164"/>
            <a:ext cx="6681107" cy="3046988"/>
          </a:xfrm>
          <a:prstGeom prst="rect">
            <a:avLst/>
          </a:prstGeom>
          <a:noFill/>
        </p:spPr>
        <p:txBody>
          <a:bodyPr wrap="square">
            <a:spAutoFit/>
          </a:bodyPr>
          <a:lstStyle/>
          <a:p>
            <a:r>
              <a:rPr lang="en-US" sz="2400" dirty="0">
                <a:latin typeface="Open Sans" panose="020B0606030504020204" pitchFamily="34" charset="0"/>
              </a:rPr>
              <a:t>• </a:t>
            </a:r>
            <a:r>
              <a:rPr lang="en-US" sz="2400" b="1" i="0" u="none" strike="noStrike" baseline="0" dirty="0">
                <a:solidFill>
                  <a:srgbClr val="000000"/>
                </a:solidFill>
                <a:latin typeface="Open Sans" panose="020B0606030504020204" pitchFamily="34" charset="0"/>
              </a:rPr>
              <a:t>Sources:</a:t>
            </a:r>
          </a:p>
          <a:p>
            <a:endParaRPr lang="en-US" sz="2400" i="0" u="none" strike="noStrike" baseline="0" dirty="0">
              <a:solidFill>
                <a:srgbClr val="000000"/>
              </a:solidFill>
              <a:latin typeface="Open Sans" panose="020B0606030504020204" pitchFamily="34" charset="0"/>
            </a:endParaRPr>
          </a:p>
          <a:p>
            <a:r>
              <a:rPr lang="en-US" sz="2400" i="0" u="none" strike="noStrike" baseline="0" dirty="0">
                <a:solidFill>
                  <a:srgbClr val="000000"/>
                </a:solidFill>
                <a:latin typeface="Open Sans" panose="020B0606030504020204" pitchFamily="34" charset="0"/>
              </a:rPr>
              <a:t>      • </a:t>
            </a:r>
            <a:r>
              <a:rPr lang="en-US" sz="2400" b="1" i="0" u="none" strike="noStrike" baseline="0" dirty="0">
                <a:solidFill>
                  <a:srgbClr val="000000"/>
                </a:solidFill>
                <a:latin typeface="Open Sans" panose="020B0606030504020204" pitchFamily="34" charset="0"/>
              </a:rPr>
              <a:t>Cold Calling</a:t>
            </a:r>
            <a:r>
              <a:rPr lang="en-US" sz="2400" i="0" u="none" strike="noStrike" baseline="0" dirty="0">
                <a:solidFill>
                  <a:srgbClr val="000000"/>
                </a:solidFill>
                <a:latin typeface="Open Sans" panose="020B0606030504020204" pitchFamily="34" charset="0"/>
              </a:rPr>
              <a:t>: Directly calling potential customers.</a:t>
            </a:r>
          </a:p>
          <a:p>
            <a:endParaRPr lang="en-US" sz="2400" i="0" u="none" strike="noStrike" baseline="0" dirty="0">
              <a:solidFill>
                <a:srgbClr val="000000"/>
              </a:solidFill>
              <a:latin typeface="Open Sans" panose="020B0606030504020204" pitchFamily="34" charset="0"/>
            </a:endParaRPr>
          </a:p>
          <a:p>
            <a:r>
              <a:rPr lang="en-US" sz="2400" i="0" u="none" strike="noStrike" baseline="0" dirty="0">
                <a:solidFill>
                  <a:srgbClr val="000000"/>
                </a:solidFill>
                <a:latin typeface="Open Sans" panose="020B0606030504020204" pitchFamily="34" charset="0"/>
              </a:rPr>
              <a:t>      • </a:t>
            </a:r>
            <a:r>
              <a:rPr lang="en-US" sz="2400" b="1" i="0" u="none" strike="noStrike" baseline="0" dirty="0">
                <a:solidFill>
                  <a:srgbClr val="000000"/>
                </a:solidFill>
                <a:latin typeface="Open Sans" panose="020B0606030504020204" pitchFamily="34" charset="0"/>
              </a:rPr>
              <a:t>Email Outreach</a:t>
            </a:r>
            <a:r>
              <a:rPr lang="en-US" sz="2400" i="0" u="none" strike="noStrike" baseline="0" dirty="0">
                <a:solidFill>
                  <a:srgbClr val="000000"/>
                </a:solidFill>
                <a:latin typeface="Open Sans" panose="020B0606030504020204" pitchFamily="34" charset="0"/>
              </a:rPr>
              <a:t>: Sending unsolicited emails to target lists (requires careful compliance with regulations).</a:t>
            </a:r>
            <a:endParaRPr lang="en-PH" sz="2400" i="0" u="none" strike="noStrike" baseline="0" dirty="0">
              <a:solidFill>
                <a:srgbClr val="000000"/>
              </a:solidFill>
              <a:latin typeface="Open Sans" panose="020B0606030504020204" pitchFamily="34" charset="0"/>
            </a:endParaRPr>
          </a:p>
        </p:txBody>
      </p:sp>
      <p:pic>
        <p:nvPicPr>
          <p:cNvPr id="5" name="Picture 4">
            <a:extLst>
              <a:ext uri="{FF2B5EF4-FFF2-40B4-BE49-F238E27FC236}">
                <a16:creationId xmlns:a16="http://schemas.microsoft.com/office/drawing/2014/main" id="{40F7EBE5-6DEB-1C54-D5EA-E748F27A3B82}"/>
              </a:ext>
            </a:extLst>
          </p:cNvPr>
          <p:cNvPicPr>
            <a:picLocks noChangeAspect="1"/>
          </p:cNvPicPr>
          <p:nvPr/>
        </p:nvPicPr>
        <p:blipFill>
          <a:blip r:embed="rId3"/>
          <a:stretch>
            <a:fillRect/>
          </a:stretch>
        </p:blipFill>
        <p:spPr>
          <a:xfrm>
            <a:off x="155123" y="732710"/>
            <a:ext cx="5355770" cy="5647938"/>
          </a:xfrm>
          <a:prstGeom prst="rect">
            <a:avLst/>
          </a:prstGeom>
        </p:spPr>
      </p:pic>
    </p:spTree>
    <p:extLst>
      <p:ext uri="{BB962C8B-B14F-4D97-AF65-F5344CB8AC3E}">
        <p14:creationId xmlns:p14="http://schemas.microsoft.com/office/powerpoint/2010/main" val="4170622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40C904A4-59A8-1666-1725-6EDE4EF8834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EEDF81-A9C6-17C6-7704-E4D279F13335}"/>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2. Lead Generation Sources: Where Do They Come From?</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BED3394B-9E34-FBA7-31CA-1D4AF34F69BD}"/>
              </a:ext>
            </a:extLst>
          </p:cNvPr>
          <p:cNvSpPr txBox="1"/>
          <p:nvPr/>
        </p:nvSpPr>
        <p:spPr>
          <a:xfrm>
            <a:off x="5510893" y="979164"/>
            <a:ext cx="6681107" cy="4154984"/>
          </a:xfrm>
          <a:prstGeom prst="rect">
            <a:avLst/>
          </a:prstGeom>
          <a:noFill/>
        </p:spPr>
        <p:txBody>
          <a:bodyPr wrap="square">
            <a:spAutoFit/>
          </a:bodyPr>
          <a:lstStyle/>
          <a:p>
            <a:r>
              <a:rPr lang="en-US" sz="2400" dirty="0">
                <a:latin typeface="Open Sans" panose="020B0606030504020204" pitchFamily="34" charset="0"/>
              </a:rPr>
              <a:t>• </a:t>
            </a:r>
            <a:r>
              <a:rPr lang="en-US" sz="2400" b="1" i="0" u="none" strike="noStrike" baseline="0" dirty="0">
                <a:solidFill>
                  <a:srgbClr val="000000"/>
                </a:solidFill>
                <a:latin typeface="Open Sans" panose="020B0606030504020204" pitchFamily="34" charset="0"/>
              </a:rPr>
              <a:t>Sources:</a:t>
            </a:r>
          </a:p>
          <a:p>
            <a:endParaRPr lang="en-US" sz="2400" i="0" u="none" strike="noStrike" baseline="0" dirty="0">
              <a:solidFill>
                <a:srgbClr val="000000"/>
              </a:solidFill>
              <a:latin typeface="Open Sans" panose="020B0606030504020204" pitchFamily="34" charset="0"/>
            </a:endParaRPr>
          </a:p>
          <a:p>
            <a:r>
              <a:rPr lang="en-US" sz="2400" i="0" u="none" strike="noStrike" baseline="0" dirty="0">
                <a:solidFill>
                  <a:srgbClr val="000000"/>
                </a:solidFill>
                <a:latin typeface="Open Sans" panose="020B0606030504020204" pitchFamily="34" charset="0"/>
              </a:rPr>
              <a:t>• </a:t>
            </a:r>
            <a:r>
              <a:rPr lang="en-US" sz="2400" b="1" i="0" u="none" strike="noStrike" baseline="0" dirty="0">
                <a:solidFill>
                  <a:srgbClr val="000000"/>
                </a:solidFill>
                <a:latin typeface="Open Sans" panose="020B0606030504020204" pitchFamily="34" charset="0"/>
              </a:rPr>
              <a:t>Paid Advertising:</a:t>
            </a:r>
          </a:p>
          <a:p>
            <a:endParaRPr lang="en-US" sz="2400" b="1" i="0" u="none" strike="noStrike" baseline="0" dirty="0">
              <a:solidFill>
                <a:srgbClr val="000000"/>
              </a:solidFill>
              <a:latin typeface="Open Sans" panose="020B0606030504020204" pitchFamily="34" charset="0"/>
            </a:endParaRPr>
          </a:p>
          <a:p>
            <a:r>
              <a:rPr lang="en-US" sz="2400" b="1" i="0" u="none" strike="noStrike" baseline="0" dirty="0">
                <a:solidFill>
                  <a:srgbClr val="000000"/>
                </a:solidFill>
                <a:latin typeface="Open Sans" panose="020B0606030504020204" pitchFamily="34" charset="0"/>
              </a:rPr>
              <a:t>      • Search Engine Marketing (SEM): </a:t>
            </a:r>
            <a:r>
              <a:rPr lang="en-US" sz="2400" i="0" u="none" strike="noStrike" baseline="0" dirty="0">
                <a:solidFill>
                  <a:srgbClr val="000000"/>
                </a:solidFill>
                <a:latin typeface="Open Sans" panose="020B0606030504020204" pitchFamily="34" charset="0"/>
              </a:rPr>
              <a:t>Paid ads on Google, Bing (e.g., Google Ads).</a:t>
            </a:r>
          </a:p>
          <a:p>
            <a:endParaRPr lang="en-US" sz="2400" dirty="0">
              <a:latin typeface="Open Sans" panose="020B0606030504020204" pitchFamily="34" charset="0"/>
            </a:endParaRPr>
          </a:p>
          <a:p>
            <a:r>
              <a:rPr lang="en-US" sz="2400" b="1" dirty="0">
                <a:latin typeface="Open Sans" panose="020B0606030504020204" pitchFamily="34" charset="0"/>
              </a:rPr>
              <a:t>      • Social </a:t>
            </a:r>
            <a:r>
              <a:rPr lang="en-US" sz="2400" b="1" i="0" u="none" strike="noStrike" baseline="0" dirty="0">
                <a:solidFill>
                  <a:srgbClr val="000000"/>
                </a:solidFill>
                <a:latin typeface="Open Sans" panose="020B0606030504020204" pitchFamily="34" charset="0"/>
              </a:rPr>
              <a:t>Media Ads</a:t>
            </a:r>
            <a:r>
              <a:rPr lang="en-US" sz="2400" i="0" u="none" strike="noStrike" baseline="0" dirty="0">
                <a:solidFill>
                  <a:srgbClr val="000000"/>
                </a:solidFill>
                <a:latin typeface="Open Sans" panose="020B0606030504020204" pitchFamily="34" charset="0"/>
              </a:rPr>
              <a:t>: Targeted ads on Facebook, LinkedIn, Instagram.</a:t>
            </a:r>
          </a:p>
          <a:p>
            <a:endParaRPr lang="en-US" sz="2400" i="0" u="none" strike="noStrike" baseline="0" dirty="0">
              <a:solidFill>
                <a:srgbClr val="000000"/>
              </a:solidFill>
              <a:latin typeface="Open Sans" panose="020B0606030504020204" pitchFamily="34" charset="0"/>
            </a:endParaRPr>
          </a:p>
          <a:p>
            <a:r>
              <a:rPr lang="en-US" sz="2400" i="0" u="none" strike="noStrike" baseline="0" dirty="0">
                <a:solidFill>
                  <a:srgbClr val="000000"/>
                </a:solidFill>
                <a:latin typeface="Open Sans" panose="020B0606030504020204" pitchFamily="34" charset="0"/>
              </a:rPr>
              <a:t>      • </a:t>
            </a:r>
            <a:r>
              <a:rPr lang="en-US" sz="2400" b="1" i="0" u="none" strike="noStrike" baseline="0" dirty="0">
                <a:solidFill>
                  <a:srgbClr val="000000"/>
                </a:solidFill>
                <a:latin typeface="Open Sans" panose="020B0606030504020204" pitchFamily="34" charset="0"/>
              </a:rPr>
              <a:t>Display Ads</a:t>
            </a:r>
            <a:r>
              <a:rPr lang="en-US" sz="2400" i="0" u="none" strike="noStrike" baseline="0" dirty="0">
                <a:solidFill>
                  <a:srgbClr val="000000"/>
                </a:solidFill>
                <a:latin typeface="Open Sans" panose="020B0606030504020204" pitchFamily="34" charset="0"/>
              </a:rPr>
              <a:t>: Banner ads on websites.</a:t>
            </a:r>
            <a:endParaRPr lang="en-PH" sz="2400" i="0" u="none" strike="noStrike" baseline="0" dirty="0">
              <a:solidFill>
                <a:srgbClr val="000000"/>
              </a:solidFill>
              <a:latin typeface="Open Sans" panose="020B0606030504020204" pitchFamily="34" charset="0"/>
            </a:endParaRPr>
          </a:p>
        </p:txBody>
      </p:sp>
      <p:pic>
        <p:nvPicPr>
          <p:cNvPr id="5" name="Picture 4">
            <a:extLst>
              <a:ext uri="{FF2B5EF4-FFF2-40B4-BE49-F238E27FC236}">
                <a16:creationId xmlns:a16="http://schemas.microsoft.com/office/drawing/2014/main" id="{ED31CFE3-ADF3-9A4E-8ABF-1408EFB84CE1}"/>
              </a:ext>
            </a:extLst>
          </p:cNvPr>
          <p:cNvPicPr>
            <a:picLocks noChangeAspect="1"/>
          </p:cNvPicPr>
          <p:nvPr/>
        </p:nvPicPr>
        <p:blipFill>
          <a:blip r:embed="rId3"/>
          <a:stretch>
            <a:fillRect/>
          </a:stretch>
        </p:blipFill>
        <p:spPr>
          <a:xfrm>
            <a:off x="155123" y="732710"/>
            <a:ext cx="5355770" cy="5647938"/>
          </a:xfrm>
          <a:prstGeom prst="rect">
            <a:avLst/>
          </a:prstGeom>
        </p:spPr>
      </p:pic>
    </p:spTree>
    <p:extLst>
      <p:ext uri="{BB962C8B-B14F-4D97-AF65-F5344CB8AC3E}">
        <p14:creationId xmlns:p14="http://schemas.microsoft.com/office/powerpoint/2010/main" val="3045220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7E9BD15C-B74D-30A2-90B3-978F1604A41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BE5CC6-7010-4823-D2CD-BD2C4837372C}"/>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2. Lead Generation Sources: Where Do They Come From?</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7B3E0DCE-265A-3DC2-E0FF-8D66ACB264B2}"/>
              </a:ext>
            </a:extLst>
          </p:cNvPr>
          <p:cNvSpPr txBox="1"/>
          <p:nvPr/>
        </p:nvSpPr>
        <p:spPr>
          <a:xfrm>
            <a:off x="5510893" y="979164"/>
            <a:ext cx="6681107" cy="3416320"/>
          </a:xfrm>
          <a:prstGeom prst="rect">
            <a:avLst/>
          </a:prstGeom>
          <a:noFill/>
        </p:spPr>
        <p:txBody>
          <a:bodyPr wrap="square">
            <a:spAutoFit/>
          </a:bodyPr>
          <a:lstStyle/>
          <a:p>
            <a:endParaRPr lang="en-US" sz="2400" dirty="0">
              <a:latin typeface="Open Sans" panose="020B0606030504020204" pitchFamily="34" charset="0"/>
            </a:endParaRPr>
          </a:p>
          <a:p>
            <a:r>
              <a:rPr lang="en-US" sz="2400" dirty="0">
                <a:latin typeface="Open Sans" panose="020B0606030504020204" pitchFamily="34" charset="0"/>
              </a:rPr>
              <a:t>• </a:t>
            </a:r>
            <a:r>
              <a:rPr lang="en-US" sz="2400" b="1" dirty="0">
                <a:latin typeface="Open Sans" panose="020B0606030504020204" pitchFamily="34" charset="0"/>
              </a:rPr>
              <a:t>Events &amp; Trade Shows</a:t>
            </a:r>
            <a:r>
              <a:rPr lang="en-US" sz="2400" dirty="0">
                <a:latin typeface="Open Sans" panose="020B0606030504020204" pitchFamily="34" charset="0"/>
              </a:rPr>
              <a:t>: Collecting business cards, engaging in conversations, product demos.</a:t>
            </a:r>
          </a:p>
          <a:p>
            <a:endParaRPr lang="en-US" sz="2400" dirty="0">
              <a:latin typeface="Open Sans" panose="020B0606030504020204" pitchFamily="34" charset="0"/>
            </a:endParaRPr>
          </a:p>
          <a:p>
            <a:r>
              <a:rPr lang="en-US" sz="2400" dirty="0">
                <a:latin typeface="Open Sans" panose="020B0606030504020204" pitchFamily="34" charset="0"/>
              </a:rPr>
              <a:t>• </a:t>
            </a:r>
            <a:r>
              <a:rPr lang="en-US" sz="2400" b="1" dirty="0">
                <a:latin typeface="Open Sans" panose="020B0606030504020204" pitchFamily="34" charset="0"/>
              </a:rPr>
              <a:t>Direct Mail</a:t>
            </a:r>
            <a:r>
              <a:rPr lang="en-US" sz="2400" dirty="0">
                <a:latin typeface="Open Sans" panose="020B0606030504020204" pitchFamily="34" charset="0"/>
              </a:rPr>
              <a:t>: Sending physical mailers.</a:t>
            </a:r>
          </a:p>
          <a:p>
            <a:endParaRPr lang="en-US" sz="2400" dirty="0">
              <a:latin typeface="Open Sans" panose="020B0606030504020204" pitchFamily="34" charset="0"/>
            </a:endParaRPr>
          </a:p>
          <a:p>
            <a:r>
              <a:rPr lang="en-US" sz="2400" dirty="0">
                <a:latin typeface="Open Sans" panose="020B0606030504020204" pitchFamily="34" charset="0"/>
              </a:rPr>
              <a:t>• </a:t>
            </a:r>
            <a:r>
              <a:rPr lang="en-US" sz="2400" b="1" dirty="0">
                <a:latin typeface="Open Sans" panose="020B0606030504020204" pitchFamily="34" charset="0"/>
              </a:rPr>
              <a:t>Telemarketing</a:t>
            </a:r>
            <a:r>
              <a:rPr lang="en-US" sz="2400" dirty="0">
                <a:latin typeface="Open Sans" panose="020B0606030504020204" pitchFamily="34" charset="0"/>
              </a:rPr>
              <a:t>: Outbound calls by a call center.</a:t>
            </a:r>
            <a:endParaRPr lang="en-PH" sz="2400" i="0" u="none" strike="noStrike" baseline="0" dirty="0">
              <a:solidFill>
                <a:srgbClr val="000000"/>
              </a:solidFill>
              <a:latin typeface="Open Sans" panose="020B0606030504020204" pitchFamily="34" charset="0"/>
            </a:endParaRPr>
          </a:p>
        </p:txBody>
      </p:sp>
      <p:pic>
        <p:nvPicPr>
          <p:cNvPr id="5" name="Picture 4">
            <a:extLst>
              <a:ext uri="{FF2B5EF4-FFF2-40B4-BE49-F238E27FC236}">
                <a16:creationId xmlns:a16="http://schemas.microsoft.com/office/drawing/2014/main" id="{0ECDBDC5-E1F7-88A1-CEAD-EDE833C716AA}"/>
              </a:ext>
            </a:extLst>
          </p:cNvPr>
          <p:cNvPicPr>
            <a:picLocks noChangeAspect="1"/>
          </p:cNvPicPr>
          <p:nvPr/>
        </p:nvPicPr>
        <p:blipFill>
          <a:blip r:embed="rId3"/>
          <a:stretch>
            <a:fillRect/>
          </a:stretch>
        </p:blipFill>
        <p:spPr>
          <a:xfrm>
            <a:off x="155123" y="732710"/>
            <a:ext cx="5355770" cy="5647938"/>
          </a:xfrm>
          <a:prstGeom prst="rect">
            <a:avLst/>
          </a:prstGeom>
        </p:spPr>
      </p:pic>
    </p:spTree>
    <p:extLst>
      <p:ext uri="{BB962C8B-B14F-4D97-AF65-F5344CB8AC3E}">
        <p14:creationId xmlns:p14="http://schemas.microsoft.com/office/powerpoint/2010/main" val="130625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C69E9D47-3AC6-EF2C-E58E-A03215EC1BC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C751C9-917C-7175-C256-0A77264D9C1D}"/>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2. Lead Generation Sources: Where Do They Come From?</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616F9907-49A3-0EA7-76FF-1A45098235A5}"/>
              </a:ext>
            </a:extLst>
          </p:cNvPr>
          <p:cNvSpPr txBox="1"/>
          <p:nvPr/>
        </p:nvSpPr>
        <p:spPr>
          <a:xfrm>
            <a:off x="5510893" y="979164"/>
            <a:ext cx="6681107" cy="7602081"/>
          </a:xfrm>
          <a:prstGeom prst="rect">
            <a:avLst/>
          </a:prstGeom>
          <a:noFill/>
        </p:spPr>
        <p:txBody>
          <a:bodyPr wrap="square">
            <a:spAutoFit/>
          </a:bodyPr>
          <a:lstStyle/>
          <a:p>
            <a:endParaRPr lang="en-US" sz="2400" dirty="0">
              <a:latin typeface="Open Sans" panose="020B0606030504020204" pitchFamily="34" charset="0"/>
            </a:endParaRPr>
          </a:p>
          <a:p>
            <a:r>
              <a:rPr lang="en-US" sz="2400" b="1" dirty="0">
                <a:latin typeface="Open Sans" panose="020B0606030504020204" pitchFamily="34" charset="0"/>
              </a:rPr>
              <a:t>C. Hybrid Approaches: </a:t>
            </a:r>
          </a:p>
          <a:p>
            <a:endParaRPr lang="en-PH" dirty="0"/>
          </a:p>
          <a:p>
            <a:r>
              <a:rPr lang="en-US" sz="2400" dirty="0"/>
              <a:t>Many successful businesses use a combination of inbound and outbound strategies, leveraging CRM to track and manage leads from all sources. </a:t>
            </a:r>
          </a:p>
          <a:p>
            <a:r>
              <a:rPr lang="en-PH" dirty="0"/>
              <a:t>	</a:t>
            </a:r>
          </a:p>
          <a:p>
            <a:endParaRPr lang="en-PH" dirty="0"/>
          </a:p>
          <a:p>
            <a:r>
              <a:rPr lang="en-US" sz="2400" b="1" dirty="0"/>
              <a:t>Example: </a:t>
            </a:r>
            <a:r>
              <a:rPr lang="en-US" sz="2400" dirty="0"/>
              <a:t>Running a paid ad campaign (outbound) that directs users to a landing page where they download an e-book (inbound lead capture). The key is to track which sources generate the most qualified leads and optimize your investment accordingly. </a:t>
            </a:r>
          </a:p>
          <a:p>
            <a:r>
              <a:rPr lang="en-PH" dirty="0"/>
              <a:t>	</a:t>
            </a:r>
          </a:p>
          <a:p>
            <a:endParaRPr lang="en-PH" sz="2400" i="0" u="none" strike="noStrike" baseline="0" dirty="0">
              <a:solidFill>
                <a:srgbClr val="000000"/>
              </a:solidFill>
              <a:latin typeface="Open Sans" panose="020B0606030504020204" pitchFamily="34" charset="0"/>
            </a:endParaRPr>
          </a:p>
          <a:p>
            <a:endParaRPr lang="en-PH" sz="2400" dirty="0">
              <a:latin typeface="Open Sans" panose="020B0606030504020204" pitchFamily="34" charset="0"/>
            </a:endParaRPr>
          </a:p>
          <a:p>
            <a:endParaRPr lang="en-PH" sz="2400" i="0" u="none" strike="noStrike" baseline="0" dirty="0">
              <a:solidFill>
                <a:srgbClr val="000000"/>
              </a:solidFill>
              <a:latin typeface="Open Sans" panose="020B0606030504020204" pitchFamily="34" charset="0"/>
            </a:endParaRPr>
          </a:p>
          <a:p>
            <a:endParaRPr lang="en-PH" sz="2400" dirty="0">
              <a:latin typeface="Open Sans" panose="020B0606030504020204" pitchFamily="34" charset="0"/>
            </a:endParaRPr>
          </a:p>
          <a:p>
            <a:endParaRPr lang="en-PH" sz="2400" i="0" u="none" strike="noStrike" baseline="0" dirty="0">
              <a:solidFill>
                <a:srgbClr val="000000"/>
              </a:solidFill>
              <a:latin typeface="Open Sans" panose="020B0606030504020204" pitchFamily="34" charset="0"/>
            </a:endParaRPr>
          </a:p>
          <a:p>
            <a:endParaRPr lang="en-PH" sz="2400" i="0" u="none" strike="noStrike" baseline="0" dirty="0">
              <a:solidFill>
                <a:srgbClr val="000000"/>
              </a:solidFill>
              <a:latin typeface="Open Sans" panose="020B0606030504020204" pitchFamily="34" charset="0"/>
            </a:endParaRPr>
          </a:p>
        </p:txBody>
      </p:sp>
      <p:pic>
        <p:nvPicPr>
          <p:cNvPr id="5" name="Picture 4">
            <a:extLst>
              <a:ext uri="{FF2B5EF4-FFF2-40B4-BE49-F238E27FC236}">
                <a16:creationId xmlns:a16="http://schemas.microsoft.com/office/drawing/2014/main" id="{76BC0C26-8660-EE01-FD6A-E5FA9D263FFC}"/>
              </a:ext>
            </a:extLst>
          </p:cNvPr>
          <p:cNvPicPr>
            <a:picLocks noChangeAspect="1"/>
          </p:cNvPicPr>
          <p:nvPr/>
        </p:nvPicPr>
        <p:blipFill>
          <a:blip r:embed="rId3"/>
          <a:stretch>
            <a:fillRect/>
          </a:stretch>
        </p:blipFill>
        <p:spPr>
          <a:xfrm>
            <a:off x="155123" y="732710"/>
            <a:ext cx="5355770" cy="5647938"/>
          </a:xfrm>
          <a:prstGeom prst="rect">
            <a:avLst/>
          </a:prstGeom>
        </p:spPr>
      </p:pic>
    </p:spTree>
    <p:extLst>
      <p:ext uri="{BB962C8B-B14F-4D97-AF65-F5344CB8AC3E}">
        <p14:creationId xmlns:p14="http://schemas.microsoft.com/office/powerpoint/2010/main" val="1659887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EC4065A-2CBC-3333-ED0E-67929C55CA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F0595F-7DAB-4131-A492-4E9049182447}"/>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3. Lead Scoring Methodologies: Identifying the Hot Ones</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399E7B0-CCCB-5717-2A15-4EA54B262B7E}"/>
              </a:ext>
            </a:extLst>
          </p:cNvPr>
          <p:cNvPicPr>
            <a:picLocks noChangeAspect="1"/>
          </p:cNvPicPr>
          <p:nvPr/>
        </p:nvPicPr>
        <p:blipFill>
          <a:blip r:embed="rId3"/>
          <a:stretch>
            <a:fillRect/>
          </a:stretch>
        </p:blipFill>
        <p:spPr>
          <a:xfrm>
            <a:off x="619976" y="1238723"/>
            <a:ext cx="2569271" cy="3779326"/>
          </a:xfrm>
          <a:prstGeom prst="rect">
            <a:avLst/>
          </a:prstGeom>
        </p:spPr>
      </p:pic>
      <p:sp>
        <p:nvSpPr>
          <p:cNvPr id="7" name="TextBox 6">
            <a:extLst>
              <a:ext uri="{FF2B5EF4-FFF2-40B4-BE49-F238E27FC236}">
                <a16:creationId xmlns:a16="http://schemas.microsoft.com/office/drawing/2014/main" id="{CAE76D9A-D695-4FE3-D5D6-BB8450E356E0}"/>
              </a:ext>
            </a:extLst>
          </p:cNvPr>
          <p:cNvSpPr txBox="1"/>
          <p:nvPr/>
        </p:nvSpPr>
        <p:spPr>
          <a:xfrm>
            <a:off x="3470663" y="1358671"/>
            <a:ext cx="8305024" cy="3539430"/>
          </a:xfrm>
          <a:prstGeom prst="rect">
            <a:avLst/>
          </a:prstGeom>
          <a:noFill/>
        </p:spPr>
        <p:txBody>
          <a:bodyPr wrap="square">
            <a:spAutoFit/>
          </a:bodyPr>
          <a:lstStyle/>
          <a:p>
            <a:r>
              <a:rPr lang="en-US" sz="2800" b="0" i="0" u="none" strike="noStrike" baseline="0" dirty="0">
                <a:solidFill>
                  <a:srgbClr val="000000"/>
                </a:solidFill>
                <a:latin typeface="Open Sans" panose="020B0606030504020204" pitchFamily="34" charset="0"/>
              </a:rPr>
              <a:t>Not all leads are created equal. Some are ready to buy now, others need more nurturing, and some may never be a good fit. </a:t>
            </a:r>
            <a:r>
              <a:rPr lang="en-US" sz="2800" b="1" i="0" u="none" strike="noStrike" baseline="0" dirty="0">
                <a:solidFill>
                  <a:srgbClr val="000000"/>
                </a:solidFill>
                <a:latin typeface="Open Sans" panose="020B0606030504020204" pitchFamily="34" charset="0"/>
              </a:rPr>
              <a:t>Lead Scoring </a:t>
            </a:r>
            <a:r>
              <a:rPr lang="en-US" sz="2800" b="0" i="0" u="none" strike="noStrike" baseline="0" dirty="0">
                <a:solidFill>
                  <a:srgbClr val="000000"/>
                </a:solidFill>
                <a:latin typeface="Open Sans" panose="020B0606030504020204" pitchFamily="34" charset="0"/>
              </a:rPr>
              <a:t>is a methodology used to rank leads based on their perceived value and readiness to buy. It assigns points to leads based on their characteristics (demographics, firmographics) and their engagement (behavior). 	</a:t>
            </a:r>
          </a:p>
        </p:txBody>
      </p:sp>
    </p:spTree>
    <p:extLst>
      <p:ext uri="{BB962C8B-B14F-4D97-AF65-F5344CB8AC3E}">
        <p14:creationId xmlns:p14="http://schemas.microsoft.com/office/powerpoint/2010/main" val="1450444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809BFC4E-E8D8-0642-2693-5E3991B2DB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63FE40-D1BA-E01E-D839-115BBB6DA35B}"/>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3. Lead Scoring Methodologies: Identifying the Hot Ones</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B246B13-4787-9B91-224A-3BBEAB389B4A}"/>
              </a:ext>
            </a:extLst>
          </p:cNvPr>
          <p:cNvPicPr>
            <a:picLocks noChangeAspect="1"/>
          </p:cNvPicPr>
          <p:nvPr/>
        </p:nvPicPr>
        <p:blipFill>
          <a:blip r:embed="rId3"/>
          <a:stretch>
            <a:fillRect/>
          </a:stretch>
        </p:blipFill>
        <p:spPr>
          <a:xfrm>
            <a:off x="416313" y="1118775"/>
            <a:ext cx="1721780" cy="3779326"/>
          </a:xfrm>
          <a:prstGeom prst="rect">
            <a:avLst/>
          </a:prstGeom>
        </p:spPr>
      </p:pic>
      <p:sp>
        <p:nvSpPr>
          <p:cNvPr id="7" name="TextBox 6">
            <a:extLst>
              <a:ext uri="{FF2B5EF4-FFF2-40B4-BE49-F238E27FC236}">
                <a16:creationId xmlns:a16="http://schemas.microsoft.com/office/drawing/2014/main" id="{7021B170-F3EE-B2C5-6417-678FB5677F1F}"/>
              </a:ext>
            </a:extLst>
          </p:cNvPr>
          <p:cNvSpPr txBox="1"/>
          <p:nvPr/>
        </p:nvSpPr>
        <p:spPr>
          <a:xfrm>
            <a:off x="2390189" y="732710"/>
            <a:ext cx="9524224" cy="4832092"/>
          </a:xfrm>
          <a:prstGeom prst="rect">
            <a:avLst/>
          </a:prstGeom>
          <a:noFill/>
        </p:spPr>
        <p:txBody>
          <a:bodyPr wrap="square">
            <a:spAutoFit/>
          </a:bodyPr>
          <a:lstStyle/>
          <a:p>
            <a:r>
              <a:rPr lang="en-US" sz="2800" b="0" i="0" u="none" strike="noStrike" baseline="0" dirty="0">
                <a:solidFill>
                  <a:srgbClr val="000000"/>
                </a:solidFill>
                <a:latin typeface="Open Sans" panose="020B0606030504020204" pitchFamily="34" charset="0"/>
              </a:rPr>
              <a:t>a. Why Lead Scoring?</a:t>
            </a:r>
          </a:p>
          <a:p>
            <a:endParaRPr lang="en-US" sz="2800" b="0" i="0" u="none" strike="noStrike" baseline="0" dirty="0">
              <a:solidFill>
                <a:srgbClr val="000000"/>
              </a:solidFill>
              <a:latin typeface="Open Sans" panose="020B0606030504020204" pitchFamily="34" charset="0"/>
            </a:endParaRPr>
          </a:p>
          <a:p>
            <a:r>
              <a:rPr lang="en-US" sz="2800" b="0" i="0" u="none" strike="noStrike" baseline="0" dirty="0">
                <a:solidFill>
                  <a:srgbClr val="000000"/>
                </a:solidFill>
                <a:latin typeface="Open Sans" panose="020B0606030504020204" pitchFamily="34" charset="0"/>
              </a:rPr>
              <a:t>• </a:t>
            </a:r>
            <a:r>
              <a:rPr lang="en-US" sz="2800" b="1" i="0" u="none" strike="noStrike" baseline="0" dirty="0">
                <a:solidFill>
                  <a:srgbClr val="000000"/>
                </a:solidFill>
                <a:latin typeface="Open Sans" panose="020B0606030504020204" pitchFamily="34" charset="0"/>
              </a:rPr>
              <a:t>Prioritization</a:t>
            </a:r>
            <a:r>
              <a:rPr lang="en-US" sz="2800" b="0" i="0" u="none" strike="noStrike" baseline="0" dirty="0">
                <a:solidFill>
                  <a:srgbClr val="000000"/>
                </a:solidFill>
                <a:latin typeface="Open Sans" panose="020B0606030504020204" pitchFamily="34" charset="0"/>
              </a:rPr>
              <a:t>: Helps sales teams focus their efforts on the most promising leads, increasing efficiency and conversion rates.</a:t>
            </a:r>
          </a:p>
          <a:p>
            <a:r>
              <a:rPr lang="en-US" sz="2800" b="0" i="0" u="none" strike="noStrike" baseline="0" dirty="0">
                <a:solidFill>
                  <a:srgbClr val="000000"/>
                </a:solidFill>
                <a:latin typeface="Open Sans" panose="020B0606030504020204" pitchFamily="34" charset="0"/>
              </a:rPr>
              <a:t>• </a:t>
            </a:r>
            <a:r>
              <a:rPr lang="en-US" sz="2800" b="1" i="0" u="none" strike="noStrike" baseline="0" dirty="0">
                <a:solidFill>
                  <a:srgbClr val="000000"/>
                </a:solidFill>
                <a:latin typeface="Open Sans" panose="020B0606030504020204" pitchFamily="34" charset="0"/>
              </a:rPr>
              <a:t>Alignment</a:t>
            </a:r>
            <a:r>
              <a:rPr lang="en-US" sz="2800" b="0" i="0" u="none" strike="noStrike" baseline="0" dirty="0">
                <a:solidFill>
                  <a:srgbClr val="000000"/>
                </a:solidFill>
                <a:latin typeface="Open Sans" panose="020B0606030504020204" pitchFamily="34" charset="0"/>
              </a:rPr>
              <a:t>: Creates a common understanding between marketing and sales on what constitutes a "qualified" lead.</a:t>
            </a:r>
          </a:p>
          <a:p>
            <a:r>
              <a:rPr lang="en-US" sz="2800" b="0" i="0" u="none" strike="noStrike" baseline="0" dirty="0">
                <a:solidFill>
                  <a:srgbClr val="000000"/>
                </a:solidFill>
                <a:latin typeface="Open Sans" panose="020B0606030504020204" pitchFamily="34" charset="0"/>
              </a:rPr>
              <a:t>• </a:t>
            </a:r>
            <a:r>
              <a:rPr lang="en-US" sz="2800" b="1" i="0" u="none" strike="noStrike" baseline="0" dirty="0">
                <a:solidFill>
                  <a:srgbClr val="000000"/>
                </a:solidFill>
                <a:latin typeface="Open Sans" panose="020B0606030504020204" pitchFamily="34" charset="0"/>
              </a:rPr>
              <a:t>Efficiency</a:t>
            </a:r>
            <a:r>
              <a:rPr lang="en-US" sz="2800" b="0" i="0" u="none" strike="noStrike" baseline="0" dirty="0">
                <a:solidFill>
                  <a:srgbClr val="000000"/>
                </a:solidFill>
                <a:latin typeface="Open Sans" panose="020B0606030504020204" pitchFamily="34" charset="0"/>
              </a:rPr>
              <a:t>: Reduces wasted time on unqualified leads.</a:t>
            </a:r>
          </a:p>
          <a:p>
            <a:r>
              <a:rPr lang="en-US" sz="2800" b="0" i="0" u="none" strike="noStrike" baseline="0" dirty="0">
                <a:solidFill>
                  <a:srgbClr val="000000"/>
                </a:solidFill>
                <a:latin typeface="Open Sans" panose="020B0606030504020204" pitchFamily="34" charset="0"/>
              </a:rPr>
              <a:t>• </a:t>
            </a:r>
            <a:r>
              <a:rPr lang="en-US" sz="2800" b="1" i="0" u="none" strike="noStrike" baseline="0" dirty="0">
                <a:solidFill>
                  <a:srgbClr val="000000"/>
                </a:solidFill>
                <a:latin typeface="Open Sans" panose="020B0606030504020204" pitchFamily="34" charset="0"/>
              </a:rPr>
              <a:t>Personalization</a:t>
            </a:r>
            <a:r>
              <a:rPr lang="en-US" sz="2800" b="0" i="0" u="none" strike="noStrike" baseline="0" dirty="0">
                <a:solidFill>
                  <a:srgbClr val="000000"/>
                </a:solidFill>
                <a:latin typeface="Open Sans" panose="020B0606030504020204" pitchFamily="34" charset="0"/>
              </a:rPr>
              <a:t>: Allows for more tailored nurturing based on a lead's score.	</a:t>
            </a:r>
          </a:p>
        </p:txBody>
      </p:sp>
    </p:spTree>
    <p:extLst>
      <p:ext uri="{BB962C8B-B14F-4D97-AF65-F5344CB8AC3E}">
        <p14:creationId xmlns:p14="http://schemas.microsoft.com/office/powerpoint/2010/main" val="2051702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C6698791-BD58-4695-BCC2-D9CC3A2722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B04F04-3D14-7C7D-EA26-CE82659DD226}"/>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3. Lead Scoring Methodologies: Identifying the Hot Ones</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084C4A7E-4944-4244-8A5D-EDB10A8C33C9}"/>
              </a:ext>
            </a:extLst>
          </p:cNvPr>
          <p:cNvPicPr>
            <a:picLocks noChangeAspect="1"/>
          </p:cNvPicPr>
          <p:nvPr/>
        </p:nvPicPr>
        <p:blipFill>
          <a:blip r:embed="rId3"/>
          <a:stretch>
            <a:fillRect/>
          </a:stretch>
        </p:blipFill>
        <p:spPr>
          <a:xfrm>
            <a:off x="416313" y="1118775"/>
            <a:ext cx="1721780" cy="3779326"/>
          </a:xfrm>
          <a:prstGeom prst="rect">
            <a:avLst/>
          </a:prstGeom>
        </p:spPr>
      </p:pic>
      <p:sp>
        <p:nvSpPr>
          <p:cNvPr id="7" name="TextBox 6">
            <a:extLst>
              <a:ext uri="{FF2B5EF4-FFF2-40B4-BE49-F238E27FC236}">
                <a16:creationId xmlns:a16="http://schemas.microsoft.com/office/drawing/2014/main" id="{82F57A11-DBC4-223A-7844-33A0D1092719}"/>
              </a:ext>
            </a:extLst>
          </p:cNvPr>
          <p:cNvSpPr txBox="1"/>
          <p:nvPr/>
        </p:nvSpPr>
        <p:spPr>
          <a:xfrm>
            <a:off x="2138093" y="732710"/>
            <a:ext cx="9776320" cy="6555641"/>
          </a:xfrm>
          <a:prstGeom prst="rect">
            <a:avLst/>
          </a:prstGeom>
          <a:noFill/>
        </p:spPr>
        <p:txBody>
          <a:bodyPr wrap="square">
            <a:spAutoFit/>
          </a:bodyPr>
          <a:lstStyle/>
          <a:p>
            <a:r>
              <a:rPr lang="en-US" sz="2800" b="0" i="0" u="none" strike="noStrike" baseline="0" dirty="0">
                <a:solidFill>
                  <a:srgbClr val="000000"/>
                </a:solidFill>
                <a:latin typeface="Open Sans" panose="020B0606030504020204" pitchFamily="34" charset="0"/>
              </a:rPr>
              <a:t>b. How Lead Scoring Works:</a:t>
            </a:r>
          </a:p>
          <a:p>
            <a:endParaRPr lang="en-US" sz="2800" b="0" i="0" u="none" strike="noStrike" baseline="0" dirty="0">
              <a:solidFill>
                <a:srgbClr val="000000"/>
              </a:solidFill>
              <a:latin typeface="Open Sans" panose="020B0606030504020204" pitchFamily="34" charset="0"/>
            </a:endParaRPr>
          </a:p>
          <a:p>
            <a:r>
              <a:rPr lang="en-US" sz="2800" b="0" i="0" u="none" strike="noStrike" baseline="0" dirty="0">
                <a:solidFill>
                  <a:srgbClr val="000000"/>
                </a:solidFill>
                <a:latin typeface="Open Sans" panose="020B0606030504020204" pitchFamily="34" charset="0"/>
              </a:rPr>
              <a:t>Leads are typically scored based on two main categories:</a:t>
            </a:r>
          </a:p>
          <a:p>
            <a:endParaRPr lang="en-US" sz="2800" dirty="0">
              <a:latin typeface="Open Sans" panose="020B0606030504020204" pitchFamily="34" charset="0"/>
            </a:endParaRPr>
          </a:p>
          <a:p>
            <a:r>
              <a:rPr lang="en-US" sz="2800" b="0" i="0" u="none" strike="noStrike" baseline="0" dirty="0">
                <a:solidFill>
                  <a:srgbClr val="000000"/>
                </a:solidFill>
                <a:latin typeface="Open Sans" panose="020B0606030504020204" pitchFamily="34" charset="0"/>
              </a:rPr>
              <a:t>1. </a:t>
            </a:r>
            <a:r>
              <a:rPr lang="en-US" sz="2800" b="1" i="0" u="none" strike="noStrike" baseline="0" dirty="0">
                <a:solidFill>
                  <a:srgbClr val="000000"/>
                </a:solidFill>
                <a:latin typeface="Open Sans" panose="020B0606030504020204" pitchFamily="34" charset="0"/>
              </a:rPr>
              <a:t>Demographic/Firmographic Fit</a:t>
            </a:r>
            <a:r>
              <a:rPr lang="en-US" sz="2800" b="0" i="0" u="none" strike="noStrike" baseline="0" dirty="0">
                <a:solidFill>
                  <a:srgbClr val="000000"/>
                </a:solidFill>
                <a:latin typeface="Open Sans" panose="020B0606030504020204" pitchFamily="34" charset="0"/>
              </a:rPr>
              <a:t> (Implicit Scoring):</a:t>
            </a:r>
          </a:p>
          <a:p>
            <a:r>
              <a:rPr lang="en-US" sz="2800" dirty="0">
                <a:latin typeface="Open Sans" panose="020B0606030504020204" pitchFamily="34" charset="0"/>
              </a:rPr>
              <a:t>- </a:t>
            </a:r>
            <a:r>
              <a:rPr lang="en-US" sz="2800" b="0" i="0" u="none" strike="noStrike" baseline="0" dirty="0">
                <a:solidFill>
                  <a:srgbClr val="000000"/>
                </a:solidFill>
                <a:latin typeface="Open Sans" panose="020B0606030504020204" pitchFamily="34" charset="0"/>
              </a:rPr>
              <a:t>How well a lead matches your ideal customer profile. This is often static information.</a:t>
            </a:r>
          </a:p>
          <a:p>
            <a:r>
              <a:rPr lang="en-US" sz="2800" b="0" i="0" u="none" strike="noStrike" baseline="0" dirty="0">
                <a:solidFill>
                  <a:srgbClr val="000000"/>
                </a:solidFill>
                <a:latin typeface="Open Sans" panose="020B0606030504020204" pitchFamily="34" charset="0"/>
              </a:rPr>
              <a:t>• </a:t>
            </a:r>
            <a:r>
              <a:rPr lang="en-US" sz="2800" b="1" i="0" u="none" strike="noStrike" baseline="0" dirty="0">
                <a:solidFill>
                  <a:srgbClr val="000000"/>
                </a:solidFill>
                <a:latin typeface="Open Sans" panose="020B0606030504020204" pitchFamily="34" charset="0"/>
              </a:rPr>
              <a:t>Examples (B2C)</a:t>
            </a:r>
            <a:r>
              <a:rPr lang="en-US" sz="2800" b="0" i="0" u="none" strike="noStrike" baseline="0" dirty="0">
                <a:solidFill>
                  <a:srgbClr val="000000"/>
                </a:solidFill>
                <a:latin typeface="Open Sans" panose="020B0606030504020204" pitchFamily="34" charset="0"/>
              </a:rPr>
              <a:t>: Age, income, location, job title (if applicable).</a:t>
            </a:r>
          </a:p>
          <a:p>
            <a:r>
              <a:rPr lang="en-US" sz="2800" b="0" i="0" u="none" strike="noStrike" baseline="0" dirty="0">
                <a:solidFill>
                  <a:srgbClr val="000000"/>
                </a:solidFill>
                <a:latin typeface="Open Sans" panose="020B0606030504020204" pitchFamily="34" charset="0"/>
              </a:rPr>
              <a:t>• </a:t>
            </a:r>
            <a:r>
              <a:rPr lang="en-US" sz="2800" b="1" i="0" u="none" strike="noStrike" baseline="0" dirty="0">
                <a:solidFill>
                  <a:srgbClr val="000000"/>
                </a:solidFill>
                <a:latin typeface="Open Sans" panose="020B0606030504020204" pitchFamily="34" charset="0"/>
              </a:rPr>
              <a:t>Examples (B2B)</a:t>
            </a:r>
            <a:r>
              <a:rPr lang="en-US" sz="2800" b="0" i="0" u="none" strike="noStrike" baseline="0" dirty="0">
                <a:solidFill>
                  <a:srgbClr val="000000"/>
                </a:solidFill>
                <a:latin typeface="Open Sans" panose="020B0606030504020204" pitchFamily="34" charset="0"/>
              </a:rPr>
              <a:t>: Company size (revenue, employees), industry, job title/seniority, location.</a:t>
            </a:r>
          </a:p>
          <a:p>
            <a:r>
              <a:rPr lang="en-US" sz="2800" b="0" i="0" u="none" strike="noStrike" baseline="0" dirty="0">
                <a:solidFill>
                  <a:srgbClr val="000000"/>
                </a:solidFill>
                <a:latin typeface="Open Sans" panose="020B0606030504020204" pitchFamily="34" charset="0"/>
              </a:rPr>
              <a:t>          Scoring: Assign points for positive attributes (e.g., “         </a:t>
            </a:r>
            <a:r>
              <a:rPr lang="en-US" sz="2800" b="0" i="0" u="none" strike="noStrike" baseline="0" dirty="0">
                <a:solidFill>
                  <a:schemeClr val="bg1"/>
                </a:solidFill>
                <a:latin typeface="Open Sans" panose="020B0606030504020204" pitchFamily="34" charset="0"/>
              </a:rPr>
              <a:t>Director" = +10 </a:t>
            </a:r>
            <a:r>
              <a:rPr lang="en-US" sz="2800" b="0" i="0" u="none" strike="noStrike" baseline="0" dirty="0">
                <a:solidFill>
                  <a:srgbClr val="000000"/>
                </a:solidFill>
                <a:latin typeface="Open Sans" panose="020B0606030504020204" pitchFamily="34" charset="0"/>
              </a:rPr>
              <a:t>points, "Student" = -5 points) and subtract </a:t>
            </a:r>
            <a:r>
              <a:rPr lang="en-US" sz="2800" b="0" i="0" u="none" strike="noStrike" baseline="0" dirty="0">
                <a:solidFill>
                  <a:schemeClr val="bg1"/>
                </a:solidFill>
                <a:latin typeface="Open Sans" panose="020B0606030504020204" pitchFamily="34" charset="0"/>
              </a:rPr>
              <a:t>points for negative ones.</a:t>
            </a:r>
          </a:p>
          <a:p>
            <a:endParaRPr lang="en-US" sz="2800" b="0" i="0" u="none" strike="noStrike" baseline="0" dirty="0">
              <a:solidFill>
                <a:srgbClr val="000000"/>
              </a:solidFill>
              <a:latin typeface="Open Sans" panose="020B0606030504020204" pitchFamily="34" charset="0"/>
            </a:endParaRPr>
          </a:p>
        </p:txBody>
      </p:sp>
    </p:spTree>
    <p:extLst>
      <p:ext uri="{BB962C8B-B14F-4D97-AF65-F5344CB8AC3E}">
        <p14:creationId xmlns:p14="http://schemas.microsoft.com/office/powerpoint/2010/main" val="2685530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CB3EF0AF-AE9F-FC2C-ACAF-584555F83F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2AF2AF-FAE5-3318-A3C6-9A5EC5737A13}"/>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3. Lead Scoring Methodologies: Identifying the Hot Ones</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F809764B-B427-04B0-DB99-58F4BEBD90AF}"/>
              </a:ext>
            </a:extLst>
          </p:cNvPr>
          <p:cNvPicPr>
            <a:picLocks noChangeAspect="1"/>
          </p:cNvPicPr>
          <p:nvPr/>
        </p:nvPicPr>
        <p:blipFill>
          <a:blip r:embed="rId3"/>
          <a:stretch>
            <a:fillRect/>
          </a:stretch>
        </p:blipFill>
        <p:spPr>
          <a:xfrm>
            <a:off x="416313" y="1118775"/>
            <a:ext cx="1721780" cy="3779326"/>
          </a:xfrm>
          <a:prstGeom prst="rect">
            <a:avLst/>
          </a:prstGeom>
        </p:spPr>
      </p:pic>
      <p:sp>
        <p:nvSpPr>
          <p:cNvPr id="7" name="TextBox 6">
            <a:extLst>
              <a:ext uri="{FF2B5EF4-FFF2-40B4-BE49-F238E27FC236}">
                <a16:creationId xmlns:a16="http://schemas.microsoft.com/office/drawing/2014/main" id="{6C58AF41-E2DC-3A54-147B-08392BCD1611}"/>
              </a:ext>
            </a:extLst>
          </p:cNvPr>
          <p:cNvSpPr txBox="1"/>
          <p:nvPr/>
        </p:nvSpPr>
        <p:spPr>
          <a:xfrm>
            <a:off x="2138093" y="732710"/>
            <a:ext cx="9776320" cy="7171194"/>
          </a:xfrm>
          <a:prstGeom prst="rect">
            <a:avLst/>
          </a:prstGeom>
          <a:noFill/>
        </p:spPr>
        <p:txBody>
          <a:bodyPr wrap="square">
            <a:spAutoFit/>
          </a:bodyPr>
          <a:lstStyle/>
          <a:p>
            <a:r>
              <a:rPr lang="en-US" sz="2800" b="0" i="0" u="none" strike="noStrike" baseline="0" dirty="0">
                <a:solidFill>
                  <a:srgbClr val="000000"/>
                </a:solidFill>
                <a:latin typeface="Open Sans" panose="020B0606030504020204" pitchFamily="34" charset="0"/>
              </a:rPr>
              <a:t>b. How Lead Scoring Works:</a:t>
            </a:r>
          </a:p>
          <a:p>
            <a:endParaRPr lang="en-US" sz="2800" b="0" i="0" u="none" strike="noStrike" baseline="0" dirty="0">
              <a:solidFill>
                <a:srgbClr val="000000"/>
              </a:solidFill>
              <a:latin typeface="Open Sans" panose="020B0606030504020204" pitchFamily="34" charset="0"/>
            </a:endParaRPr>
          </a:p>
          <a:p>
            <a:r>
              <a:rPr lang="en-US" sz="2800" b="0" i="0" u="none" strike="noStrike" baseline="0" dirty="0">
                <a:solidFill>
                  <a:srgbClr val="000000"/>
                </a:solidFill>
                <a:latin typeface="Open Sans" panose="020B0606030504020204" pitchFamily="34" charset="0"/>
              </a:rPr>
              <a:t>Leads are typically scored based on two main categories:</a:t>
            </a:r>
          </a:p>
          <a:p>
            <a:endParaRPr lang="en-US" sz="2800" dirty="0">
              <a:latin typeface="Open Sans" panose="020B0606030504020204" pitchFamily="34" charset="0"/>
            </a:endParaRPr>
          </a:p>
          <a:p>
            <a:r>
              <a:rPr lang="en-US" sz="2800" b="0" i="0" u="none" strike="noStrike" baseline="0" dirty="0">
                <a:solidFill>
                  <a:srgbClr val="000000"/>
                </a:solidFill>
                <a:latin typeface="Open Sans" panose="020B0606030504020204" pitchFamily="34" charset="0"/>
              </a:rPr>
              <a:t>2. Behavioral Engagement (Explicit Scoring):</a:t>
            </a:r>
          </a:p>
          <a:p>
            <a:pPr marL="457200" indent="-457200">
              <a:buFontTx/>
              <a:buChar char="-"/>
            </a:pPr>
            <a:r>
              <a:rPr lang="en-US" sz="2800" b="0" i="0" u="none" strike="noStrike" baseline="0" dirty="0">
                <a:solidFill>
                  <a:srgbClr val="000000"/>
                </a:solidFill>
                <a:latin typeface="Open Sans" panose="020B0606030504020204" pitchFamily="34" charset="0"/>
              </a:rPr>
              <a:t>How a lead interacts with your company's content and website. This is dynamic and changes over time.</a:t>
            </a:r>
          </a:p>
          <a:p>
            <a:r>
              <a:rPr lang="en-US" sz="2800" dirty="0">
                <a:latin typeface="Open Sans" panose="020B0606030504020204" pitchFamily="34" charset="0"/>
              </a:rPr>
              <a:t>Examples:</a:t>
            </a:r>
          </a:p>
          <a:p>
            <a:r>
              <a:rPr lang="en-US" sz="2800" dirty="0">
                <a:latin typeface="Open Sans" panose="020B0606030504020204" pitchFamily="34" charset="0"/>
              </a:rPr>
              <a:t>• </a:t>
            </a:r>
            <a:r>
              <a:rPr lang="en-US" sz="2800" b="1" dirty="0">
                <a:latin typeface="Open Sans" panose="020B0606030504020204" pitchFamily="34" charset="0"/>
              </a:rPr>
              <a:t>Positive Actions</a:t>
            </a:r>
            <a:r>
              <a:rPr lang="en-US" sz="2800" dirty="0">
                <a:latin typeface="Open Sans" panose="020B0606030504020204" pitchFamily="34" charset="0"/>
              </a:rPr>
              <a:t>: Visiting pricing page (+15), requesting a demo (+20), opening emails (+5), downloading a whitepaper (+10), attending a webinar (+10).</a:t>
            </a:r>
          </a:p>
          <a:p>
            <a:r>
              <a:rPr lang="en-US" sz="2800" dirty="0">
                <a:latin typeface="Open Sans" panose="020B0606030504020204" pitchFamily="34" charset="0"/>
              </a:rPr>
              <a:t>• </a:t>
            </a:r>
            <a:r>
              <a:rPr lang="en-US" sz="2800" b="1" dirty="0">
                <a:latin typeface="Open Sans" panose="020B0606030504020204" pitchFamily="34" charset="0"/>
              </a:rPr>
              <a:t>Negative Actions</a:t>
            </a:r>
            <a:r>
              <a:rPr lang="en-US" sz="2800" dirty="0">
                <a:latin typeface="Open Sans" panose="020B0606030504020204" pitchFamily="34" charset="0"/>
              </a:rPr>
              <a:t>: Unsubscribing from emails (-10), </a:t>
            </a:r>
            <a:r>
              <a:rPr lang="en-US" sz="2800" dirty="0">
                <a:solidFill>
                  <a:schemeClr val="bg1"/>
                </a:solidFill>
                <a:latin typeface="Open Sans" panose="020B0606030504020204" pitchFamily="34" charset="0"/>
              </a:rPr>
              <a:t>visiting career </a:t>
            </a:r>
            <a:r>
              <a:rPr lang="en-US" sz="2800" dirty="0">
                <a:solidFill>
                  <a:schemeClr val="tx1"/>
                </a:solidFill>
                <a:latin typeface="Open Sans" panose="020B0606030504020204" pitchFamily="34" charset="0"/>
              </a:rPr>
              <a:t>page</a:t>
            </a:r>
            <a:r>
              <a:rPr lang="en-US" sz="2800" dirty="0">
                <a:solidFill>
                  <a:schemeClr val="bg1"/>
                </a:solidFill>
                <a:latin typeface="Open Sans" panose="020B0606030504020204" pitchFamily="34" charset="0"/>
              </a:rPr>
              <a:t> </a:t>
            </a:r>
            <a:r>
              <a:rPr lang="en-US" sz="2800" dirty="0">
                <a:latin typeface="Open Sans" panose="020B0606030504020204" pitchFamily="34" charset="0"/>
              </a:rPr>
              <a:t>(-5), inactive for 30 days (-5).</a:t>
            </a:r>
          </a:p>
          <a:p>
            <a:endParaRPr lang="en-PH" dirty="0"/>
          </a:p>
          <a:p>
            <a:r>
              <a:rPr lang="en-US" sz="2000" b="1" dirty="0">
                <a:solidFill>
                  <a:schemeClr val="bg1"/>
                </a:solidFill>
              </a:rPr>
              <a:t>                             Scoring: </a:t>
            </a:r>
            <a:r>
              <a:rPr lang="en-US" sz="2000" dirty="0">
                <a:solidFill>
                  <a:schemeClr val="bg1"/>
                </a:solidFill>
              </a:rPr>
              <a:t>Points are added or </a:t>
            </a:r>
            <a:r>
              <a:rPr lang="en-US" sz="2000" dirty="0">
                <a:solidFill>
                  <a:schemeClr val="tx1"/>
                </a:solidFill>
              </a:rPr>
              <a:t>subtracted based on these actions. </a:t>
            </a:r>
          </a:p>
          <a:p>
            <a:endParaRPr lang="en-PH" sz="2000" dirty="0">
              <a:solidFill>
                <a:schemeClr val="bg1"/>
              </a:solidFill>
            </a:endParaRPr>
          </a:p>
          <a:p>
            <a:r>
              <a:rPr lang="en-PH" dirty="0"/>
              <a:t>	</a:t>
            </a:r>
          </a:p>
          <a:p>
            <a:pPr marL="457200" indent="-457200">
              <a:buFontTx/>
              <a:buChar char="-"/>
            </a:pPr>
            <a:endParaRPr lang="en-US" sz="2800" b="0" i="0" u="none" strike="noStrike" baseline="0" dirty="0">
              <a:solidFill>
                <a:srgbClr val="000000"/>
              </a:solidFill>
              <a:latin typeface="Open Sans" panose="020B0606030504020204" pitchFamily="34" charset="0"/>
            </a:endParaRPr>
          </a:p>
        </p:txBody>
      </p:sp>
    </p:spTree>
    <p:extLst>
      <p:ext uri="{BB962C8B-B14F-4D97-AF65-F5344CB8AC3E}">
        <p14:creationId xmlns:p14="http://schemas.microsoft.com/office/powerpoint/2010/main" val="2821087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BC50F74A-34AF-D9D1-FB1E-4DB448C86E9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DBD346-B404-0161-0C62-3639303E5815}"/>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3. Lead Scoring Methodologies: Identifying the Hot Ones</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836C9B4-BA32-EFC6-41BE-A5703243314D}"/>
              </a:ext>
            </a:extLst>
          </p:cNvPr>
          <p:cNvPicPr>
            <a:picLocks noChangeAspect="1"/>
          </p:cNvPicPr>
          <p:nvPr/>
        </p:nvPicPr>
        <p:blipFill>
          <a:blip r:embed="rId3"/>
          <a:stretch>
            <a:fillRect/>
          </a:stretch>
        </p:blipFill>
        <p:spPr>
          <a:xfrm>
            <a:off x="416313" y="1118775"/>
            <a:ext cx="1721780" cy="3779326"/>
          </a:xfrm>
          <a:prstGeom prst="rect">
            <a:avLst/>
          </a:prstGeom>
        </p:spPr>
      </p:pic>
      <p:sp>
        <p:nvSpPr>
          <p:cNvPr id="7" name="TextBox 6">
            <a:extLst>
              <a:ext uri="{FF2B5EF4-FFF2-40B4-BE49-F238E27FC236}">
                <a16:creationId xmlns:a16="http://schemas.microsoft.com/office/drawing/2014/main" id="{C12E87FC-9AD5-4CE8-C52F-25272C0F78ED}"/>
              </a:ext>
            </a:extLst>
          </p:cNvPr>
          <p:cNvSpPr txBox="1"/>
          <p:nvPr/>
        </p:nvSpPr>
        <p:spPr>
          <a:xfrm>
            <a:off x="2138093" y="732710"/>
            <a:ext cx="9776320" cy="5355312"/>
          </a:xfrm>
          <a:prstGeom prst="rect">
            <a:avLst/>
          </a:prstGeom>
          <a:noFill/>
        </p:spPr>
        <p:txBody>
          <a:bodyPr wrap="square">
            <a:spAutoFit/>
          </a:bodyPr>
          <a:lstStyle/>
          <a:p>
            <a:r>
              <a:rPr lang="en-US" sz="2800" dirty="0">
                <a:latin typeface="Open Sans" panose="020B0606030504020204" pitchFamily="34" charset="0"/>
              </a:rPr>
              <a:t>c</a:t>
            </a:r>
            <a:r>
              <a:rPr lang="en-US" sz="2800" b="0" i="0" u="none" strike="noStrike" baseline="0" dirty="0">
                <a:solidFill>
                  <a:srgbClr val="000000"/>
                </a:solidFill>
                <a:latin typeface="Open Sans" panose="020B0606030504020204" pitchFamily="34" charset="0"/>
              </a:rPr>
              <a:t>. Lead Scoring Thresholds</a:t>
            </a:r>
          </a:p>
          <a:p>
            <a:endParaRPr lang="en-PH" sz="2000" dirty="0">
              <a:solidFill>
                <a:schemeClr val="bg1"/>
              </a:solidFill>
            </a:endParaRPr>
          </a:p>
          <a:p>
            <a:r>
              <a:rPr lang="en-US" sz="2000" dirty="0">
                <a:solidFill>
                  <a:schemeClr val="tx1"/>
                </a:solidFill>
              </a:rPr>
              <a:t>Once a lead accumulates a certain score, they cross a threshold and are passed from Marketing to Sales.</a:t>
            </a:r>
          </a:p>
          <a:p>
            <a:endParaRPr lang="en-US" sz="2000" dirty="0">
              <a:solidFill>
                <a:schemeClr val="tx1"/>
              </a:solidFill>
            </a:endParaRPr>
          </a:p>
          <a:p>
            <a:r>
              <a:rPr lang="en-US" sz="2400" dirty="0">
                <a:solidFill>
                  <a:schemeClr val="tx1"/>
                </a:solidFill>
              </a:rPr>
              <a:t>• </a:t>
            </a:r>
            <a:r>
              <a:rPr lang="en-US" sz="2400" b="1" dirty="0">
                <a:solidFill>
                  <a:schemeClr val="tx1"/>
                </a:solidFill>
              </a:rPr>
              <a:t>Marketing Qualified Lead (MQL): </a:t>
            </a:r>
            <a:r>
              <a:rPr lang="en-US" sz="2400" dirty="0">
                <a:solidFill>
                  <a:schemeClr val="tx1"/>
                </a:solidFill>
              </a:rPr>
              <a:t>A lead that is ready for sales engagement based on their score (e.g., score &gt; 50). Marketing has nurtured them to a point where they are interested and fit the profile.</a:t>
            </a:r>
          </a:p>
          <a:p>
            <a:endParaRPr lang="en-US" sz="2400" dirty="0">
              <a:solidFill>
                <a:schemeClr val="tx1"/>
              </a:solidFill>
            </a:endParaRPr>
          </a:p>
          <a:p>
            <a:r>
              <a:rPr lang="en-US" sz="2400" dirty="0">
                <a:solidFill>
                  <a:schemeClr val="tx1"/>
                </a:solidFill>
              </a:rPr>
              <a:t>• </a:t>
            </a:r>
            <a:r>
              <a:rPr lang="en-US" sz="2400" b="1" dirty="0">
                <a:solidFill>
                  <a:schemeClr val="tx1"/>
                </a:solidFill>
              </a:rPr>
              <a:t>Sales Qualified Lead (SQL)</a:t>
            </a:r>
            <a:r>
              <a:rPr lang="en-US" sz="2400" dirty="0">
                <a:solidFill>
                  <a:schemeClr val="tx1"/>
                </a:solidFill>
              </a:rPr>
              <a:t>: A lead that has been vetted by the sales team and confirmed to have a high likelihood of becoming a customer (e.g., score &gt; 80, and a sales rep has confirmed BANT criteria).</a:t>
            </a:r>
            <a:endParaRPr lang="en-PH" sz="2400" dirty="0">
              <a:solidFill>
                <a:schemeClr val="tx1"/>
              </a:solidFill>
            </a:endParaRPr>
          </a:p>
          <a:p>
            <a:r>
              <a:rPr lang="en-PH" dirty="0">
                <a:solidFill>
                  <a:schemeClr val="tx1"/>
                </a:solidFill>
              </a:rPr>
              <a:t>	</a:t>
            </a:r>
          </a:p>
          <a:p>
            <a:pPr marL="457200" indent="-457200">
              <a:buFontTx/>
              <a:buChar char="-"/>
            </a:pPr>
            <a:endParaRPr lang="en-US" sz="2800" b="0" i="0" u="none" strike="noStrike" baseline="0" dirty="0">
              <a:solidFill>
                <a:srgbClr val="000000"/>
              </a:solidFill>
              <a:latin typeface="Open Sans" panose="020B0606030504020204" pitchFamily="34" charset="0"/>
            </a:endParaRPr>
          </a:p>
        </p:txBody>
      </p:sp>
      <p:pic>
        <p:nvPicPr>
          <p:cNvPr id="1026" name="Picture 2" descr="Is the BANT Sales Framework still effective in 2021?">
            <a:extLst>
              <a:ext uri="{FF2B5EF4-FFF2-40B4-BE49-F238E27FC236}">
                <a16:creationId xmlns:a16="http://schemas.microsoft.com/office/drawing/2014/main" id="{20DB6E1A-38EA-4776-88D3-0A113724EF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37714" y="5066636"/>
            <a:ext cx="4076699" cy="1791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1932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D72189F5-A2C0-61EC-92A9-05335253F9A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9CAF3B-EF9A-0B02-24C9-5E5A5F8BCD51}"/>
              </a:ext>
            </a:extLst>
          </p:cNvPr>
          <p:cNvSpPr txBox="1"/>
          <p:nvPr/>
        </p:nvSpPr>
        <p:spPr>
          <a:xfrm>
            <a:off x="277587" y="265081"/>
            <a:ext cx="10695213" cy="467629"/>
          </a:xfrm>
          <a:prstGeom prst="rect">
            <a:avLst/>
          </a:prstGeom>
          <a:noFill/>
        </p:spPr>
        <p:txBody>
          <a:bodyPr wrap="square">
            <a:spAutoFit/>
          </a:bodyPr>
          <a:lstStyle/>
          <a:p>
            <a:pPr algn="just">
              <a:lnSpc>
                <a:spcPct val="107000"/>
              </a:lnSpc>
              <a:spcAft>
                <a:spcPts val="800"/>
              </a:spcAft>
            </a:pPr>
            <a:r>
              <a:rPr lang="en-US" sz="2400" b="1" dirty="0"/>
              <a:t>3. Lead Scoring Methodologies: Identifying the Hot Ones</a:t>
            </a:r>
            <a:r>
              <a:rPr lang="en-US" sz="2400" dirty="0"/>
              <a:t>	</a:t>
            </a:r>
            <a:endParaRPr lang="en-PH" sz="5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0BC1699F-4086-C5B8-2C9C-494575A42340}"/>
              </a:ext>
            </a:extLst>
          </p:cNvPr>
          <p:cNvPicPr>
            <a:picLocks noChangeAspect="1"/>
          </p:cNvPicPr>
          <p:nvPr/>
        </p:nvPicPr>
        <p:blipFill>
          <a:blip r:embed="rId3"/>
          <a:stretch>
            <a:fillRect/>
          </a:stretch>
        </p:blipFill>
        <p:spPr>
          <a:xfrm>
            <a:off x="416313" y="1118775"/>
            <a:ext cx="1721780" cy="3779326"/>
          </a:xfrm>
          <a:prstGeom prst="rect">
            <a:avLst/>
          </a:prstGeom>
        </p:spPr>
      </p:pic>
      <p:sp>
        <p:nvSpPr>
          <p:cNvPr id="7" name="TextBox 6">
            <a:extLst>
              <a:ext uri="{FF2B5EF4-FFF2-40B4-BE49-F238E27FC236}">
                <a16:creationId xmlns:a16="http://schemas.microsoft.com/office/drawing/2014/main" id="{C279EDC6-7EB7-70A4-59A7-0F9DC2566DFB}"/>
              </a:ext>
            </a:extLst>
          </p:cNvPr>
          <p:cNvSpPr txBox="1"/>
          <p:nvPr/>
        </p:nvSpPr>
        <p:spPr>
          <a:xfrm>
            <a:off x="2138093" y="732710"/>
            <a:ext cx="9776320" cy="6771084"/>
          </a:xfrm>
          <a:prstGeom prst="rect">
            <a:avLst/>
          </a:prstGeom>
          <a:noFill/>
        </p:spPr>
        <p:txBody>
          <a:bodyPr wrap="square">
            <a:spAutoFit/>
          </a:bodyPr>
          <a:lstStyle/>
          <a:p>
            <a:r>
              <a:rPr lang="en-US" sz="2800" dirty="0">
                <a:latin typeface="Open Sans" panose="020B0606030504020204" pitchFamily="34" charset="0"/>
              </a:rPr>
              <a:t>d. Implementing Lead Scoring:</a:t>
            </a:r>
          </a:p>
          <a:p>
            <a:endParaRPr lang="en-US" sz="2800" dirty="0">
              <a:latin typeface="Open Sans" panose="020B0606030504020204" pitchFamily="34" charset="0"/>
            </a:endParaRPr>
          </a:p>
          <a:p>
            <a:r>
              <a:rPr lang="en-US" sz="2800" dirty="0">
                <a:latin typeface="Open Sans" panose="020B0606030504020204" pitchFamily="34" charset="0"/>
              </a:rPr>
              <a:t>• </a:t>
            </a:r>
            <a:r>
              <a:rPr lang="en-US" sz="2800" b="1" dirty="0">
                <a:latin typeface="Open Sans" panose="020B0606030504020204" pitchFamily="34" charset="0"/>
              </a:rPr>
              <a:t>Collaboration</a:t>
            </a:r>
            <a:r>
              <a:rPr lang="en-US" sz="2800" dirty="0">
                <a:latin typeface="Open Sans" panose="020B0606030504020204" pitchFamily="34" charset="0"/>
              </a:rPr>
              <a:t>: Requires close collaboration between marketing and sales to define scoring criteria and thresholds.</a:t>
            </a:r>
          </a:p>
          <a:p>
            <a:r>
              <a:rPr lang="en-US" sz="2800" dirty="0">
                <a:latin typeface="Open Sans" panose="020B0606030504020204" pitchFamily="34" charset="0"/>
              </a:rPr>
              <a:t>• </a:t>
            </a:r>
            <a:r>
              <a:rPr lang="en-US" sz="2800" b="1" dirty="0">
                <a:latin typeface="Open Sans" panose="020B0606030504020204" pitchFamily="34" charset="0"/>
              </a:rPr>
              <a:t>CRM/Marketing Automation Tools</a:t>
            </a:r>
            <a:r>
              <a:rPr lang="en-US" sz="2800" dirty="0">
                <a:latin typeface="Open Sans" panose="020B0606030504020204" pitchFamily="34" charset="0"/>
              </a:rPr>
              <a:t>: Most CRM and marketing automation platforms (like HubSpot) have built-in lead scoring capabilities that automate the process.</a:t>
            </a:r>
          </a:p>
          <a:p>
            <a:r>
              <a:rPr lang="en-US" sz="2800" dirty="0">
                <a:latin typeface="Open Sans" panose="020B0606030504020204" pitchFamily="34" charset="0"/>
              </a:rPr>
              <a:t>• </a:t>
            </a:r>
            <a:r>
              <a:rPr lang="en-US" sz="2800" b="1" dirty="0">
                <a:latin typeface="Open Sans" panose="020B0606030504020204" pitchFamily="34" charset="0"/>
              </a:rPr>
              <a:t>Continuous Optimization</a:t>
            </a:r>
            <a:r>
              <a:rPr lang="en-US" sz="2800" dirty="0">
                <a:latin typeface="Open Sans" panose="020B0606030504020204" pitchFamily="34" charset="0"/>
              </a:rPr>
              <a:t>: Lead scoring models should be regularly reviewed and adjusted based on conversion rates and feedback from the sales team. Lead scoring </a:t>
            </a:r>
            <a:r>
              <a:rPr lang="en-US" sz="2800" dirty="0">
                <a:solidFill>
                  <a:schemeClr val="bg1"/>
                </a:solidFill>
                <a:latin typeface="Open Sans" panose="020B0606030504020204" pitchFamily="34" charset="0"/>
              </a:rPr>
              <a:t>transforms a la</a:t>
            </a:r>
            <a:r>
              <a:rPr lang="en-US" sz="2800" dirty="0">
                <a:solidFill>
                  <a:schemeClr val="tx1"/>
                </a:solidFill>
                <a:latin typeface="Open Sans" panose="020B0606030504020204" pitchFamily="34" charset="0"/>
              </a:rPr>
              <a:t>rge</a:t>
            </a:r>
            <a:r>
              <a:rPr lang="en-US" sz="2800" dirty="0">
                <a:solidFill>
                  <a:schemeClr val="bg1"/>
                </a:solidFill>
                <a:latin typeface="Open Sans" panose="020B0606030504020204" pitchFamily="34" charset="0"/>
              </a:rPr>
              <a:t> </a:t>
            </a:r>
            <a:r>
              <a:rPr lang="en-US" sz="2800" dirty="0">
                <a:latin typeface="Open Sans" panose="020B0606030504020204" pitchFamily="34" charset="0"/>
              </a:rPr>
              <a:t>pool of leads into a prioritized list of </a:t>
            </a:r>
            <a:r>
              <a:rPr lang="en-US" sz="2800" dirty="0">
                <a:solidFill>
                  <a:schemeClr val="bg1"/>
                </a:solidFill>
                <a:latin typeface="Open Sans" panose="020B0606030504020204" pitchFamily="34" charset="0"/>
              </a:rPr>
              <a:t>opportunities, making sales </a:t>
            </a:r>
            <a:r>
              <a:rPr lang="en-US" sz="2800" dirty="0">
                <a:latin typeface="Open Sans" panose="020B0606030504020204" pitchFamily="34" charset="0"/>
              </a:rPr>
              <a:t>efforts much more efficient.</a:t>
            </a:r>
            <a:r>
              <a:rPr lang="en-PH" dirty="0">
                <a:solidFill>
                  <a:schemeClr val="tx1"/>
                </a:solidFill>
              </a:rPr>
              <a:t>	</a:t>
            </a:r>
          </a:p>
          <a:p>
            <a:pPr marL="457200" indent="-457200">
              <a:buFontTx/>
              <a:buChar char="-"/>
            </a:pPr>
            <a:endParaRPr lang="en-US" sz="2800" b="0" i="0" u="none" strike="noStrike" baseline="0" dirty="0">
              <a:solidFill>
                <a:srgbClr val="000000"/>
              </a:solidFill>
              <a:latin typeface="Open Sans" panose="020B0606030504020204" pitchFamily="34" charset="0"/>
            </a:endParaRPr>
          </a:p>
        </p:txBody>
      </p:sp>
    </p:spTree>
    <p:extLst>
      <p:ext uri="{BB962C8B-B14F-4D97-AF65-F5344CB8AC3E}">
        <p14:creationId xmlns:p14="http://schemas.microsoft.com/office/powerpoint/2010/main" val="1511456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1">
          <a:extLst>
            <a:ext uri="{FF2B5EF4-FFF2-40B4-BE49-F238E27FC236}">
              <a16:creationId xmlns:a16="http://schemas.microsoft.com/office/drawing/2014/main" id="{5A7D78FD-6F80-9297-A2CC-8C744CA1CAE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46803C0-C153-0816-E2DB-44AF6685FACE}"/>
              </a:ext>
            </a:extLst>
          </p:cNvPr>
          <p:cNvSpPr txBox="1"/>
          <p:nvPr/>
        </p:nvSpPr>
        <p:spPr>
          <a:xfrm>
            <a:off x="556532" y="643467"/>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800"/>
              </a:spcAft>
            </a:pPr>
            <a:r>
              <a:rPr lang="en-US" sz="3000" b="1" kern="1200">
                <a:solidFill>
                  <a:schemeClr val="bg1"/>
                </a:solidFill>
                <a:latin typeface="+mj-lt"/>
                <a:ea typeface="+mj-ea"/>
                <a:cs typeface="+mj-cs"/>
              </a:rPr>
              <a:t>4. Lead Nurturing Strategies: Guiding Them to Conversion</a:t>
            </a:r>
            <a:endParaRPr lang="en-US" sz="3000" kern="1200">
              <a:solidFill>
                <a:schemeClr val="bg1"/>
              </a:solidFill>
              <a:effectLst/>
              <a:latin typeface="+mj-lt"/>
              <a:ea typeface="+mj-ea"/>
              <a:cs typeface="+mj-cs"/>
            </a:endParaRPr>
          </a:p>
        </p:txBody>
      </p:sp>
      <p:pic>
        <p:nvPicPr>
          <p:cNvPr id="5" name="Picture 4">
            <a:extLst>
              <a:ext uri="{FF2B5EF4-FFF2-40B4-BE49-F238E27FC236}">
                <a16:creationId xmlns:a16="http://schemas.microsoft.com/office/drawing/2014/main" id="{E4C2F4B8-AF27-1334-3BF8-067AFA3FC8F0}"/>
              </a:ext>
            </a:extLst>
          </p:cNvPr>
          <p:cNvPicPr>
            <a:picLocks noChangeAspect="1"/>
          </p:cNvPicPr>
          <p:nvPr/>
        </p:nvPicPr>
        <p:blipFill>
          <a:blip r:embed="rId3"/>
          <a:stretch>
            <a:fillRect/>
          </a:stretch>
        </p:blipFill>
        <p:spPr>
          <a:xfrm>
            <a:off x="1710101" y="1396588"/>
            <a:ext cx="8771798" cy="2907783"/>
          </a:xfrm>
          <a:prstGeom prst="rect">
            <a:avLst/>
          </a:prstGeom>
        </p:spPr>
      </p:pic>
      <p:sp>
        <p:nvSpPr>
          <p:cNvPr id="8" name="TextBox 7">
            <a:extLst>
              <a:ext uri="{FF2B5EF4-FFF2-40B4-BE49-F238E27FC236}">
                <a16:creationId xmlns:a16="http://schemas.microsoft.com/office/drawing/2014/main" id="{4C33BAE9-A954-44A0-0D89-4CD589B63DFD}"/>
              </a:ext>
            </a:extLst>
          </p:cNvPr>
          <p:cNvSpPr txBox="1"/>
          <p:nvPr/>
        </p:nvSpPr>
        <p:spPr>
          <a:xfrm>
            <a:off x="556532" y="4581793"/>
            <a:ext cx="11419878" cy="1938992"/>
          </a:xfrm>
          <a:prstGeom prst="rect">
            <a:avLst/>
          </a:prstGeom>
          <a:noFill/>
        </p:spPr>
        <p:txBody>
          <a:bodyPr wrap="square">
            <a:spAutoFit/>
          </a:bodyPr>
          <a:lstStyle/>
          <a:p>
            <a:r>
              <a:rPr lang="en-US" sz="2400" dirty="0"/>
              <a:t>Not every lead is ready to buy immediately. In fact, most aren't. Lead Nurturing is the process of building relationships with qualified prospects, regardless of their readiness to buy, by providing relevant information and support at each stage of their buyer's journey. It's about staying top-of-mind and building trust until they are ready to make a purchase.</a:t>
            </a:r>
            <a:endParaRPr lang="en-PH" sz="2400" dirty="0"/>
          </a:p>
        </p:txBody>
      </p:sp>
    </p:spTree>
    <p:extLst>
      <p:ext uri="{BB962C8B-B14F-4D97-AF65-F5344CB8AC3E}">
        <p14:creationId xmlns:p14="http://schemas.microsoft.com/office/powerpoint/2010/main" val="190863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1">
          <a:extLst>
            <a:ext uri="{FF2B5EF4-FFF2-40B4-BE49-F238E27FC236}">
              <a16:creationId xmlns:a16="http://schemas.microsoft.com/office/drawing/2014/main" id="{A618924F-E892-2182-69C9-089313554AC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4BB4152-0EE8-5ADF-6166-6B6012E48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D75146E-9056-99CE-6C56-092DE0F9B666}"/>
              </a:ext>
            </a:extLst>
          </p:cNvPr>
          <p:cNvSpPr txBox="1"/>
          <p:nvPr/>
        </p:nvSpPr>
        <p:spPr>
          <a:xfrm>
            <a:off x="556532" y="643467"/>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800"/>
              </a:spcAft>
            </a:pPr>
            <a:r>
              <a:rPr lang="en-US" sz="3000" b="1" kern="1200">
                <a:solidFill>
                  <a:schemeClr val="bg1"/>
                </a:solidFill>
                <a:latin typeface="+mj-lt"/>
                <a:ea typeface="+mj-ea"/>
                <a:cs typeface="+mj-cs"/>
              </a:rPr>
              <a:t>4. Lead Nurturing Strategies: Guiding Them to Conversion</a:t>
            </a:r>
            <a:endParaRPr lang="en-US" sz="3000" kern="1200">
              <a:solidFill>
                <a:schemeClr val="bg1"/>
              </a:solidFill>
              <a:effectLst/>
              <a:latin typeface="+mj-lt"/>
              <a:ea typeface="+mj-ea"/>
              <a:cs typeface="+mj-cs"/>
            </a:endParaRPr>
          </a:p>
        </p:txBody>
      </p:sp>
      <p:sp>
        <p:nvSpPr>
          <p:cNvPr id="8" name="TextBox 7">
            <a:extLst>
              <a:ext uri="{FF2B5EF4-FFF2-40B4-BE49-F238E27FC236}">
                <a16:creationId xmlns:a16="http://schemas.microsoft.com/office/drawing/2014/main" id="{89C2B2C6-63E7-E2BA-78AE-7BB565B15282}"/>
              </a:ext>
            </a:extLst>
          </p:cNvPr>
          <p:cNvSpPr txBox="1"/>
          <p:nvPr/>
        </p:nvSpPr>
        <p:spPr>
          <a:xfrm>
            <a:off x="177390" y="1704778"/>
            <a:ext cx="11419878" cy="4524315"/>
          </a:xfrm>
          <a:prstGeom prst="rect">
            <a:avLst/>
          </a:prstGeom>
          <a:noFill/>
        </p:spPr>
        <p:txBody>
          <a:bodyPr wrap="square">
            <a:spAutoFit/>
          </a:bodyPr>
          <a:lstStyle/>
          <a:p>
            <a:pPr marL="457200" indent="-457200">
              <a:buAutoNum type="alphaLcPeriod"/>
            </a:pPr>
            <a:r>
              <a:rPr lang="en-US" sz="2400" dirty="0"/>
              <a:t>Why Lead Nurturing?</a:t>
            </a:r>
          </a:p>
          <a:p>
            <a:endParaRPr lang="en-US" sz="2400" dirty="0"/>
          </a:p>
          <a:p>
            <a:r>
              <a:rPr lang="en-US" sz="2400" dirty="0"/>
              <a:t>• </a:t>
            </a:r>
            <a:r>
              <a:rPr lang="en-US" sz="2400" b="1" dirty="0"/>
              <a:t>Increased Conversion Rates</a:t>
            </a:r>
            <a:r>
              <a:rPr lang="en-US" sz="2400" dirty="0"/>
              <a:t>: Nurtured leads convert at a significantly higher rate than non-nurtured leads.</a:t>
            </a:r>
          </a:p>
          <a:p>
            <a:r>
              <a:rPr lang="en-US" sz="2400" dirty="0"/>
              <a:t>• </a:t>
            </a:r>
            <a:r>
              <a:rPr lang="en-US" sz="2400" b="1" dirty="0"/>
              <a:t>Reduced Sales Cycle</a:t>
            </a:r>
            <a:r>
              <a:rPr lang="en-US" sz="2400" dirty="0"/>
              <a:t>: Helps move leads through the funnel faster.</a:t>
            </a:r>
          </a:p>
          <a:p>
            <a:r>
              <a:rPr lang="en-US" sz="2400" dirty="0"/>
              <a:t>• </a:t>
            </a:r>
            <a:r>
              <a:rPr lang="en-US" sz="2400" b="1" dirty="0"/>
              <a:t>Builds Trust &amp; Credibility</a:t>
            </a:r>
            <a:r>
              <a:rPr lang="en-US" sz="2400" dirty="0"/>
              <a:t>: Positions your company as a helpful resource, not just a seller.</a:t>
            </a:r>
          </a:p>
          <a:p>
            <a:r>
              <a:rPr lang="en-US" sz="2400" dirty="0"/>
              <a:t>• </a:t>
            </a:r>
            <a:r>
              <a:rPr lang="en-US" sz="2400" b="1" dirty="0"/>
              <a:t>Cost-Effective</a:t>
            </a:r>
            <a:r>
              <a:rPr lang="en-US" sz="2400" dirty="0"/>
              <a:t>: More cost-effective to nurture existing leads than to acquire new ones.</a:t>
            </a:r>
          </a:p>
          <a:p>
            <a:r>
              <a:rPr lang="en-US" sz="2400" dirty="0"/>
              <a:t>• </a:t>
            </a:r>
            <a:r>
              <a:rPr lang="en-US" sz="2400" b="1" dirty="0"/>
              <a:t>Personalization</a:t>
            </a:r>
            <a:r>
              <a:rPr lang="en-US" sz="2400" dirty="0"/>
              <a:t>: Delivers content tailored to the lead's specific needs and stage in the buying process.</a:t>
            </a:r>
          </a:p>
          <a:p>
            <a:endParaRPr lang="en-PH" sz="2400" dirty="0"/>
          </a:p>
        </p:txBody>
      </p:sp>
    </p:spTree>
    <p:extLst>
      <p:ext uri="{BB962C8B-B14F-4D97-AF65-F5344CB8AC3E}">
        <p14:creationId xmlns:p14="http://schemas.microsoft.com/office/powerpoint/2010/main" val="418202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1">
          <a:extLst>
            <a:ext uri="{FF2B5EF4-FFF2-40B4-BE49-F238E27FC236}">
              <a16:creationId xmlns:a16="http://schemas.microsoft.com/office/drawing/2014/main" id="{26DD6D6D-6ADC-1BF4-A60A-DF58446BB11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29FB889-A04F-D216-63C2-5F570E822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5857DE9-9867-89BF-9D21-5AAA70781CC9}"/>
              </a:ext>
            </a:extLst>
          </p:cNvPr>
          <p:cNvSpPr txBox="1"/>
          <p:nvPr/>
        </p:nvSpPr>
        <p:spPr>
          <a:xfrm>
            <a:off x="490537" y="643467"/>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800"/>
              </a:spcAft>
            </a:pPr>
            <a:r>
              <a:rPr lang="en-US" sz="3000" b="1" kern="1200" dirty="0">
                <a:solidFill>
                  <a:schemeClr val="bg1"/>
                </a:solidFill>
                <a:latin typeface="+mj-lt"/>
                <a:ea typeface="+mj-ea"/>
                <a:cs typeface="+mj-cs"/>
              </a:rPr>
              <a:t>4. Lead Nurturing Strategies: Guiding Them to Conversion</a:t>
            </a:r>
            <a:endParaRPr lang="en-US" sz="3000" kern="1200" dirty="0">
              <a:solidFill>
                <a:schemeClr val="bg1"/>
              </a:solidFill>
              <a:effectLst/>
              <a:latin typeface="+mj-lt"/>
              <a:ea typeface="+mj-ea"/>
              <a:cs typeface="+mj-cs"/>
            </a:endParaRPr>
          </a:p>
        </p:txBody>
      </p:sp>
      <p:sp>
        <p:nvSpPr>
          <p:cNvPr id="8" name="TextBox 7">
            <a:extLst>
              <a:ext uri="{FF2B5EF4-FFF2-40B4-BE49-F238E27FC236}">
                <a16:creationId xmlns:a16="http://schemas.microsoft.com/office/drawing/2014/main" id="{C7C6DF88-6508-F39E-904A-872352521423}"/>
              </a:ext>
            </a:extLst>
          </p:cNvPr>
          <p:cNvSpPr txBox="1"/>
          <p:nvPr/>
        </p:nvSpPr>
        <p:spPr>
          <a:xfrm>
            <a:off x="177390" y="1704778"/>
            <a:ext cx="11419878" cy="5262979"/>
          </a:xfrm>
          <a:prstGeom prst="rect">
            <a:avLst/>
          </a:prstGeom>
          <a:noFill/>
        </p:spPr>
        <p:txBody>
          <a:bodyPr wrap="square">
            <a:spAutoFit/>
          </a:bodyPr>
          <a:lstStyle/>
          <a:p>
            <a:r>
              <a:rPr lang="en-US" sz="2400" dirty="0"/>
              <a:t>b. Key Principles of Lead Nurturing:</a:t>
            </a:r>
          </a:p>
          <a:p>
            <a:endParaRPr lang="en-US" sz="2400" dirty="0"/>
          </a:p>
          <a:p>
            <a:endParaRPr lang="en-US" sz="2400" dirty="0"/>
          </a:p>
          <a:p>
            <a:r>
              <a:rPr lang="en-US" sz="2400" dirty="0"/>
              <a:t>• </a:t>
            </a:r>
            <a:r>
              <a:rPr lang="en-US" sz="2400" b="1" dirty="0"/>
              <a:t>Relevance</a:t>
            </a:r>
            <a:r>
              <a:rPr lang="en-US" sz="2400" dirty="0"/>
              <a:t>: Deliver content that is relevant to the lead's interests and challenges.</a:t>
            </a:r>
          </a:p>
          <a:p>
            <a:endParaRPr lang="en-US" sz="2400" dirty="0"/>
          </a:p>
          <a:p>
            <a:r>
              <a:rPr lang="en-US" sz="2400" dirty="0"/>
              <a:t>• </a:t>
            </a:r>
            <a:r>
              <a:rPr lang="en-US" sz="2400" b="1" dirty="0"/>
              <a:t>Timeliness</a:t>
            </a:r>
            <a:r>
              <a:rPr lang="en-US" sz="2400" dirty="0"/>
              <a:t>: Send content at the right time, based on their behavior or stage.</a:t>
            </a:r>
          </a:p>
          <a:p>
            <a:endParaRPr lang="en-US" sz="2400" dirty="0"/>
          </a:p>
          <a:p>
            <a:r>
              <a:rPr lang="en-US" sz="2400" dirty="0"/>
              <a:t>• </a:t>
            </a:r>
            <a:r>
              <a:rPr lang="en-US" sz="2400" b="1" dirty="0"/>
              <a:t>Multi-Channel</a:t>
            </a:r>
            <a:r>
              <a:rPr lang="en-US" sz="2400" dirty="0"/>
              <a:t>: Use a mix of channels (email, social media, retargeting ads, personalized website content, direct calls).</a:t>
            </a:r>
          </a:p>
          <a:p>
            <a:endParaRPr lang="en-US" sz="2400" dirty="0"/>
          </a:p>
          <a:p>
            <a:r>
              <a:rPr lang="en-US" sz="2400" dirty="0"/>
              <a:t>• </a:t>
            </a:r>
            <a:r>
              <a:rPr lang="en-US" sz="2400" b="1" dirty="0"/>
              <a:t>Value-Driven</a:t>
            </a:r>
            <a:r>
              <a:rPr lang="en-US" sz="2400" dirty="0"/>
              <a:t>: Focus on providing value, not just selling.</a:t>
            </a:r>
          </a:p>
          <a:p>
            <a:endParaRPr lang="en-US" sz="2400" dirty="0"/>
          </a:p>
          <a:p>
            <a:r>
              <a:rPr lang="en-US" sz="2400" dirty="0"/>
              <a:t>• </a:t>
            </a:r>
            <a:r>
              <a:rPr lang="en-US" sz="2400" b="1" dirty="0"/>
              <a:t>Personalization</a:t>
            </a:r>
            <a:r>
              <a:rPr lang="en-US" sz="2400" dirty="0"/>
              <a:t>: Address the lead by name, reference their past interactions, and tailor content.</a:t>
            </a:r>
            <a:endParaRPr lang="en-PH" sz="2400" dirty="0"/>
          </a:p>
        </p:txBody>
      </p:sp>
      <p:pic>
        <p:nvPicPr>
          <p:cNvPr id="2" name="Picture 1">
            <a:extLst>
              <a:ext uri="{FF2B5EF4-FFF2-40B4-BE49-F238E27FC236}">
                <a16:creationId xmlns:a16="http://schemas.microsoft.com/office/drawing/2014/main" id="{21894A7B-9396-BF8C-2D10-498DB95E12D4}"/>
              </a:ext>
            </a:extLst>
          </p:cNvPr>
          <p:cNvPicPr>
            <a:picLocks noChangeAspect="1"/>
          </p:cNvPicPr>
          <p:nvPr/>
        </p:nvPicPr>
        <p:blipFill>
          <a:blip r:embed="rId3"/>
          <a:stretch>
            <a:fillRect/>
          </a:stretch>
        </p:blipFill>
        <p:spPr>
          <a:xfrm>
            <a:off x="5617029" y="1535260"/>
            <a:ext cx="6397581" cy="1219200"/>
          </a:xfrm>
          <a:prstGeom prst="rect">
            <a:avLst/>
          </a:prstGeom>
        </p:spPr>
      </p:pic>
    </p:spTree>
    <p:extLst>
      <p:ext uri="{BB962C8B-B14F-4D97-AF65-F5344CB8AC3E}">
        <p14:creationId xmlns:p14="http://schemas.microsoft.com/office/powerpoint/2010/main" val="920456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1">
          <a:extLst>
            <a:ext uri="{FF2B5EF4-FFF2-40B4-BE49-F238E27FC236}">
              <a16:creationId xmlns:a16="http://schemas.microsoft.com/office/drawing/2014/main" id="{D95AC44E-3235-B724-9342-7DAD8CB0840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E5D34A4-A17F-8145-C7F7-A2418FB598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6C115A0-24E9-ED09-0C86-A9995D3FE860}"/>
              </a:ext>
            </a:extLst>
          </p:cNvPr>
          <p:cNvSpPr txBox="1"/>
          <p:nvPr/>
        </p:nvSpPr>
        <p:spPr>
          <a:xfrm>
            <a:off x="490537" y="643467"/>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800"/>
              </a:spcAft>
            </a:pPr>
            <a:r>
              <a:rPr lang="en-US" sz="3000" b="1" kern="1200" dirty="0">
                <a:solidFill>
                  <a:schemeClr val="bg1"/>
                </a:solidFill>
                <a:latin typeface="+mj-lt"/>
                <a:ea typeface="+mj-ea"/>
                <a:cs typeface="+mj-cs"/>
              </a:rPr>
              <a:t>4. Lead Nurturing Strategies: Guiding Them to Conversion</a:t>
            </a:r>
            <a:endParaRPr lang="en-US" sz="3000" kern="1200" dirty="0">
              <a:solidFill>
                <a:schemeClr val="bg1"/>
              </a:solidFill>
              <a:effectLst/>
              <a:latin typeface="+mj-lt"/>
              <a:ea typeface="+mj-ea"/>
              <a:cs typeface="+mj-cs"/>
            </a:endParaRPr>
          </a:p>
        </p:txBody>
      </p:sp>
      <p:sp>
        <p:nvSpPr>
          <p:cNvPr id="8" name="TextBox 7">
            <a:extLst>
              <a:ext uri="{FF2B5EF4-FFF2-40B4-BE49-F238E27FC236}">
                <a16:creationId xmlns:a16="http://schemas.microsoft.com/office/drawing/2014/main" id="{3D047E2A-624A-FF41-ABD9-D99E0A6B7C59}"/>
              </a:ext>
            </a:extLst>
          </p:cNvPr>
          <p:cNvSpPr txBox="1"/>
          <p:nvPr/>
        </p:nvSpPr>
        <p:spPr>
          <a:xfrm>
            <a:off x="177390" y="1704778"/>
            <a:ext cx="11419878" cy="3416320"/>
          </a:xfrm>
          <a:prstGeom prst="rect">
            <a:avLst/>
          </a:prstGeom>
          <a:noFill/>
        </p:spPr>
        <p:txBody>
          <a:bodyPr wrap="square">
            <a:spAutoFit/>
          </a:bodyPr>
          <a:lstStyle/>
          <a:p>
            <a:r>
              <a:rPr lang="en-US" sz="2400" dirty="0"/>
              <a:t>c. Common Lead Nurturing Tactics:</a:t>
            </a:r>
          </a:p>
          <a:p>
            <a:endParaRPr lang="en-US" sz="2400" dirty="0"/>
          </a:p>
          <a:p>
            <a:r>
              <a:rPr lang="en-US" sz="2400" dirty="0"/>
              <a:t>• </a:t>
            </a:r>
            <a:r>
              <a:rPr lang="en-US" sz="2400" b="1" dirty="0"/>
              <a:t>Email Nurturing Sequences (Drip Campaigns):</a:t>
            </a:r>
          </a:p>
          <a:p>
            <a:r>
              <a:rPr lang="en-US" sz="2400" dirty="0"/>
              <a:t>    </a:t>
            </a:r>
          </a:p>
          <a:p>
            <a:r>
              <a:rPr lang="en-US" sz="2400" dirty="0"/>
              <a:t>      • </a:t>
            </a:r>
            <a:r>
              <a:rPr lang="en-US" sz="2400" b="1" dirty="0"/>
              <a:t>Definition</a:t>
            </a:r>
            <a:r>
              <a:rPr lang="en-US" sz="2400" dirty="0"/>
              <a:t>: A series of automated emails sent to leads over a period, triggered by specific actions (e.g., downloading an e-book, abandoning a cart).</a:t>
            </a:r>
          </a:p>
          <a:p>
            <a:r>
              <a:rPr lang="en-US" sz="2400" dirty="0"/>
              <a:t>    </a:t>
            </a:r>
          </a:p>
          <a:p>
            <a:r>
              <a:rPr lang="en-US" sz="2400" dirty="0"/>
              <a:t>      • </a:t>
            </a:r>
            <a:r>
              <a:rPr lang="en-US" sz="2400" b="1" dirty="0"/>
              <a:t>Content Examples</a:t>
            </a:r>
            <a:r>
              <a:rPr lang="en-US" sz="2400" dirty="0"/>
              <a:t>: Educational content, case studies, testimonials, product comparisons, invitations to webinars.</a:t>
            </a:r>
            <a:endParaRPr lang="en-PH" sz="2400" dirty="0"/>
          </a:p>
        </p:txBody>
      </p:sp>
      <p:pic>
        <p:nvPicPr>
          <p:cNvPr id="4" name="Picture 3">
            <a:extLst>
              <a:ext uri="{FF2B5EF4-FFF2-40B4-BE49-F238E27FC236}">
                <a16:creationId xmlns:a16="http://schemas.microsoft.com/office/drawing/2014/main" id="{A93B6DC5-7F30-9077-268B-53D32E486B3E}"/>
              </a:ext>
            </a:extLst>
          </p:cNvPr>
          <p:cNvPicPr>
            <a:picLocks noChangeAspect="1"/>
          </p:cNvPicPr>
          <p:nvPr/>
        </p:nvPicPr>
        <p:blipFill>
          <a:blip r:embed="rId3"/>
          <a:stretch>
            <a:fillRect/>
          </a:stretch>
        </p:blipFill>
        <p:spPr>
          <a:xfrm>
            <a:off x="1219199" y="5121098"/>
            <a:ext cx="9753600" cy="1736902"/>
          </a:xfrm>
          <a:prstGeom prst="rect">
            <a:avLst/>
          </a:prstGeom>
        </p:spPr>
      </p:pic>
    </p:spTree>
    <p:extLst>
      <p:ext uri="{BB962C8B-B14F-4D97-AF65-F5344CB8AC3E}">
        <p14:creationId xmlns:p14="http://schemas.microsoft.com/office/powerpoint/2010/main" val="3095314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1">
          <a:extLst>
            <a:ext uri="{FF2B5EF4-FFF2-40B4-BE49-F238E27FC236}">
              <a16:creationId xmlns:a16="http://schemas.microsoft.com/office/drawing/2014/main" id="{85218DCE-3AD9-4FF8-FA4B-99E0132B29E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86CC4D9-6EB5-BD57-095D-1BB7B43488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2E5B5C0-00B4-BBB3-D0FC-305F44FFCC69}"/>
              </a:ext>
            </a:extLst>
          </p:cNvPr>
          <p:cNvSpPr txBox="1"/>
          <p:nvPr/>
        </p:nvSpPr>
        <p:spPr>
          <a:xfrm>
            <a:off x="490537" y="643467"/>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800"/>
              </a:spcAft>
            </a:pPr>
            <a:r>
              <a:rPr lang="en-US" sz="3000" b="1" kern="1200" dirty="0">
                <a:solidFill>
                  <a:schemeClr val="bg1"/>
                </a:solidFill>
                <a:latin typeface="+mj-lt"/>
                <a:ea typeface="+mj-ea"/>
                <a:cs typeface="+mj-cs"/>
              </a:rPr>
              <a:t>4. Lead Nurturing Strategies: Guiding Them to Conversion</a:t>
            </a:r>
            <a:endParaRPr lang="en-US" sz="3000" kern="1200" dirty="0">
              <a:solidFill>
                <a:schemeClr val="bg1"/>
              </a:solidFill>
              <a:effectLst/>
              <a:latin typeface="+mj-lt"/>
              <a:ea typeface="+mj-ea"/>
              <a:cs typeface="+mj-cs"/>
            </a:endParaRPr>
          </a:p>
        </p:txBody>
      </p:sp>
      <p:sp>
        <p:nvSpPr>
          <p:cNvPr id="8" name="TextBox 7">
            <a:extLst>
              <a:ext uri="{FF2B5EF4-FFF2-40B4-BE49-F238E27FC236}">
                <a16:creationId xmlns:a16="http://schemas.microsoft.com/office/drawing/2014/main" id="{BE354FEF-7A4F-B954-3D6B-0C9D14831B3D}"/>
              </a:ext>
            </a:extLst>
          </p:cNvPr>
          <p:cNvSpPr txBox="1"/>
          <p:nvPr/>
        </p:nvSpPr>
        <p:spPr>
          <a:xfrm>
            <a:off x="177390" y="1704778"/>
            <a:ext cx="11419878" cy="4154984"/>
          </a:xfrm>
          <a:prstGeom prst="rect">
            <a:avLst/>
          </a:prstGeom>
          <a:noFill/>
        </p:spPr>
        <p:txBody>
          <a:bodyPr wrap="square">
            <a:spAutoFit/>
          </a:bodyPr>
          <a:lstStyle/>
          <a:p>
            <a:r>
              <a:rPr lang="en-US" sz="2400" dirty="0"/>
              <a:t>• </a:t>
            </a:r>
            <a:r>
              <a:rPr lang="en-US" sz="2400" b="1" dirty="0"/>
              <a:t>Content Marketing:</a:t>
            </a:r>
          </a:p>
          <a:p>
            <a:r>
              <a:rPr lang="en-US" sz="2400" dirty="0"/>
              <a:t>  - Providing valuable content (blog posts, whitepapers, videos, infographics) that addresses common questions and pain points of leads at different stages.</a:t>
            </a:r>
          </a:p>
          <a:p>
            <a:endParaRPr lang="en-US" sz="2400" dirty="0"/>
          </a:p>
          <a:p>
            <a:r>
              <a:rPr lang="en-US" sz="2400" dirty="0"/>
              <a:t>• </a:t>
            </a:r>
            <a:r>
              <a:rPr lang="en-US" sz="2400" b="1" dirty="0"/>
              <a:t>Retargeting/Remarketing Ads:</a:t>
            </a:r>
          </a:p>
          <a:p>
            <a:r>
              <a:rPr lang="en-US" sz="2400" dirty="0"/>
              <a:t>     - Showing targeted ads to leads who have visited your website but haven't converted.</a:t>
            </a:r>
          </a:p>
          <a:p>
            <a:endParaRPr lang="en-US" sz="2400" dirty="0"/>
          </a:p>
          <a:p>
            <a:r>
              <a:rPr lang="en-US" sz="2400" dirty="0"/>
              <a:t>• </a:t>
            </a:r>
            <a:r>
              <a:rPr lang="en-US" sz="2400" b="1" dirty="0"/>
              <a:t>Personalized Website Experiences:</a:t>
            </a:r>
          </a:p>
          <a:p>
            <a:r>
              <a:rPr lang="en-US" sz="2400" dirty="0"/>
              <a:t>      - Dynamically changing website content based on a lead's past behavior or known interests.</a:t>
            </a:r>
            <a:endParaRPr lang="en-PH" sz="2400" dirty="0"/>
          </a:p>
        </p:txBody>
      </p:sp>
    </p:spTree>
    <p:extLst>
      <p:ext uri="{BB962C8B-B14F-4D97-AF65-F5344CB8AC3E}">
        <p14:creationId xmlns:p14="http://schemas.microsoft.com/office/powerpoint/2010/main" val="1962340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1">
          <a:extLst>
            <a:ext uri="{FF2B5EF4-FFF2-40B4-BE49-F238E27FC236}">
              <a16:creationId xmlns:a16="http://schemas.microsoft.com/office/drawing/2014/main" id="{E27DD49E-A6D7-1BDA-E368-9F05EE82F26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98A143E-2B71-4379-BC09-C34B564B8E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98A1B1D-39CB-4580-8E46-B802B57F9D5D}"/>
              </a:ext>
            </a:extLst>
          </p:cNvPr>
          <p:cNvSpPr txBox="1"/>
          <p:nvPr/>
        </p:nvSpPr>
        <p:spPr>
          <a:xfrm>
            <a:off x="490537" y="643467"/>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800"/>
              </a:spcAft>
            </a:pPr>
            <a:r>
              <a:rPr lang="en-US" sz="3000" b="1" kern="1200" dirty="0">
                <a:solidFill>
                  <a:schemeClr val="bg1"/>
                </a:solidFill>
                <a:latin typeface="+mj-lt"/>
                <a:ea typeface="+mj-ea"/>
                <a:cs typeface="+mj-cs"/>
              </a:rPr>
              <a:t>4. Lead Nurturing Strategies: Guiding Them to Conversion</a:t>
            </a:r>
            <a:endParaRPr lang="en-US" sz="3000" kern="1200" dirty="0">
              <a:solidFill>
                <a:schemeClr val="bg1"/>
              </a:solidFill>
              <a:effectLst/>
              <a:latin typeface="+mj-lt"/>
              <a:ea typeface="+mj-ea"/>
              <a:cs typeface="+mj-cs"/>
            </a:endParaRPr>
          </a:p>
        </p:txBody>
      </p:sp>
      <p:sp>
        <p:nvSpPr>
          <p:cNvPr id="8" name="TextBox 7">
            <a:extLst>
              <a:ext uri="{FF2B5EF4-FFF2-40B4-BE49-F238E27FC236}">
                <a16:creationId xmlns:a16="http://schemas.microsoft.com/office/drawing/2014/main" id="{3AF07B6A-36E5-0701-561E-43D47D929666}"/>
              </a:ext>
            </a:extLst>
          </p:cNvPr>
          <p:cNvSpPr txBox="1"/>
          <p:nvPr/>
        </p:nvSpPr>
        <p:spPr>
          <a:xfrm>
            <a:off x="177390" y="1704778"/>
            <a:ext cx="11821322" cy="3416320"/>
          </a:xfrm>
          <a:prstGeom prst="rect">
            <a:avLst/>
          </a:prstGeom>
          <a:noFill/>
        </p:spPr>
        <p:txBody>
          <a:bodyPr wrap="square">
            <a:spAutoFit/>
          </a:bodyPr>
          <a:lstStyle/>
          <a:p>
            <a:r>
              <a:rPr lang="en-US" sz="2400" dirty="0"/>
              <a:t>• </a:t>
            </a:r>
            <a:r>
              <a:rPr lang="en-US" sz="2400" b="1" dirty="0"/>
              <a:t>Social Media Engagement</a:t>
            </a:r>
            <a:r>
              <a:rPr lang="en-US" sz="2400" dirty="0"/>
              <a:t>:</a:t>
            </a:r>
          </a:p>
          <a:p>
            <a:r>
              <a:rPr lang="en-US" sz="2400" dirty="0"/>
              <a:t>      - Responding to comments, sharing relevant content, engaging in conversations.</a:t>
            </a:r>
          </a:p>
          <a:p>
            <a:endParaRPr lang="en-US" sz="2400" dirty="0"/>
          </a:p>
          <a:p>
            <a:r>
              <a:rPr lang="en-US" sz="2400" dirty="0"/>
              <a:t>• </a:t>
            </a:r>
            <a:r>
              <a:rPr lang="en-US" sz="2400" b="1" dirty="0"/>
              <a:t>Webinars &amp; Events</a:t>
            </a:r>
            <a:r>
              <a:rPr lang="en-US" sz="2400" dirty="0"/>
              <a:t>:</a:t>
            </a:r>
          </a:p>
          <a:p>
            <a:r>
              <a:rPr lang="en-US" sz="2400" dirty="0"/>
              <a:t>      - Offering educational webinars or inviting leads to industry events.</a:t>
            </a:r>
          </a:p>
          <a:p>
            <a:endParaRPr lang="en-US" sz="2400" dirty="0"/>
          </a:p>
          <a:p>
            <a:r>
              <a:rPr lang="en-US" sz="2400" dirty="0"/>
              <a:t>• </a:t>
            </a:r>
            <a:r>
              <a:rPr lang="en-US" sz="2400" b="1" dirty="0"/>
              <a:t>Sales Outreach (for higher-scoring leads):</a:t>
            </a:r>
          </a:p>
          <a:p>
            <a:r>
              <a:rPr lang="en-US" sz="2400" dirty="0"/>
              <a:t>      - Personalized calls or emails from sales reps once a lead reaches a certain qualification threshold.</a:t>
            </a:r>
            <a:endParaRPr lang="en-PH" sz="2400" dirty="0"/>
          </a:p>
        </p:txBody>
      </p:sp>
    </p:spTree>
    <p:extLst>
      <p:ext uri="{BB962C8B-B14F-4D97-AF65-F5344CB8AC3E}">
        <p14:creationId xmlns:p14="http://schemas.microsoft.com/office/powerpoint/2010/main" val="104169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1">
          <a:extLst>
            <a:ext uri="{FF2B5EF4-FFF2-40B4-BE49-F238E27FC236}">
              <a16:creationId xmlns:a16="http://schemas.microsoft.com/office/drawing/2014/main" id="{14465D61-8038-49CC-313B-9BCD96A531C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AC708F2-8312-C375-ECA2-0C39E5BB7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68BE7FA-4A12-18DF-EB6D-BB7EAA3CD435}"/>
              </a:ext>
            </a:extLst>
          </p:cNvPr>
          <p:cNvSpPr txBox="1"/>
          <p:nvPr/>
        </p:nvSpPr>
        <p:spPr>
          <a:xfrm>
            <a:off x="490537" y="643467"/>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800"/>
              </a:spcAft>
            </a:pPr>
            <a:r>
              <a:rPr lang="en-US" sz="3000" b="1" kern="1200">
                <a:solidFill>
                  <a:schemeClr val="bg1"/>
                </a:solidFill>
                <a:latin typeface="+mj-lt"/>
                <a:ea typeface="+mj-ea"/>
                <a:cs typeface="+mj-cs"/>
              </a:rPr>
              <a:t>4. Lead Nurturing Strategies: Guiding Them to Conversion</a:t>
            </a:r>
            <a:endParaRPr lang="en-US" sz="3000" kern="1200" dirty="0">
              <a:solidFill>
                <a:schemeClr val="bg1"/>
              </a:solidFill>
              <a:effectLst/>
              <a:latin typeface="+mj-lt"/>
              <a:ea typeface="+mj-ea"/>
              <a:cs typeface="+mj-cs"/>
            </a:endParaRPr>
          </a:p>
        </p:txBody>
      </p:sp>
      <p:sp>
        <p:nvSpPr>
          <p:cNvPr id="8" name="TextBox 7">
            <a:extLst>
              <a:ext uri="{FF2B5EF4-FFF2-40B4-BE49-F238E27FC236}">
                <a16:creationId xmlns:a16="http://schemas.microsoft.com/office/drawing/2014/main" id="{A4DA9848-18D0-8AE5-415E-EC03E333A880}"/>
              </a:ext>
            </a:extLst>
          </p:cNvPr>
          <p:cNvSpPr txBox="1"/>
          <p:nvPr/>
        </p:nvSpPr>
        <p:spPr>
          <a:xfrm>
            <a:off x="177390" y="1704778"/>
            <a:ext cx="8427767" cy="4154984"/>
          </a:xfrm>
          <a:prstGeom prst="rect">
            <a:avLst/>
          </a:prstGeom>
          <a:noFill/>
        </p:spPr>
        <p:txBody>
          <a:bodyPr wrap="square">
            <a:spAutoFit/>
          </a:bodyPr>
          <a:lstStyle/>
          <a:p>
            <a:r>
              <a:rPr lang="en-US" sz="2400" dirty="0"/>
              <a:t>d. </a:t>
            </a:r>
            <a:r>
              <a:rPr lang="en-US" sz="2400" b="1" dirty="0"/>
              <a:t>Automation in Lead Nurturing</a:t>
            </a:r>
            <a:r>
              <a:rPr lang="en-US" sz="2400" dirty="0"/>
              <a:t>:</a:t>
            </a:r>
          </a:p>
          <a:p>
            <a:r>
              <a:rPr lang="en-US" sz="2400" dirty="0"/>
              <a:t>- Marketing automation platforms (like HubSpot) are essential for scaling lead nurturing efforts. They allow you to:</a:t>
            </a:r>
          </a:p>
          <a:p>
            <a:r>
              <a:rPr lang="en-US" sz="2400" dirty="0"/>
              <a:t>      • Automate email sequences.</a:t>
            </a:r>
          </a:p>
          <a:p>
            <a:r>
              <a:rPr lang="en-US" sz="2400" dirty="0"/>
              <a:t>      • Segment leads based on behavior and demographics.</a:t>
            </a:r>
          </a:p>
          <a:p>
            <a:r>
              <a:rPr lang="en-US" sz="2400" dirty="0"/>
              <a:t>      • Trigger content delivery based on lead scores or actions.</a:t>
            </a:r>
          </a:p>
          <a:p>
            <a:r>
              <a:rPr lang="en-US" sz="2400" dirty="0"/>
              <a:t>      • Track engagement and progress. Effective lead nurturing is a continuous conversation that guides potential customers towards a purchase decision, building trust and demonstrating value along the way.</a:t>
            </a:r>
            <a:endParaRPr lang="en-PH" sz="2400" dirty="0"/>
          </a:p>
        </p:txBody>
      </p:sp>
      <p:pic>
        <p:nvPicPr>
          <p:cNvPr id="4" name="Picture 3">
            <a:extLst>
              <a:ext uri="{FF2B5EF4-FFF2-40B4-BE49-F238E27FC236}">
                <a16:creationId xmlns:a16="http://schemas.microsoft.com/office/drawing/2014/main" id="{E0CBDAE7-BBBF-3B4A-7437-3FB1B9721209}"/>
              </a:ext>
            </a:extLst>
          </p:cNvPr>
          <p:cNvPicPr>
            <a:picLocks noChangeAspect="1"/>
          </p:cNvPicPr>
          <p:nvPr/>
        </p:nvPicPr>
        <p:blipFill>
          <a:blip r:embed="rId3"/>
          <a:stretch>
            <a:fillRect/>
          </a:stretch>
        </p:blipFill>
        <p:spPr>
          <a:xfrm>
            <a:off x="9025318" y="2140552"/>
            <a:ext cx="2989292" cy="2989292"/>
          </a:xfrm>
          <a:prstGeom prst="rect">
            <a:avLst/>
          </a:prstGeom>
        </p:spPr>
      </p:pic>
    </p:spTree>
    <p:extLst>
      <p:ext uri="{BB962C8B-B14F-4D97-AF65-F5344CB8AC3E}">
        <p14:creationId xmlns:p14="http://schemas.microsoft.com/office/powerpoint/2010/main" val="419655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74C58654-5965-3DF9-818C-A7F52925520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A773F8B-28C6-0942-F3EC-33CBABF20478}"/>
              </a:ext>
            </a:extLst>
          </p:cNvPr>
          <p:cNvSpPr txBox="1"/>
          <p:nvPr/>
        </p:nvSpPr>
        <p:spPr>
          <a:xfrm>
            <a:off x="552450" y="150055"/>
            <a:ext cx="11087099" cy="6236194"/>
          </a:xfrm>
          <a:prstGeom prst="rect">
            <a:avLst/>
          </a:prstGeom>
          <a:noFill/>
        </p:spPr>
        <p:txBody>
          <a:bodyPr wrap="square">
            <a:spAutoFit/>
          </a:bodyPr>
          <a:lstStyle/>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Laboratory Activity:  Build Your Lead Form (Hands-on HubSpot)</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Set Up Your Lead Capture Form</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 Access: Log in to your HubSpot Free CRM account.</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 Your Task: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Create a simple lead capture form in HubSpot. Imagine you're offering a free e-book or a newsletter sign-up.</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1.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Create a New Form: Go to Marketing &gt; Lead Capture &gt; Forms. Click "Create form."</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2.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Choose "Standalone Form": Select this option.</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3.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Add Fields: Include at least:</a:t>
            </a:r>
          </a:p>
          <a:p>
            <a:pPr marL="0" marR="0" algn="just">
              <a:lnSpc>
                <a:spcPct val="107000"/>
              </a:lnSpc>
              <a:spcAft>
                <a:spcPts val="800"/>
              </a:spcAft>
              <a:buNone/>
            </a:pP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            • First Name</a:t>
            </a:r>
          </a:p>
          <a:p>
            <a:pPr marL="0" marR="0" algn="just">
              <a:lnSpc>
                <a:spcPct val="107000"/>
              </a:lnSpc>
              <a:spcAft>
                <a:spcPts val="800"/>
              </a:spcAft>
              <a:buNone/>
            </a:pP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            • Last Name</a:t>
            </a:r>
          </a:p>
          <a:p>
            <a:pPr marL="0" marR="0" algn="just">
              <a:lnSpc>
                <a:spcPct val="107000"/>
              </a:lnSpc>
              <a:spcAft>
                <a:spcPts val="800"/>
              </a:spcAft>
              <a:buNone/>
            </a:pP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            • Email</a:t>
            </a:r>
          </a:p>
          <a:p>
            <a:pPr marL="0" marR="0" algn="just">
              <a:lnSpc>
                <a:spcPct val="107000"/>
              </a:lnSpc>
              <a:spcAft>
                <a:spcPts val="800"/>
              </a:spcAft>
              <a:buNone/>
            </a:pPr>
            <a:endParaRPr lang="en-US" sz="2400" b="1" kern="100" dirty="0">
              <a:effectLst/>
              <a:latin typeface="Open Sans" panose="020B0606030504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53311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CC68B77D-E51C-A67B-4E52-1C82A32FBA8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2AA2DB8-4B8B-401E-79DD-7C7EB2C19DCD}"/>
              </a:ext>
            </a:extLst>
          </p:cNvPr>
          <p:cNvSpPr txBox="1"/>
          <p:nvPr/>
        </p:nvSpPr>
        <p:spPr>
          <a:xfrm>
            <a:off x="552450" y="150055"/>
            <a:ext cx="11087099" cy="4640309"/>
          </a:xfrm>
          <a:prstGeom prst="rect">
            <a:avLst/>
          </a:prstGeom>
          <a:noFill/>
        </p:spPr>
        <p:txBody>
          <a:bodyPr wrap="square">
            <a:spAutoFit/>
          </a:bodyPr>
          <a:lstStyle/>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One custom field (e.g., "Industry," "Company Size," "Favorite Beverage")</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4. Customize Options</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a:t>
            </a:r>
          </a:p>
          <a:p>
            <a:pPr marL="0" marR="0" algn="just">
              <a:lnSpc>
                <a:spcPct val="107000"/>
              </a:lnSpc>
              <a:spcAft>
                <a:spcPts val="800"/>
              </a:spcAft>
              <a:buNone/>
            </a:pP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 Give your form a clear name (e.g., "My E-book Download Form").</a:t>
            </a:r>
          </a:p>
          <a:p>
            <a:pPr marL="0" marR="0" algn="just">
              <a:lnSpc>
                <a:spcPct val="107000"/>
              </a:lnSpc>
              <a:spcAft>
                <a:spcPts val="800"/>
              </a:spcAft>
              <a:buNone/>
            </a:pP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 Set a simple "Thank You" message after submission.</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5. Publish &amp; Test: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Publish your form. Copy the link and open it in a new browser tab. Fill out your own form to test it.</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6. Screenshot Proof: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Take a screenshot of your published form (the live link, not the editor) and a screenshot of the submission confirmation in HubSpot (showing your test submission).</a:t>
            </a:r>
          </a:p>
          <a:p>
            <a:pPr marL="0" marR="0" algn="just">
              <a:lnSpc>
                <a:spcPct val="107000"/>
              </a:lnSpc>
              <a:spcAft>
                <a:spcPts val="800"/>
              </a:spcAft>
              <a:buNone/>
            </a:pPr>
            <a:endParaRPr lang="en-US" sz="2400" b="1" kern="100" dirty="0">
              <a:effectLst/>
              <a:latin typeface="Open Sans" panose="020B0606030504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16338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7D10CFC1-C96E-7BD6-6F83-8BED82B9E1D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A0F7A55-1006-C779-894F-EEF8C8EBBC79}"/>
              </a:ext>
            </a:extLst>
          </p:cNvPr>
          <p:cNvSpPr txBox="1"/>
          <p:nvPr/>
        </p:nvSpPr>
        <p:spPr>
          <a:xfrm>
            <a:off x="552450" y="150055"/>
            <a:ext cx="11087099" cy="4742901"/>
          </a:xfrm>
          <a:prstGeom prst="rect">
            <a:avLst/>
          </a:prstGeom>
          <a:noFill/>
        </p:spPr>
        <p:txBody>
          <a:bodyPr wrap="square">
            <a:spAutoFit/>
          </a:bodyPr>
          <a:lstStyle/>
          <a:p>
            <a:pPr marL="0" marR="0" algn="just">
              <a:lnSpc>
                <a:spcPct val="107000"/>
              </a:lnSpc>
              <a:spcAft>
                <a:spcPts val="800"/>
              </a:spcAft>
              <a:buNone/>
            </a:pPr>
            <a:r>
              <a:rPr lang="en-US" sz="2400" b="1" u="sng" kern="100" dirty="0">
                <a:effectLst/>
                <a:latin typeface="Open Sans" panose="020B0606030504020204" pitchFamily="34" charset="0"/>
                <a:ea typeface="Calibri" panose="020F0502020204030204" pitchFamily="34" charset="0"/>
                <a:cs typeface="Times New Roman" panose="02020603050405020304" pitchFamily="18" charset="0"/>
              </a:rPr>
              <a:t>Lecture Activity</a:t>
            </a: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 - The Lead Journey (Individual Work)</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Define &amp; Differentiate</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 Review: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Think back to our lecture on "Lead Management &amp; Qualification."</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 Your Task: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In your own </a:t>
            </a:r>
            <a:r>
              <a:rPr lang="en-US" sz="2400" kern="100">
                <a:effectLst/>
                <a:latin typeface="Open Sans" panose="020B0606030504020204" pitchFamily="34" charset="0"/>
                <a:ea typeface="Calibri" panose="020F0502020204030204" pitchFamily="34" charset="0"/>
                <a:cs typeface="Times New Roman" panose="02020603050405020304" pitchFamily="18" charset="0"/>
              </a:rPr>
              <a:t>words (2-3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sentences each), answer the following:</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1. Lead vs. Prospect vs. Customer: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Briefly define each term and explain how they differ.</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2. Inbound vs. Outbound Lead Generation: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Explain the difference and give one example of each.</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3. Lead Scoring: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Why is lead scoring important for a sales team?</a:t>
            </a:r>
          </a:p>
          <a:p>
            <a:pPr marL="0" marR="0" algn="just">
              <a:lnSpc>
                <a:spcPct val="107000"/>
              </a:lnSpc>
              <a:spcAft>
                <a:spcPts val="800"/>
              </a:spcAft>
              <a:buNone/>
            </a:pPr>
            <a:r>
              <a:rPr lang="en-US" sz="2400" b="1" kern="100" dirty="0">
                <a:effectLst/>
                <a:latin typeface="Open Sans" panose="020B0606030504020204" pitchFamily="34" charset="0"/>
                <a:ea typeface="Calibri" panose="020F0502020204030204" pitchFamily="34" charset="0"/>
                <a:cs typeface="Times New Roman" panose="02020603050405020304" pitchFamily="18" charset="0"/>
              </a:rPr>
              <a:t>4. Lead Nurturing: </a:t>
            </a:r>
            <a:r>
              <a:rPr lang="en-US" sz="2400" kern="100" dirty="0">
                <a:effectLst/>
                <a:latin typeface="Open Sans" panose="020B0606030504020204" pitchFamily="34" charset="0"/>
                <a:ea typeface="Calibri" panose="020F0502020204030204" pitchFamily="34" charset="0"/>
                <a:cs typeface="Times New Roman" panose="02020603050405020304" pitchFamily="18" charset="0"/>
              </a:rPr>
              <a:t>What is the main goal of lead nurturing?</a:t>
            </a:r>
          </a:p>
        </p:txBody>
      </p:sp>
    </p:spTree>
    <p:extLst>
      <p:ext uri="{BB962C8B-B14F-4D97-AF65-F5344CB8AC3E}">
        <p14:creationId xmlns:p14="http://schemas.microsoft.com/office/powerpoint/2010/main" val="525884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6"/>
          <p:cNvSpPr txBox="1">
            <a:spLocks noGrp="1"/>
          </p:cNvSpPr>
          <p:nvPr>
            <p:ph type="title"/>
          </p:nvPr>
        </p:nvSpPr>
        <p:spPr>
          <a:xfrm>
            <a:off x="257330" y="314464"/>
            <a:ext cx="11677339" cy="59231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4400"/>
              <a:buFont typeface="Open Sans"/>
              <a:buNone/>
            </a:pPr>
            <a:r>
              <a:rPr lang="en-US" b="1">
                <a:latin typeface="Open Sans"/>
                <a:ea typeface="Open Sans"/>
                <a:cs typeface="Open Sans"/>
                <a:sym typeface="Open Sans"/>
              </a:rPr>
              <a:t>END ….</a:t>
            </a:r>
            <a:endParaRPr/>
          </a:p>
        </p:txBody>
      </p:sp>
      <p:pic>
        <p:nvPicPr>
          <p:cNvPr id="2" name="Picture 1" descr="A cartoon hands and red balls&#10;&#10;Description automatically generated">
            <a:extLst>
              <a:ext uri="{FF2B5EF4-FFF2-40B4-BE49-F238E27FC236}">
                <a16:creationId xmlns:a16="http://schemas.microsoft.com/office/drawing/2014/main" id="{9D682E4B-073F-290F-AB8C-2AC9D53737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0045" y="2308156"/>
            <a:ext cx="3524250" cy="2857500"/>
          </a:xfrm>
          <a:prstGeom prst="rect">
            <a:avLst/>
          </a:prstGeom>
        </p:spPr>
      </p:pic>
      <p:pic>
        <p:nvPicPr>
          <p:cNvPr id="3" name="Google Shape;490;p63" descr="Thank You Icon, Transparent Thank You.PNG Images &amp; Vector - FreeIconsPNG">
            <a:extLst>
              <a:ext uri="{FF2B5EF4-FFF2-40B4-BE49-F238E27FC236}">
                <a16:creationId xmlns:a16="http://schemas.microsoft.com/office/drawing/2014/main" id="{17668BB2-5207-F0C8-3D35-3572930EF0A5}"/>
              </a:ext>
            </a:extLst>
          </p:cNvPr>
          <p:cNvPicPr preferRelativeResize="0"/>
          <p:nvPr/>
        </p:nvPicPr>
        <p:blipFill rotWithShape="1">
          <a:blip r:embed="rId4">
            <a:alphaModFix/>
          </a:blip>
          <a:srcRect/>
          <a:stretch/>
        </p:blipFill>
        <p:spPr>
          <a:xfrm>
            <a:off x="538363" y="1685933"/>
            <a:ext cx="4857056" cy="382749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pic>
        <p:nvPicPr>
          <p:cNvPr id="6" name="Content Placeholder 4" descr="A white text on a blue background&#10;&#10;Description automatically generated">
            <a:extLst>
              <a:ext uri="{FF2B5EF4-FFF2-40B4-BE49-F238E27FC236}">
                <a16:creationId xmlns:a16="http://schemas.microsoft.com/office/drawing/2014/main" id="{380DF038-2019-50B2-570E-720893CB33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2452" y="632375"/>
            <a:ext cx="4958843" cy="4958843"/>
          </a:xfrm>
          <a:prstGeom prst="rect">
            <a:avLst/>
          </a:prstGeom>
          <a:noFill/>
          <a:ln>
            <a:noFill/>
          </a:ln>
        </p:spPr>
      </p:pic>
    </p:spTree>
    <p:extLst>
      <p:ext uri="{BB962C8B-B14F-4D97-AF65-F5344CB8AC3E}">
        <p14:creationId xmlns:p14="http://schemas.microsoft.com/office/powerpoint/2010/main" val="97278531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15976</TotalTime>
  <Words>2921</Words>
  <Application>Microsoft Office PowerPoint</Application>
  <PresentationFormat>Widescreen</PresentationFormat>
  <Paragraphs>249</Paragraphs>
  <Slides>42</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Open Sans</vt:lpstr>
      <vt:lpstr>Arial</vt:lpstr>
      <vt:lpstr>Calibri</vt:lpstr>
      <vt:lpstr>Office Theme</vt:lpstr>
      <vt:lpstr>PowerPoint Presentation</vt:lpstr>
      <vt:lpstr>Devotion:</vt:lpstr>
      <vt:lpstr>Devotion:</vt:lpstr>
      <vt:lpstr>IT Customer Relationship Management</vt:lpstr>
      <vt:lpstr>PowerPoint Presentation</vt:lpstr>
      <vt:lpstr>Lead Management &amp; Qualification - It's the process of identifying, attracting, engaging, and assessing potential customers to determine their readiness to buy. It's where marketing and sales truly converge.  </vt:lpstr>
      <vt:lpstr>Lead Management &amp; Qualification - It's the process of identifying, attracting, engaging, and assessing potential customers to determine their readiness to buy. It's where marketing and sales truly converge.  </vt:lpstr>
      <vt:lpstr>Why is this crucial for you? </vt:lpstr>
      <vt:lpstr>Why is this crucial for you? </vt:lpstr>
      <vt:lpstr>Why is this crucial for you? </vt:lpstr>
      <vt:lpstr>Why is this crucial for you? </vt:lpstr>
      <vt:lpstr>https://www.youtube.com/shorts/n2s1h4ReE_Y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Process Design and Management</dc:title>
  <dc:creator>JERBERT ABARGOS</dc:creator>
  <cp:lastModifiedBy>CESAR GALINGANA</cp:lastModifiedBy>
  <cp:revision>16</cp:revision>
  <dcterms:created xsi:type="dcterms:W3CDTF">2023-12-20T09:46:04Z</dcterms:created>
  <dcterms:modified xsi:type="dcterms:W3CDTF">2026-08-12T06:24:08Z</dcterms:modified>
</cp:coreProperties>
</file>