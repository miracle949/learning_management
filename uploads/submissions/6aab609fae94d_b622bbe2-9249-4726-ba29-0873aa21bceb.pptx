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72" r:id="rId3"/>
    <p:sldId id="350" r:id="rId4"/>
    <p:sldId id="257" r:id="rId5"/>
    <p:sldId id="258" r:id="rId6"/>
    <p:sldId id="410" r:id="rId7"/>
    <p:sldId id="380" r:id="rId8"/>
    <p:sldId id="352" r:id="rId9"/>
    <p:sldId id="384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  <p:sldId id="424" r:id="rId24"/>
    <p:sldId id="425" r:id="rId25"/>
    <p:sldId id="426" r:id="rId26"/>
    <p:sldId id="427" r:id="rId27"/>
    <p:sldId id="428" r:id="rId28"/>
    <p:sldId id="429" r:id="rId29"/>
    <p:sldId id="430" r:id="rId30"/>
    <p:sldId id="431" r:id="rId31"/>
    <p:sldId id="432" r:id="rId32"/>
    <p:sldId id="409" r:id="rId33"/>
    <p:sldId id="433" r:id="rId34"/>
    <p:sldId id="371" r:id="rId35"/>
    <p:sldId id="434" r:id="rId36"/>
    <p:sldId id="435" r:id="rId37"/>
    <p:sldId id="291" r:id="rId38"/>
    <p:sldId id="293" r:id="rId39"/>
  </p:sldIdLst>
  <p:sldSz cx="12192000" cy="6858000"/>
  <p:notesSz cx="6858000" cy="9144000"/>
  <p:embeddedFontLst>
    <p:embeddedFont>
      <p:font typeface="Open Sans" panose="020B0606030504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gfwlXrR0Mov2eZJ99XbVsSyrL2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576" autoAdjust="0"/>
  </p:normalViewPr>
  <p:slideViewPr>
    <p:cSldViewPr snapToGrid="0">
      <p:cViewPr varScale="1">
        <p:scale>
          <a:sx n="59" d="100"/>
          <a:sy n="59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4402CB2E-9174-F5C6-204D-5D029A7F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F4BDB90B-BA68-103A-F3E1-2FA10A078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9FFFE041-BD21-BC9F-1EE8-BF8FC60A0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CCCF2379-B9AF-1CCE-F8ED-9AD1B2413B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98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1F49736-47CA-E35F-4445-FDCB1F94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C58F8AF8-6568-05DD-EDF2-43963F197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E0D083DC-845A-615A-35DF-5F9B993F5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78FBD66F-8509-8B17-DADF-02742319A8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2199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90169B24-A400-D57C-8EA2-39E3F03B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497812C-50A9-68C4-E42C-A69DE13D0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BE4A647-B6C7-8FCC-4F1C-98358987A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3344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2A3FB00A-A62D-00F9-B10D-9382532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959958B-D0CD-DA02-4AA3-A202666D4C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6FA594C0-32C7-4ECD-418B-65D592F9F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298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5ED3B80-CC88-A1C6-F4F3-AE77513D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E4C4124-8C8D-7821-E677-1593584D0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A07CB6F-2825-34AE-E0AF-D7C6F0F40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1543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7842459-F25B-B143-3754-98E398F9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941FDF5-4C4A-7EF6-4CBA-C38E8E719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23FC9C3-9DA5-DE62-61F1-5932EBDF5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43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8358EAC-3A27-0AB5-AD7A-06F69B06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B982DA1-D44A-DE85-2DD8-645AED030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7B2DF1F1-29A0-3941-FDE7-14E44A613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993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4D6EF96-D685-4CC4-8550-B1F4819C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83872F8-DB2C-9916-1646-8500883D74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5C75CED-4FD8-6933-74CF-57CE40DC7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755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5198C9E-923F-DB96-BC65-4154D1DAC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FAE3104-DE78-2D5A-E1FB-B7309D8A3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A3E5023D-82EA-B873-866C-8477FF12B6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6453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3C73632-48C6-B15D-4C74-FCA1F181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BE46E7F-A2D3-BE43-57A0-7DB58773C9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4093BB9-907F-434B-E256-0EACF7D52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086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1594F834-AB68-7349-CED3-22DCBD00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E85D78D-4FEA-EDEF-DCC9-5C758878D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1035245C-7771-D727-5B28-55C832180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2245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7336A6F-6625-827A-50EA-1F78A27A6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55E3FCE-A322-99D7-4FC1-2CD4C880E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342E4343-6CDF-1043-90D2-FE625492B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4218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B0345102-9F5F-7525-1CD1-FAC5955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7ACFCF4-EB2F-FD48-0AD1-446C4D848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ACC1C0D8-CA3F-8CAD-766C-19467A437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7435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7BFD8F4-DED4-872C-B0F2-E67771B2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88B2322-EAF2-3D70-ED05-2ED4C3BF8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1810C390-3D56-38DB-078D-48214CFED8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90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ECD8577E-8222-1B69-2DAD-8708E568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D4D05F8-8FE6-F002-B173-642FC5365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5977FB11-8AF5-269C-01DE-3B504D7CB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9051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44BEA28-288E-DBD7-87E4-C2A3B7FF7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E0C279F-AE7A-6919-B6F3-7D2E6DA88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EC27ACAD-78C3-AE9C-0789-513F94D96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3957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5E63F5C-C9C2-70B3-4B76-63257F3FA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0BAFA96-EC69-46FA-2509-A141E7404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E211C07-3E0C-91E7-C2B9-6198813FA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4937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784EFC6-831A-821E-274F-FA773B03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E1956D8-1396-95DB-3FC1-B6EF2A3F2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A3C25CF3-D16E-9411-2901-AB42C8A87B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547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7E27CF7-6CDF-8E8A-6251-07B6BB13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BFA19F9-40DA-910A-FABA-297178A3E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4751F7A5-6FBE-A22C-BCDE-186BF9D53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406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0EEA572-DF7A-9FAE-807D-84BFEAFC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7A0996F-807C-1DCB-25D8-737C8DA2D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3320E487-2A20-6061-85A7-61DCA8C8C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4284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25A88415-507F-2B41-E659-06DDFCD8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924D3E2-9AD8-747C-312D-ADAFE40EC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D02B791-23AB-C9CB-8565-72BE2F416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967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1569E67-7489-9E53-4F10-F03E5FFBE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3FA5D01-53E9-B868-8B9A-7204CFA3B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16D24775-D646-CD42-CB4B-F4E52BE9F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372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AD09B4F-04DF-0BE2-2685-744523732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7C1336A-2C5B-FB09-A5D2-4D0BA552B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7BA977F8-5495-0306-8E45-0BF7EDC79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1161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EEB00A0F-0648-8A49-EC42-EFDDCA33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9541E00-F62B-D045-E1A8-BF512D8655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BB44EAB8-E861-8F0A-F4BC-DCAEF193B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096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B275B2F9-93B7-BE99-BCAB-3EC63CE4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F318CDA-F8DC-EA36-8E70-8476C0983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72758346-171F-333C-45D4-4322002EE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5453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AAA524E-B109-3D46-1F77-A5580C77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7A49535C-D567-8454-67B3-82F868A2D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852D2E3-2BC2-C25C-0824-AFE26B40D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2098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3FF783A-B507-B2BA-893A-8ED0EF4A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A1C2CAC-83E7-7FD1-A8F0-555CA93AB9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267D835-2562-D4B5-2FC9-89A8B2399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8582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463D7AA7-77C8-B849-69F7-CCCDB3E1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C5711AF-7462-1521-1E55-3B8C6329A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1E5C1E42-F753-B851-B174-7F1ED8F5E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19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DCC9C726-DE6B-32BD-F277-50E0DC04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7A0B373-9311-C054-6220-C87263C106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01CD5E84-28A4-8D20-15DF-4ECE9D072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92103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E9F8520-0B8F-1972-C636-C9B35B2C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DF83A36-8B8E-E04C-FF3A-E1CEE120D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B432690-7E21-7DB5-78A1-B3AFD6A49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6285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43B28E71-5132-4D51-7486-8DB3B95B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C4DAB42-4614-418C-3036-369D5C938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CAD7F2E5-C184-57B4-C5EF-5CC325EF8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06234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4E4B06F1-6562-9B79-6B94-F0A935BF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A995A4F-C97F-25E4-C972-E406D996A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88A386EB-E650-1AC1-0040-6AB2D4068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78681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BAD49FD-552F-A4DF-6DBE-B9A1A240B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93534B1-CD7D-A1E1-7C1F-D87A42807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F7ACCA22-FE28-DF34-2C14-8AC34FFFA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8596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64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2D06F-A720-CE48-395E-B13113B025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51C1170-F02A-767F-3B11-9DCAD693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2B69D8-8A35-805C-E763-6FBA8F667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23" y="248069"/>
            <a:ext cx="11329639" cy="6287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95AAA48-85CA-FFF1-4DBC-C551BC376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18" y="1303995"/>
            <a:ext cx="10504447" cy="4250009"/>
          </a:xfrm>
          <a:prstGeom prst="rect">
            <a:avLst/>
          </a:prstGeom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8C9C17D8-AE84-D136-9D9E-6FEAD75C09C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98864" y="248069"/>
            <a:ext cx="8594271" cy="71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Devotion: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221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83DBD61-F77B-8450-4D34-AD7D3501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936D3BEB-8A49-9D0C-332B-242C7ADE68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34440" y="1140628"/>
            <a:ext cx="9982200" cy="320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IT Customer Relationship Management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0FC5A0BC-2E33-AA0C-52B7-E1139BD38C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4440" y="4117172"/>
            <a:ext cx="9982200" cy="96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b="1" dirty="0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rPr>
              <a:t>IT CRM– Module 4</a:t>
            </a:r>
            <a:endParaRPr b="1" dirty="0">
              <a:solidFill>
                <a:srgbClr val="C00000"/>
              </a:solidFill>
            </a:endParaRPr>
          </a:p>
        </p:txBody>
      </p:sp>
      <p:cxnSp>
        <p:nvCxnSpPr>
          <p:cNvPr id="91" name="Google Shape;91;p1">
            <a:extLst>
              <a:ext uri="{FF2B5EF4-FFF2-40B4-BE49-F238E27FC236}">
                <a16:creationId xmlns:a16="http://schemas.microsoft.com/office/drawing/2014/main" id="{64C15667-4A85-CC14-0573-D023A7A7EC3B}"/>
              </a:ext>
            </a:extLst>
          </p:cNvPr>
          <p:cNvCxnSpPr/>
          <p:nvPr/>
        </p:nvCxnSpPr>
        <p:spPr>
          <a:xfrm>
            <a:off x="2991934" y="3825484"/>
            <a:ext cx="6352162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389E781-0FE9-6C0A-E408-80E18619CE04}"/>
              </a:ext>
            </a:extLst>
          </p:cNvPr>
          <p:cNvSpPr txBox="1"/>
          <p:nvPr/>
        </p:nvSpPr>
        <p:spPr>
          <a:xfrm>
            <a:off x="4350896" y="5717372"/>
            <a:ext cx="4873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Open Sans"/>
                <a:ea typeface="Open Sans"/>
                <a:cs typeface="Open Sans"/>
                <a:sym typeface="Open Sans"/>
              </a:rPr>
              <a:t>Cesar D. Galingana, MIT, LPT</a:t>
            </a:r>
            <a:endParaRPr lang="en-PH" sz="2000" b="1" dirty="0"/>
          </a:p>
        </p:txBody>
      </p:sp>
    </p:spTree>
    <p:extLst>
      <p:ext uri="{BB962C8B-B14F-4D97-AF65-F5344CB8AC3E}">
        <p14:creationId xmlns:p14="http://schemas.microsoft.com/office/powerpoint/2010/main" val="332572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2594EC-680D-E13C-D960-5321F43E8A8B}"/>
              </a:ext>
            </a:extLst>
          </p:cNvPr>
          <p:cNvSpPr txBox="1"/>
          <p:nvPr/>
        </p:nvSpPr>
        <p:spPr>
          <a:xfrm>
            <a:off x="780585" y="1597184"/>
            <a:ext cx="10348332" cy="2924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80000"/>
              </a:lnSpc>
              <a:spcAft>
                <a:spcPts val="800"/>
              </a:spcAft>
              <a:buNone/>
            </a:pPr>
            <a:r>
              <a:rPr lang="en-PH" sz="6000" b="1" kern="100" dirty="0">
                <a:ln>
                  <a:noFill/>
                </a:ln>
                <a:solidFill>
                  <a:srgbClr val="0033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MODULE 4:</a:t>
            </a:r>
          </a:p>
          <a:p>
            <a:pPr marL="0" marR="0" algn="ctr">
              <a:lnSpc>
                <a:spcPct val="80000"/>
              </a:lnSpc>
              <a:spcAft>
                <a:spcPts val="800"/>
              </a:spcAft>
              <a:buNone/>
            </a:pPr>
            <a:endParaRPr lang="en-PH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80000"/>
              </a:lnSpc>
              <a:spcAft>
                <a:spcPts val="800"/>
              </a:spcAft>
              <a:buNone/>
            </a:pPr>
            <a:r>
              <a:rPr lang="en-PH" sz="6000" b="1" kern="100" dirty="0">
                <a:ln>
                  <a:noFill/>
                </a:ln>
                <a:solidFill>
                  <a:srgbClr val="0033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Sales Process Automation</a:t>
            </a:r>
            <a:endParaRPr lang="en-PH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246636" y="1313536"/>
            <a:ext cx="11393927" cy="99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Sales Process Automation (SPA) 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- Customers expect quick responses, personalized interactions, and seamless experiences.</a:t>
            </a: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FE089B0E-0BB6-6C61-697C-3AEBA4CBF4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CD9CE-36E9-91AE-B316-7DA130A20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1" y="2307148"/>
            <a:ext cx="4991100" cy="4550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2378AF-E66E-1AD7-07D5-F192640ADD93}"/>
              </a:ext>
            </a:extLst>
          </p:cNvPr>
          <p:cNvSpPr txBox="1"/>
          <p:nvPr/>
        </p:nvSpPr>
        <p:spPr>
          <a:xfrm>
            <a:off x="246636" y="2521059"/>
            <a:ext cx="71800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- leveraging technology, primarily CRM systems, to streamline, standardize, and automate repetitive tasks within the sales cycle.</a:t>
            </a:r>
            <a:endParaRPr lang="en-PH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7BAFD31-F52B-86D2-F630-3FFB357D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8A207F14-DF39-24D3-A028-05DE46DFD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636" y="1313536"/>
            <a:ext cx="11393927" cy="99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Sales Process Automation (SPA) 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- Customers expect </a:t>
            </a:r>
            <a:r>
              <a:rPr lang="en-US" dirty="0"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quick responses, personalized interactions, and seamless experiences</a:t>
            </a:r>
            <a:r>
              <a:rPr lang="en-US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F6F651B4-9705-BC1D-51E7-94A3D50F5A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3DDEE-BF48-FE87-6E58-4CE0AF75B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214" y="2307148"/>
            <a:ext cx="4925787" cy="4550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8B8F2E-37B4-CC28-1072-817CE612B1F5}"/>
              </a:ext>
            </a:extLst>
          </p:cNvPr>
          <p:cNvSpPr txBox="1"/>
          <p:nvPr/>
        </p:nvSpPr>
        <p:spPr>
          <a:xfrm>
            <a:off x="246636" y="2521059"/>
            <a:ext cx="71800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- leveraging technology, primarily CRM systems, </a:t>
            </a:r>
            <a:r>
              <a:rPr lang="en-US" sz="3600" dirty="0">
                <a:highlight>
                  <a:srgbClr val="FFFF00"/>
                </a:highlight>
              </a:rPr>
              <a:t>to streamline, standardize, and automate repetitive tasks within the sales cycle.</a:t>
            </a:r>
            <a:endParaRPr lang="en-PH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709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316FF68-6FF6-C5F9-EAE9-2AF5258B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A7B9713F-C00D-1F70-2A1C-9431A538E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012" y="287624"/>
            <a:ext cx="11393927" cy="99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b="1" dirty="0">
                <a:latin typeface="Open Sans"/>
                <a:ea typeface="Open Sans"/>
                <a:cs typeface="Open Sans"/>
                <a:sym typeface="Open Sans"/>
              </a:rPr>
              <a:t>Why is this crucial for you?</a:t>
            </a:r>
            <a:br>
              <a:rPr lang="en-US" sz="4400" dirty="0">
                <a:latin typeface="Open Sans"/>
                <a:ea typeface="Open Sans"/>
                <a:cs typeface="Open Sans"/>
                <a:sym typeface="Open Sans"/>
              </a:rPr>
            </a:b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08690-720C-55FA-04F6-0C188852EAE6}"/>
              </a:ext>
            </a:extLst>
          </p:cNvPr>
          <p:cNvSpPr txBox="1"/>
          <p:nvPr/>
        </p:nvSpPr>
        <p:spPr>
          <a:xfrm>
            <a:off x="379141" y="1487790"/>
            <a:ext cx="116368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 </a:t>
            </a:r>
            <a:r>
              <a:rPr lang="en-US" sz="2800" dirty="0">
                <a:latin typeface="Open Sans" panose="020B0606030504020204" pitchFamily="34" charset="0"/>
              </a:rPr>
              <a:t>If you're going into </a:t>
            </a:r>
            <a:r>
              <a:rPr lang="en-US" sz="2800" b="1" dirty="0">
                <a:latin typeface="Open Sans" panose="020B0606030504020204" pitchFamily="34" charset="0"/>
              </a:rPr>
              <a:t>sales</a:t>
            </a:r>
            <a:r>
              <a:rPr lang="en-US" sz="2800" dirty="0">
                <a:latin typeface="Open Sans" panose="020B0606030504020204" pitchFamily="34" charset="0"/>
              </a:rPr>
              <a:t>, SPA will be your daily toolkit.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</a:rPr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E0F066-3490-F3B2-4531-3335F2CF0313}"/>
              </a:ext>
            </a:extLst>
          </p:cNvPr>
          <p:cNvSpPr txBox="1"/>
          <p:nvPr/>
        </p:nvSpPr>
        <p:spPr>
          <a:xfrm>
            <a:off x="379140" y="2554590"/>
            <a:ext cx="116368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 </a:t>
            </a:r>
            <a:r>
              <a:rPr lang="en-US" sz="2800" dirty="0">
                <a:latin typeface="Open Sans" panose="020B0606030504020204" pitchFamily="34" charset="0"/>
              </a:rPr>
              <a:t>If you're in </a:t>
            </a:r>
            <a:r>
              <a:rPr lang="en-US" sz="2800" b="1" dirty="0">
                <a:latin typeface="Open Sans" panose="020B0606030504020204" pitchFamily="34" charset="0"/>
              </a:rPr>
              <a:t>marketing</a:t>
            </a:r>
            <a:r>
              <a:rPr lang="en-US" sz="2800" dirty="0">
                <a:latin typeface="Open Sans" panose="020B0606030504020204" pitchFamily="34" charset="0"/>
              </a:rPr>
              <a:t>, you'll need to understand how your leads flow into the sales process.</a:t>
            </a:r>
            <a:r>
              <a:rPr lang="en-PH" sz="28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</a:rPr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6487F-E568-8706-9FFE-8B6262BABF88}"/>
              </a:ext>
            </a:extLst>
          </p:cNvPr>
          <p:cNvSpPr txBox="1"/>
          <p:nvPr/>
        </p:nvSpPr>
        <p:spPr>
          <a:xfrm>
            <a:off x="379139" y="3892884"/>
            <a:ext cx="116368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  <a:sym typeface="Wingdings" panose="05000000000000000000" pitchFamily="2" charset="2"/>
              </a:rPr>
              <a:t> </a:t>
            </a:r>
            <a:r>
              <a:rPr lang="en-US" sz="2800" dirty="0">
                <a:latin typeface="Open Sans" panose="020B0606030504020204" pitchFamily="34" charset="0"/>
              </a:rPr>
              <a:t>If you're in </a:t>
            </a:r>
            <a:r>
              <a:rPr lang="en-US" sz="2800" b="1" dirty="0">
                <a:latin typeface="Open Sans" panose="020B0606030504020204" pitchFamily="34" charset="0"/>
              </a:rPr>
              <a:t>management</a:t>
            </a:r>
            <a:r>
              <a:rPr lang="en-US" sz="2800" dirty="0">
                <a:latin typeface="Open Sans" panose="020B0606030504020204" pitchFamily="34" charset="0"/>
              </a:rPr>
              <a:t>, SPA helps you gain visibility, forecast accurately, and optimize your sales engine.</a:t>
            </a:r>
            <a:endParaRPr lang="en-PH" sz="2800" b="0" i="0" u="none" strike="noStrike" baseline="0" dirty="0">
              <a:solidFill>
                <a:srgbClr val="000000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25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3" grpId="0"/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556FD90-7B36-CA5F-BCFA-1969F1C55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CF597-5236-E6D3-83B1-75DC42521DFD}"/>
              </a:ext>
            </a:extLst>
          </p:cNvPr>
          <p:cNvSpPr txBox="1"/>
          <p:nvPr/>
        </p:nvSpPr>
        <p:spPr>
          <a:xfrm>
            <a:off x="277587" y="265081"/>
            <a:ext cx="10695213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1E1991-A1CC-9F45-34E4-AB2BD19FD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004" y="696481"/>
            <a:ext cx="8491655" cy="3687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0EC608-7640-DAE7-CF0E-A77965F516E1}"/>
              </a:ext>
            </a:extLst>
          </p:cNvPr>
          <p:cNvSpPr txBox="1"/>
          <p:nvPr/>
        </p:nvSpPr>
        <p:spPr>
          <a:xfrm>
            <a:off x="1245219" y="4383483"/>
            <a:ext cx="106952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Open Sans" panose="020B0606030504020204" pitchFamily="34" charset="0"/>
              </a:rPr>
              <a:t>The sales pipeline is a visual representation of where all your potential deals are in the sales process. It's a structured, step-by-step journey that a lead takes from initial contact to becoming a customer. 	</a:t>
            </a:r>
          </a:p>
        </p:txBody>
      </p:sp>
    </p:spTree>
    <p:extLst>
      <p:ext uri="{BB962C8B-B14F-4D97-AF65-F5344CB8AC3E}">
        <p14:creationId xmlns:p14="http://schemas.microsoft.com/office/powerpoint/2010/main" val="148780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332DB174-B4A6-BCAC-B857-CF06B7C0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2AABA-6835-56E6-FCFA-8C1C610F84C7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FBD09-A86B-33EF-2C52-951078462721}"/>
              </a:ext>
            </a:extLst>
          </p:cNvPr>
          <p:cNvSpPr txBox="1"/>
          <p:nvPr/>
        </p:nvSpPr>
        <p:spPr>
          <a:xfrm>
            <a:off x="277587" y="1012954"/>
            <a:ext cx="1156500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Why Map the Pipeline?</a:t>
            </a:r>
          </a:p>
          <a:p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b="1" dirty="0"/>
              <a:t>Clarity</a:t>
            </a:r>
            <a:r>
              <a:rPr lang="en-US" sz="2800" dirty="0"/>
              <a:t>: Provides a clear, shared understanding of the sales process for everyone in the organization.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Consistency</a:t>
            </a:r>
            <a:r>
              <a:rPr lang="en-US" sz="2800" dirty="0"/>
              <a:t>: Ensures all sales reps follow a standardized approach.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Visibility</a:t>
            </a:r>
            <a:r>
              <a:rPr lang="en-US" sz="2800" dirty="0"/>
              <a:t>: Allows sales managers to see the health of their sales efforts at a glance.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Forecasting</a:t>
            </a:r>
            <a:r>
              <a:rPr lang="en-US" sz="2800" dirty="0"/>
              <a:t>: Enables more accurate predictions of future revenue.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Optimization</a:t>
            </a:r>
            <a:r>
              <a:rPr lang="en-US" sz="2800" dirty="0"/>
              <a:t>: Helps identify bottlenecks and areas for improvement in the sales process.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5224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E4AAC7E-3818-C1AC-B900-9D79AB16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F744B5-A836-49F0-E4CA-E110637D9BE8}"/>
              </a:ext>
            </a:extLst>
          </p:cNvPr>
          <p:cNvSpPr txBox="1"/>
          <p:nvPr/>
        </p:nvSpPr>
        <p:spPr>
          <a:xfrm>
            <a:off x="277586" y="1012954"/>
            <a:ext cx="11914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1. </a:t>
            </a:r>
            <a:r>
              <a:rPr lang="en-US" sz="2800" dirty="0">
                <a:highlight>
                  <a:srgbClr val="FFFF00"/>
                </a:highlight>
              </a:rPr>
              <a:t>Prospecting/Lead Generation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Identifying potential customers (leads) who might be interested in your product or service.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Research, cold outreach (calls, emails), content downloads, event attendance.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Generate initial interest and contact.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Lead becomes "Qualified Lead" or "Opportunity."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60823-12A6-C69D-8CE4-4F4C70FE4E17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067571F-1B59-B986-0FF1-2AB6CB13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D3DD8A-E891-380E-A3F5-DB297DF783D0}"/>
              </a:ext>
            </a:extLst>
          </p:cNvPr>
          <p:cNvSpPr txBox="1"/>
          <p:nvPr/>
        </p:nvSpPr>
        <p:spPr>
          <a:xfrm>
            <a:off x="277586" y="1012954"/>
            <a:ext cx="11914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2. </a:t>
            </a:r>
            <a:r>
              <a:rPr lang="en-US" sz="2800" dirty="0">
                <a:highlight>
                  <a:srgbClr val="FFFF00"/>
                </a:highlight>
              </a:rPr>
              <a:t>Qualification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Assessing whether a lead is a good fit for your product/service and has the potential to become a customer (e.g., BANT criteria: Budget, Authority, Need, Timeline).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Discovery calls, needs analysis, asking probing questions.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Determine if the lead is worth pursuing further.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Qualified lead becomes a "Prospect" or "Opportunity."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3F21C-D015-1A01-D291-A5F7BD138103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1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3D550EC-521F-9B01-04B6-74508946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6C3707-F92E-631E-0A0A-18A816832198}"/>
              </a:ext>
            </a:extLst>
          </p:cNvPr>
          <p:cNvSpPr txBox="1"/>
          <p:nvPr/>
        </p:nvSpPr>
        <p:spPr>
          <a:xfrm>
            <a:off x="277586" y="1012954"/>
            <a:ext cx="11914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3. </a:t>
            </a:r>
            <a:r>
              <a:rPr lang="en-US" sz="2800" dirty="0">
                <a:highlight>
                  <a:srgbClr val="FFFF00"/>
                </a:highlight>
              </a:rPr>
              <a:t>Needs Analysis/Discovery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Deeply understanding the prospect's specific challenges, pain points, and goals.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Detailed conversations, solution mapping, understanding current processes.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Uncover specific problems your product can solve.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Clear understanding of prospect's needs.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D3E3D6-B37D-A7FE-F416-4D8580B54A03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67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EDF31E6-6D41-C711-3420-8D058F10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5AD4F4-846F-6271-849F-250E28013426}"/>
              </a:ext>
            </a:extLst>
          </p:cNvPr>
          <p:cNvSpPr txBox="1"/>
          <p:nvPr/>
        </p:nvSpPr>
        <p:spPr>
          <a:xfrm>
            <a:off x="277586" y="1012954"/>
            <a:ext cx="119144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4. </a:t>
            </a:r>
            <a:r>
              <a:rPr lang="en-US" sz="2800" dirty="0">
                <a:highlight>
                  <a:srgbClr val="FFFF00"/>
                </a:highlight>
              </a:rPr>
              <a:t>Solution Presentation/Demonstration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Presenting how your product/service specifically addresses the prospect's identified needs and pain points.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Product demos, customized presentations, case studies.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Show the value and benefits of your solution.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Prospect understands the solution's value.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1B0A49-BFAD-2566-5838-EC94EC68DF2B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47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EF6AFCF6-2A73-C1B8-F814-951E6412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8D6620-D8C2-1935-B2BC-34EF713F964B}"/>
              </a:ext>
            </a:extLst>
          </p:cNvPr>
          <p:cNvSpPr txBox="1"/>
          <p:nvPr/>
        </p:nvSpPr>
        <p:spPr>
          <a:xfrm>
            <a:off x="277586" y="1012954"/>
            <a:ext cx="119144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5. </a:t>
            </a:r>
            <a:r>
              <a:rPr lang="en-US" sz="2800" dirty="0">
                <a:highlight>
                  <a:srgbClr val="FFFF00"/>
                </a:highlight>
              </a:rPr>
              <a:t>Proposal/Quote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Providing a formal offer, outlining the proposed solution, pricing, terms, and conditions.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Drafting proposals, sending quotes, clarifying details.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Present a clear path to purchase.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Prospect reviews the offer.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1F92E-E0BF-12A2-6A75-75037089ECED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50D91FF-14B5-F540-72AD-AAEDEAAB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01F578-B63A-2E05-D9E7-EC1ADD53DBCC}"/>
              </a:ext>
            </a:extLst>
          </p:cNvPr>
          <p:cNvSpPr txBox="1"/>
          <p:nvPr/>
        </p:nvSpPr>
        <p:spPr>
          <a:xfrm>
            <a:off x="277586" y="1012954"/>
            <a:ext cx="11914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6. </a:t>
            </a:r>
            <a:r>
              <a:rPr lang="en-US" sz="2800" dirty="0">
                <a:highlight>
                  <a:srgbClr val="FFFF00"/>
                </a:highlight>
              </a:rPr>
              <a:t>Negotiation/Objection Handling</a:t>
            </a:r>
            <a:r>
              <a:rPr lang="en-US" sz="2800" dirty="0"/>
              <a:t>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Addressing any concerns, objections, or requests for adjustments from the prospect.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Price negotiations, contract reviews, addressing competitor comparisons.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Overcome obstacles to closing the deal.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Transition</a:t>
            </a:r>
            <a:r>
              <a:rPr lang="en-US" sz="2800" dirty="0"/>
              <a:t>: Agreement reached on terms.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E1BE28-7460-8BE4-69E5-D1735DCD7DB6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85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CAA6625B-CC49-A8A3-82A0-1EB16A98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05D832-4E6A-9885-F518-CCAC2F00EA56}"/>
              </a:ext>
            </a:extLst>
          </p:cNvPr>
          <p:cNvSpPr txBox="1"/>
          <p:nvPr/>
        </p:nvSpPr>
        <p:spPr>
          <a:xfrm>
            <a:off x="277586" y="1012954"/>
            <a:ext cx="1191441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Typical Sales Pipeline Stages (Example):</a:t>
            </a:r>
          </a:p>
          <a:p>
            <a:endParaRPr lang="en-US" sz="2800" dirty="0"/>
          </a:p>
          <a:p>
            <a:r>
              <a:rPr lang="en-US" sz="2800" dirty="0"/>
              <a:t>7. </a:t>
            </a:r>
            <a:r>
              <a:rPr lang="en-US" sz="2800" dirty="0">
                <a:highlight>
                  <a:srgbClr val="FFFF00"/>
                </a:highlight>
              </a:rPr>
              <a:t>Closed-Won / Closed-Lost: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Description</a:t>
            </a:r>
            <a:r>
              <a:rPr lang="en-US" sz="2800" dirty="0"/>
              <a:t>: The final outcome of the sales process.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Activities</a:t>
            </a:r>
            <a:r>
              <a:rPr lang="en-US" sz="2800" dirty="0"/>
              <a:t>: Signing contracts, onboarding new customers, or analyzing reasons for loss.</a:t>
            </a:r>
          </a:p>
          <a:p>
            <a:r>
              <a:rPr lang="en-US" sz="2800" dirty="0"/>
              <a:t>• </a:t>
            </a:r>
            <a:r>
              <a:rPr lang="en-US" sz="2800" b="1" dirty="0"/>
              <a:t>Goal</a:t>
            </a:r>
            <a:r>
              <a:rPr lang="en-US" sz="2800" dirty="0"/>
              <a:t>: Secure the customer or learn from the loss.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CD714D-6028-2E15-DAB9-15DF37DAA92F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6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BB50BC0-6C5E-F918-B1ED-12188495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E9E24F-AABC-5F69-ACE6-1400FBFB29E3}"/>
              </a:ext>
            </a:extLst>
          </p:cNvPr>
          <p:cNvSpPr txBox="1"/>
          <p:nvPr/>
        </p:nvSpPr>
        <p:spPr>
          <a:xfrm>
            <a:off x="277586" y="1012954"/>
            <a:ext cx="119144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c. Customizing the Pipeline:</a:t>
            </a:r>
          </a:p>
          <a:p>
            <a:endParaRPr lang="en-US" sz="2800" dirty="0"/>
          </a:p>
          <a:p>
            <a:r>
              <a:rPr lang="en-US" sz="2800" dirty="0"/>
              <a:t>• Every business has a unique sales process. The number and names of stages can vary.</a:t>
            </a:r>
          </a:p>
          <a:p>
            <a:r>
              <a:rPr lang="en-US" sz="2800" dirty="0"/>
              <a:t>• The key is that each stage represents a distinct step, with clear entry and exit criteria.</a:t>
            </a:r>
          </a:p>
          <a:p>
            <a:r>
              <a:rPr lang="en-US" sz="2800" dirty="0"/>
              <a:t>• CRM systems allow you to customize these pipeline stages to match your specific sales methodology.</a:t>
            </a:r>
            <a:endParaRPr lang="en-PH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5FE689-6115-7BF4-4BF8-EE4387DFEEED}"/>
              </a:ext>
            </a:extLst>
          </p:cNvPr>
          <p:cNvSpPr txBox="1"/>
          <p:nvPr/>
        </p:nvSpPr>
        <p:spPr>
          <a:xfrm>
            <a:off x="277587" y="265081"/>
            <a:ext cx="11565008" cy="8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1. Mapping the Sales Pipeline Stages: The Customer's Journey Through Sales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1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ACFC6BAF-2417-B995-4E1C-11AEE225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458157-7057-9374-6154-7915F5E26BEC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39D8C-10AA-F00C-8BDB-3ABB1ECCF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91" y="942314"/>
            <a:ext cx="6094737" cy="3451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B46D6B-5DB6-FD8E-F196-3682A3235CD1}"/>
              </a:ext>
            </a:extLst>
          </p:cNvPr>
          <p:cNvSpPr txBox="1"/>
          <p:nvPr/>
        </p:nvSpPr>
        <p:spPr>
          <a:xfrm>
            <a:off x="277587" y="1325653"/>
            <a:ext cx="57825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By automating repetitive, time-consuming administrative tasks, sales reps can dedicate more time to high-value activities like engaging with prospects and closing deals.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278361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4F361A2-A2AA-FE34-DFE6-00637572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B10223-9F00-0E64-8837-84E969C9BA49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8620E-2A0F-9E23-B1C9-01831DD5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DE8B56-AC85-B489-0462-F3350AD48428}"/>
              </a:ext>
            </a:extLst>
          </p:cNvPr>
          <p:cNvSpPr txBox="1"/>
          <p:nvPr/>
        </p:nvSpPr>
        <p:spPr>
          <a:xfrm>
            <a:off x="277586" y="1325653"/>
            <a:ext cx="115650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dirty="0"/>
              <a:t>• Email Sequences (Sales Cadences/Drip Campaigns):</a:t>
            </a:r>
          </a:p>
          <a:p>
            <a:r>
              <a:rPr lang="en-US" sz="2800" dirty="0"/>
              <a:t>      • </a:t>
            </a:r>
            <a:r>
              <a:rPr lang="en-US" sz="2800" b="1" dirty="0"/>
              <a:t>Automation</a:t>
            </a:r>
            <a:r>
              <a:rPr lang="en-US" sz="2800" dirty="0"/>
              <a:t>: Automatically send a series of personalized emails to </a:t>
            </a:r>
          </a:p>
          <a:p>
            <a:r>
              <a:rPr lang="en-US" sz="2800" dirty="0"/>
              <a:t>        prospects based on triggers (e.g., after a demo, after a form</a:t>
            </a:r>
          </a:p>
          <a:p>
            <a:r>
              <a:rPr lang="en-US" sz="2800" dirty="0"/>
              <a:t>        submission, if no response).</a:t>
            </a:r>
          </a:p>
          <a:p>
            <a:r>
              <a:rPr lang="en-US" sz="2800" dirty="0"/>
              <a:t>      • </a:t>
            </a:r>
            <a:r>
              <a:rPr lang="en-US" sz="2800" b="1" dirty="0"/>
              <a:t>Benefit</a:t>
            </a:r>
            <a:r>
              <a:rPr lang="en-US" sz="2800" dirty="0"/>
              <a:t>: Ensures consistent follow-up, saves reps time, keeps</a:t>
            </a:r>
          </a:p>
          <a:p>
            <a:r>
              <a:rPr lang="en-US" sz="2800" dirty="0"/>
              <a:t>        leads warm.</a:t>
            </a:r>
          </a:p>
          <a:p>
            <a:r>
              <a:rPr lang="en-US" sz="2800" dirty="0"/>
              <a:t>      • </a:t>
            </a:r>
            <a:r>
              <a:rPr lang="en-US" sz="2800" b="1" dirty="0"/>
              <a:t>Example</a:t>
            </a:r>
            <a:r>
              <a:rPr lang="en-US" sz="2800" dirty="0"/>
              <a:t>: A 3-email sequence sent over a week to prospects who</a:t>
            </a:r>
          </a:p>
          <a:p>
            <a:r>
              <a:rPr lang="en-US" sz="2800" dirty="0"/>
              <a:t>                        downloaded a product brochure.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1200573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B200D495-E58E-B940-107B-A0827457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D1B8F-C673-DFD7-9C73-24FC4AEFC638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5581D-E635-1309-6E42-6FFDEC59C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5E64DA-F331-D679-0499-C04A4030ED6A}"/>
              </a:ext>
            </a:extLst>
          </p:cNvPr>
          <p:cNvSpPr txBox="1"/>
          <p:nvPr/>
        </p:nvSpPr>
        <p:spPr>
          <a:xfrm>
            <a:off x="277586" y="1325653"/>
            <a:ext cx="115650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b="1" dirty="0"/>
              <a:t>Task Creation &amp; Reminders</a:t>
            </a:r>
            <a:r>
              <a:rPr lang="en-US" sz="2800" dirty="0"/>
              <a:t>:</a:t>
            </a:r>
          </a:p>
          <a:p>
            <a:r>
              <a:rPr lang="en-US" sz="2800" dirty="0"/>
              <a:t>   • </a:t>
            </a:r>
            <a:r>
              <a:rPr lang="en-US" sz="2800" b="1" dirty="0"/>
              <a:t>Automation</a:t>
            </a:r>
            <a:r>
              <a:rPr lang="en-US" sz="2800" dirty="0"/>
              <a:t>: Automatically create follow-up tasks for sales reps</a:t>
            </a:r>
          </a:p>
          <a:p>
            <a:r>
              <a:rPr lang="en-US" sz="2800" dirty="0"/>
              <a:t>     (e.g., "Call prospect X in 2 days," "Send proposal to Y," "Schedule</a:t>
            </a:r>
          </a:p>
          <a:p>
            <a:r>
              <a:rPr lang="en-US" sz="2800" dirty="0"/>
              <a:t>     demo with Z") based on deal stage changes or specific actions.</a:t>
            </a:r>
          </a:p>
          <a:p>
            <a:r>
              <a:rPr lang="en-US" sz="2800" dirty="0"/>
              <a:t>   • </a:t>
            </a:r>
            <a:r>
              <a:rPr lang="en-US" sz="2800" b="1" dirty="0"/>
              <a:t>Benefit</a:t>
            </a:r>
            <a:r>
              <a:rPr lang="en-US" sz="2800" dirty="0"/>
              <a:t>: Ensures no lead falls through the cracks, improves</a:t>
            </a:r>
          </a:p>
          <a:p>
            <a:r>
              <a:rPr lang="en-US" sz="2800" dirty="0"/>
              <a:t>     organization, boosts productivity.</a:t>
            </a:r>
          </a:p>
          <a:p>
            <a:r>
              <a:rPr lang="en-US" sz="2800" dirty="0"/>
              <a:t>    • </a:t>
            </a:r>
            <a:r>
              <a:rPr lang="en-US" sz="2800" b="1" dirty="0"/>
              <a:t>Example</a:t>
            </a:r>
            <a:r>
              <a:rPr lang="en-US" sz="2800" dirty="0"/>
              <a:t>: When a deal moves to "Proposal Sent" stage, a task is</a:t>
            </a:r>
          </a:p>
          <a:p>
            <a:r>
              <a:rPr lang="en-US" sz="2800" dirty="0"/>
              <a:t>             automatically created to "Follow up on proposal in 3 days."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20913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AF7B8B05-F5F7-8050-037D-E3DED6C7C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7B5AA-18D6-C4A2-C900-E882F51733FA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F8035E-8640-317B-6365-C8DB27DD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94B6E9-1EA9-50F1-83CE-D90982F87AB7}"/>
              </a:ext>
            </a:extLst>
          </p:cNvPr>
          <p:cNvSpPr txBox="1"/>
          <p:nvPr/>
        </p:nvSpPr>
        <p:spPr>
          <a:xfrm>
            <a:off x="277586" y="1325653"/>
            <a:ext cx="115650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b="1" dirty="0"/>
              <a:t>Data Entry &amp; Updates:</a:t>
            </a:r>
          </a:p>
          <a:p>
            <a:r>
              <a:rPr lang="en-US" sz="2800" b="1" dirty="0"/>
              <a:t>   • Automation: </a:t>
            </a:r>
            <a:r>
              <a:rPr lang="en-US" sz="2800" dirty="0"/>
              <a:t>Automatically log emails, calls, and meetings to the  </a:t>
            </a:r>
          </a:p>
          <a:p>
            <a:r>
              <a:rPr lang="en-US" sz="2800" dirty="0"/>
              <a:t>     CRM. Update contact/deal records based on integrations (e.g.,</a:t>
            </a:r>
          </a:p>
          <a:p>
            <a:r>
              <a:rPr lang="en-US" sz="2800" dirty="0"/>
              <a:t>     website activity, form submissions).</a:t>
            </a:r>
          </a:p>
          <a:p>
            <a:r>
              <a:rPr lang="en-US" sz="2800" b="1" dirty="0"/>
              <a:t>   • Benefit: </a:t>
            </a:r>
            <a:r>
              <a:rPr lang="en-US" sz="2800" dirty="0"/>
              <a:t>Reduces manual data entry errors, ensures CRM data is</a:t>
            </a:r>
          </a:p>
          <a:p>
            <a:r>
              <a:rPr lang="en-US" sz="2800" dirty="0"/>
              <a:t>     always up-to-date, saves reps significant time.</a:t>
            </a:r>
          </a:p>
          <a:p>
            <a:r>
              <a:rPr lang="en-US" sz="2800" b="1" dirty="0"/>
              <a:t>   • Example: </a:t>
            </a:r>
            <a:r>
              <a:rPr lang="en-US" sz="2800" dirty="0"/>
              <a:t>An email sent from a rep's Outlook is automatically logged</a:t>
            </a:r>
          </a:p>
          <a:p>
            <a:r>
              <a:rPr lang="en-US" sz="2800" dirty="0"/>
              <a:t>                      to the associated contact record in CRM.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402325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E143B4E-3487-07EF-A95C-F136ACB6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4E0FCD-A58E-CFEF-2519-BC82447B046B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0E50FB-7F80-1514-776C-940EA1A18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B4EA5C-6525-0918-9762-552D93BE1A97}"/>
              </a:ext>
            </a:extLst>
          </p:cNvPr>
          <p:cNvSpPr txBox="1"/>
          <p:nvPr/>
        </p:nvSpPr>
        <p:spPr>
          <a:xfrm>
            <a:off x="277586" y="1325653"/>
            <a:ext cx="115650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b="1" dirty="0"/>
              <a:t>Lead Routing &amp; Assignment:</a:t>
            </a:r>
          </a:p>
          <a:p>
            <a:r>
              <a:rPr lang="en-US" sz="2800" b="1" dirty="0"/>
              <a:t>   • Automation: </a:t>
            </a:r>
            <a:r>
              <a:rPr lang="en-US" sz="2800" dirty="0"/>
              <a:t>Automatically assign new leads to the appropriate sales rep based on predefined rules (e.g., geography, industry, company size, round-robin).</a:t>
            </a:r>
          </a:p>
          <a:p>
            <a:r>
              <a:rPr lang="en-US" sz="2800" b="1" dirty="0"/>
              <a:t>   • Benefit: </a:t>
            </a:r>
            <a:r>
              <a:rPr lang="en-US" sz="2800" dirty="0"/>
              <a:t>Ensures quick follow-up, prevents leads from being missed, balances workload.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110921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4E1801B-828C-CEA1-0C10-C4727815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599F1-D6A4-9EF8-12F8-0AFDC52EA604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EA234-A116-C4A1-DFA4-7D2D914F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FA011C-F95C-E8F7-A23A-9B1BC6FA9531}"/>
              </a:ext>
            </a:extLst>
          </p:cNvPr>
          <p:cNvSpPr txBox="1"/>
          <p:nvPr/>
        </p:nvSpPr>
        <p:spPr>
          <a:xfrm>
            <a:off x="277586" y="1325653"/>
            <a:ext cx="115650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b="1" dirty="0"/>
              <a:t>Meeting Scheduling:</a:t>
            </a:r>
          </a:p>
          <a:p>
            <a:r>
              <a:rPr lang="en-US" sz="2800" b="1" dirty="0"/>
              <a:t>    • Automation: </a:t>
            </a:r>
            <a:r>
              <a:rPr lang="en-US" sz="2800" dirty="0"/>
              <a:t>Use scheduling tools (often integrated with CRM) that</a:t>
            </a:r>
          </a:p>
          <a:p>
            <a:r>
              <a:rPr lang="en-US" sz="2800" dirty="0"/>
              <a:t>      allow prospects to book meetings directly on a rep's calendar,</a:t>
            </a:r>
          </a:p>
          <a:p>
            <a:r>
              <a:rPr lang="en-US" sz="2800" dirty="0"/>
              <a:t>      eliminating back-and-forth emails.</a:t>
            </a:r>
          </a:p>
          <a:p>
            <a:r>
              <a:rPr lang="en-US" sz="2800" b="1" dirty="0"/>
              <a:t>    • Benefit: </a:t>
            </a:r>
            <a:r>
              <a:rPr lang="en-US" sz="2800" dirty="0"/>
              <a:t>Streamlines scheduling, improves prospect experience.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413195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DB03A04-E51A-AE8A-ED92-78A7A365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D86CF-D235-F5D2-C459-84C384EFF2C2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2DA9B-8FB9-E66E-9195-81F8A6AFB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3FC6D8-D78B-F055-5B0F-6911130B3E54}"/>
              </a:ext>
            </a:extLst>
          </p:cNvPr>
          <p:cNvSpPr txBox="1"/>
          <p:nvPr/>
        </p:nvSpPr>
        <p:spPr>
          <a:xfrm>
            <a:off x="277586" y="1325653"/>
            <a:ext cx="1156500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a. Key Sales Tasks That Can Be Automated:</a:t>
            </a:r>
          </a:p>
          <a:p>
            <a:endParaRPr lang="en-US" sz="2800" dirty="0"/>
          </a:p>
          <a:p>
            <a:r>
              <a:rPr lang="en-US" sz="2800" b="1" dirty="0"/>
              <a:t>Quote Generation &amp; Contract Management:</a:t>
            </a:r>
          </a:p>
          <a:p>
            <a:r>
              <a:rPr lang="en-US" sz="2800" b="1" dirty="0"/>
              <a:t>   • Automation: </a:t>
            </a:r>
            <a:r>
              <a:rPr lang="en-US" sz="2800" dirty="0"/>
              <a:t>Generate professional quotes and proposals directly from CRM data. Integrate with e-signature tools for faster contract signing.</a:t>
            </a:r>
          </a:p>
          <a:p>
            <a:r>
              <a:rPr lang="en-US" sz="2800" b="1" dirty="0"/>
              <a:t>   • Benefit: </a:t>
            </a:r>
            <a:r>
              <a:rPr lang="en-US" sz="2800" dirty="0"/>
              <a:t>Reduces errors, speeds up the sales cycle, improves professionalism.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53628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470CDB0-7C38-AA66-2320-B053A3C1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AAD7D-FA21-29CA-3D9A-3F78433FE1C8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2. Automating Sales Tasks: Freeing Up Sales Reps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9C1E3-3703-83E7-99BA-9908C259A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584" y="0"/>
            <a:ext cx="3810416" cy="2157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6EB670-3A5A-5CD5-AEC1-A810CBF4F2AB}"/>
              </a:ext>
            </a:extLst>
          </p:cNvPr>
          <p:cNvSpPr txBox="1"/>
          <p:nvPr/>
        </p:nvSpPr>
        <p:spPr>
          <a:xfrm>
            <a:off x="277586" y="1325653"/>
            <a:ext cx="1156500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b. Tools for Automation:</a:t>
            </a:r>
          </a:p>
          <a:p>
            <a:endParaRPr lang="en-US" sz="2800" dirty="0"/>
          </a:p>
          <a:p>
            <a:r>
              <a:rPr lang="en-US" sz="2800" dirty="0"/>
              <a:t>   • </a:t>
            </a:r>
            <a:r>
              <a:rPr lang="en-US" sz="2800" b="1" dirty="0"/>
              <a:t>CRM Systems </a:t>
            </a:r>
            <a:r>
              <a:rPr lang="en-US" sz="2800" dirty="0"/>
              <a:t>(e.g., HubSpot Sales Hub, </a:t>
            </a:r>
          </a:p>
          <a:p>
            <a:r>
              <a:rPr lang="en-US" sz="2800" dirty="0"/>
              <a:t>     Salesforce Sales Cloud): These platforms are built with extensive</a:t>
            </a:r>
          </a:p>
          <a:p>
            <a:r>
              <a:rPr lang="en-US" sz="2800" dirty="0"/>
              <a:t>     automation capabilities.</a:t>
            </a:r>
          </a:p>
          <a:p>
            <a:r>
              <a:rPr lang="en-US" sz="2800" dirty="0"/>
              <a:t>   • </a:t>
            </a:r>
            <a:r>
              <a:rPr lang="en-US" sz="2800" b="1" dirty="0"/>
              <a:t>Marketing Automation Platforms</a:t>
            </a:r>
            <a:r>
              <a:rPr lang="en-US" sz="2800" dirty="0"/>
              <a:t>: Often integrate with CRM to </a:t>
            </a:r>
          </a:p>
          <a:p>
            <a:r>
              <a:rPr lang="en-US" sz="2800" dirty="0"/>
              <a:t>     automate lead nurturing.</a:t>
            </a:r>
          </a:p>
          <a:p>
            <a:r>
              <a:rPr lang="en-US" sz="2800" dirty="0"/>
              <a:t>   • </a:t>
            </a:r>
            <a:r>
              <a:rPr lang="en-US" sz="2800" b="1" dirty="0"/>
              <a:t>Third-Party Integrations</a:t>
            </a:r>
            <a:r>
              <a:rPr lang="en-US" sz="2800" dirty="0"/>
              <a:t>: Tools for scheduling, e-signatures, data</a:t>
            </a:r>
          </a:p>
          <a:p>
            <a:r>
              <a:rPr lang="en-US" sz="2800" dirty="0"/>
              <a:t>      enrichment that connect to the CRM. By automating these tasks,</a:t>
            </a:r>
          </a:p>
          <a:p>
            <a:r>
              <a:rPr lang="en-US" sz="2800" dirty="0"/>
              <a:t>             sales teams become more efficient, more consistent, and</a:t>
            </a:r>
          </a:p>
          <a:p>
            <a:r>
              <a:rPr lang="en-US" sz="2800" dirty="0"/>
              <a:t>                                      ultimately, more effective.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331537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4BCC654C-0D82-7C36-B4A0-494CE25B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040A6B-54D5-D178-454E-BB10B122D7D0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1FD378-FEE5-7395-9E41-8B480E10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2448"/>
            <a:ext cx="6958362" cy="4235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BA591D-A1D7-2EB4-8FAA-D42C4504E711}"/>
              </a:ext>
            </a:extLst>
          </p:cNvPr>
          <p:cNvSpPr txBox="1"/>
          <p:nvPr/>
        </p:nvSpPr>
        <p:spPr>
          <a:xfrm>
            <a:off x="2386361" y="732710"/>
            <a:ext cx="95280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Effective Deal Management</a:t>
            </a:r>
            <a:r>
              <a:rPr lang="en-US" sz="2800" dirty="0"/>
              <a:t> is about systematically tracking and moving opportunities through the sales pipeline. </a:t>
            </a:r>
            <a:r>
              <a:rPr lang="en-US" sz="2800" b="1" dirty="0"/>
              <a:t>Sales Forecasting </a:t>
            </a:r>
            <a:r>
              <a:rPr lang="en-US" sz="2800" dirty="0"/>
              <a:t>is the process of predicting future sales revenue based on current deals in the pipeline</a:t>
            </a:r>
          </a:p>
          <a:p>
            <a:r>
              <a:rPr lang="en-US" sz="2800" dirty="0"/>
              <a:t>                                              and historical data. Both are</a:t>
            </a:r>
          </a:p>
          <a:p>
            <a:r>
              <a:rPr lang="en-US" sz="2800" dirty="0"/>
              <a:t>                                              critical for business planning.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218413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52E0FBCD-239E-DD14-FA26-03FEF676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161561-5AD8-E847-17E8-38B0E691F73A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6276D-6255-D214-A08C-0896B5A42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190" y="0"/>
            <a:ext cx="2222810" cy="114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2D46CB-B149-5E7F-1164-6AA8427DF683}"/>
              </a:ext>
            </a:extLst>
          </p:cNvPr>
          <p:cNvSpPr txBox="1"/>
          <p:nvPr/>
        </p:nvSpPr>
        <p:spPr>
          <a:xfrm>
            <a:off x="441138" y="997791"/>
            <a:ext cx="117508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Deal Management:</a:t>
            </a:r>
          </a:p>
          <a:p>
            <a:r>
              <a:rPr lang="en-US" sz="2800" b="1" dirty="0"/>
              <a:t>• Centralized View: </a:t>
            </a:r>
            <a:r>
              <a:rPr lang="en-US" sz="2800" dirty="0"/>
              <a:t>CRM provides a single, centralized place to manage all active deals. Each deal typically has:</a:t>
            </a:r>
          </a:p>
          <a:p>
            <a:r>
              <a:rPr lang="en-US" sz="2800" b="1" dirty="0"/>
              <a:t>    • Deal Name: </a:t>
            </a:r>
            <a:r>
              <a:rPr lang="en-US" sz="2800" dirty="0"/>
              <a:t>(e.g., "Innovate Solutions - CRM Implementation")</a:t>
            </a:r>
          </a:p>
          <a:p>
            <a:r>
              <a:rPr lang="en-US" sz="2800" b="1" dirty="0"/>
              <a:t>    • Associated Contact(s) &amp; Company: </a:t>
            </a:r>
            <a:r>
              <a:rPr lang="en-US" sz="2800" dirty="0"/>
              <a:t>Who is involved.</a:t>
            </a:r>
          </a:p>
          <a:p>
            <a:r>
              <a:rPr lang="en-US" sz="2800" b="1" dirty="0"/>
              <a:t>    • Deal Stage: </a:t>
            </a:r>
            <a:r>
              <a:rPr lang="en-US" sz="2800" dirty="0"/>
              <a:t>Where it is in the pipeline (e.g., "Proposal Sent").</a:t>
            </a:r>
          </a:p>
          <a:p>
            <a:r>
              <a:rPr lang="en-US" sz="2800" b="1" dirty="0"/>
              <a:t>    • Amount: </a:t>
            </a:r>
            <a:r>
              <a:rPr lang="en-US" sz="2800" dirty="0"/>
              <a:t>Estimated revenue</a:t>
            </a:r>
            <a:r>
              <a:rPr lang="en-US" sz="2800" b="1" dirty="0"/>
              <a:t>.</a:t>
            </a:r>
          </a:p>
          <a:p>
            <a:r>
              <a:rPr lang="en-US" sz="2800" b="1" dirty="0"/>
              <a:t>    • Close Date: </a:t>
            </a:r>
            <a:r>
              <a:rPr lang="en-US" sz="2800" dirty="0"/>
              <a:t>Estimated date of closing</a:t>
            </a:r>
            <a:r>
              <a:rPr lang="en-US" sz="2800" b="1" dirty="0"/>
              <a:t>.</a:t>
            </a:r>
          </a:p>
          <a:p>
            <a:r>
              <a:rPr lang="en-US" sz="2800" b="1" dirty="0"/>
              <a:t>    • Probability: </a:t>
            </a:r>
            <a:r>
              <a:rPr lang="en-US" sz="2800" dirty="0"/>
              <a:t>Likelihood of closing (often tied to deal stage).</a:t>
            </a:r>
          </a:p>
          <a:p>
            <a:r>
              <a:rPr lang="en-US" sz="2800" b="1" dirty="0"/>
              <a:t>    • Activities: </a:t>
            </a:r>
            <a:r>
              <a:rPr lang="en-US" sz="2800" dirty="0"/>
              <a:t>Logged calls, emails, meetings related to the deal.</a:t>
            </a:r>
          </a:p>
          <a:p>
            <a:r>
              <a:rPr lang="en-US" sz="2800" b="1" dirty="0"/>
              <a:t>    • Notes: </a:t>
            </a:r>
            <a:r>
              <a:rPr lang="en-US" sz="2800" dirty="0"/>
              <a:t>Important details and next steps.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111052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B34305B-34CD-CBD2-93FD-4256FD42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7C42AD-1F65-85C7-4609-BAB1193D4C58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26742-4253-845B-0E02-863F61AE1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190" y="0"/>
            <a:ext cx="2222810" cy="114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360307-1011-D89D-3A2E-55F17CC5B4CE}"/>
              </a:ext>
            </a:extLst>
          </p:cNvPr>
          <p:cNvSpPr txBox="1"/>
          <p:nvPr/>
        </p:nvSpPr>
        <p:spPr>
          <a:xfrm>
            <a:off x="441138" y="997791"/>
            <a:ext cx="117508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a. Deal Management:</a:t>
            </a:r>
          </a:p>
          <a:p>
            <a:r>
              <a:rPr lang="en-US" sz="2800" b="1" dirty="0"/>
              <a:t>    </a:t>
            </a:r>
          </a:p>
          <a:p>
            <a:r>
              <a:rPr lang="en-US" sz="2800" b="1" dirty="0"/>
              <a:t>    • Visibility: </a:t>
            </a:r>
            <a:r>
              <a:rPr lang="en-US" sz="2800" dirty="0"/>
              <a:t>Sales managers can see every deal, its status, and the activities associated with it.</a:t>
            </a:r>
          </a:p>
          <a:p>
            <a:r>
              <a:rPr lang="en-US" sz="2800" b="1" dirty="0"/>
              <a:t>    • Standardization: </a:t>
            </a:r>
            <a:r>
              <a:rPr lang="en-US" sz="2800" dirty="0"/>
              <a:t>Ensures all reps follow the same process for managing deals.</a:t>
            </a:r>
          </a:p>
          <a:p>
            <a:r>
              <a:rPr lang="en-US" sz="2800" b="1" dirty="0"/>
              <a:t>    • Collaboration: </a:t>
            </a:r>
            <a:r>
              <a:rPr lang="en-US" sz="2800" dirty="0"/>
              <a:t>Allows sales teams to collaborate on complex deals.</a:t>
            </a:r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7091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D16FBA84-16C5-9B07-EA74-B21F348B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BF3B56-C54F-E364-705D-6DC5BEFA4E82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61F5F-6AEC-1591-1491-40256376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190" y="0"/>
            <a:ext cx="2222810" cy="114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85085A-4B3E-0039-772B-67ABBD4A13B7}"/>
              </a:ext>
            </a:extLst>
          </p:cNvPr>
          <p:cNvSpPr txBox="1"/>
          <p:nvPr/>
        </p:nvSpPr>
        <p:spPr>
          <a:xfrm>
            <a:off x="441138" y="997791"/>
            <a:ext cx="117508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b. Sales Forecasting:</a:t>
            </a:r>
          </a:p>
          <a:p>
            <a:r>
              <a:rPr lang="en-US" sz="2800" b="1" dirty="0"/>
              <a:t>     • How it Works: </a:t>
            </a:r>
            <a:r>
              <a:rPr lang="en-US" sz="2800" dirty="0"/>
              <a:t>CRM systems use the data from your sales pipeline to generate forecasts.</a:t>
            </a:r>
          </a:p>
          <a:p>
            <a:r>
              <a:rPr lang="en-US" sz="2800" b="1" dirty="0"/>
              <a:t>          • Pipeline Value: </a:t>
            </a:r>
            <a:r>
              <a:rPr lang="en-US" sz="2800" dirty="0"/>
              <a:t>Sum of all deals in the pipeline.</a:t>
            </a:r>
          </a:p>
          <a:p>
            <a:r>
              <a:rPr lang="en-US" sz="2800" b="1" dirty="0"/>
              <a:t>          • Weighted Pipeline: </a:t>
            </a:r>
            <a:r>
              <a:rPr lang="en-US" sz="2800" dirty="0"/>
              <a:t>Sum of (Deal Amount x Probability) for all deals. This gives a more realistic estimate.</a:t>
            </a:r>
          </a:p>
          <a:p>
            <a:r>
              <a:rPr lang="en-US" sz="2800" b="1" dirty="0"/>
              <a:t>          • Deal Velocity: </a:t>
            </a:r>
            <a:r>
              <a:rPr lang="en-US" sz="2800" dirty="0"/>
              <a:t>How long deals typically stay in each stage, or the total time from creation to close.</a:t>
            </a:r>
          </a:p>
          <a:p>
            <a:r>
              <a:rPr lang="en-US" sz="2800" b="1" dirty="0"/>
              <a:t>          • Conversion Rates: </a:t>
            </a:r>
            <a:r>
              <a:rPr lang="en-US" sz="2800" dirty="0"/>
              <a:t>Percentage of deals that move from one stage to the next, or from qualified lead to closed-won.</a:t>
            </a:r>
          </a:p>
        </p:txBody>
      </p:sp>
    </p:spTree>
    <p:extLst>
      <p:ext uri="{BB962C8B-B14F-4D97-AF65-F5344CB8AC3E}">
        <p14:creationId xmlns:p14="http://schemas.microsoft.com/office/powerpoint/2010/main" val="333650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F709319-902C-60D6-7FED-1235403A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D578DA-A560-B487-CDCA-D118E14A3A91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2182F-F7D4-1B9F-FFA9-55494676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190" y="0"/>
            <a:ext cx="2222810" cy="114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6C75D6-09C7-D879-E3FB-B6FE74126B12}"/>
              </a:ext>
            </a:extLst>
          </p:cNvPr>
          <p:cNvSpPr txBox="1"/>
          <p:nvPr/>
        </p:nvSpPr>
        <p:spPr>
          <a:xfrm>
            <a:off x="441138" y="997791"/>
            <a:ext cx="117508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• Forecasting Methods (often supported by CRM):</a:t>
            </a:r>
          </a:p>
          <a:p>
            <a:r>
              <a:rPr lang="en-US" sz="2800" b="1" dirty="0"/>
              <a:t>    • Opportunity Stage Forecasting: </a:t>
            </a:r>
            <a:r>
              <a:rPr lang="en-US" sz="2800" dirty="0"/>
              <a:t>Based on the stage of each deal in the pipeline.</a:t>
            </a:r>
          </a:p>
          <a:p>
            <a:r>
              <a:rPr lang="en-US" sz="2800" b="1" dirty="0"/>
              <a:t>    • Historical Data Forecasting: </a:t>
            </a:r>
            <a:r>
              <a:rPr lang="en-US" sz="2800" dirty="0"/>
              <a:t>Using past sales trends to predict future performance.</a:t>
            </a:r>
          </a:p>
          <a:p>
            <a:r>
              <a:rPr lang="en-US" sz="2800" b="1" dirty="0"/>
              <a:t>    • Lead-Based Forecasting: </a:t>
            </a:r>
            <a:r>
              <a:rPr lang="en-US" sz="2800" dirty="0"/>
              <a:t>Predicting sales based on the number and quality of new leads generated.</a:t>
            </a:r>
          </a:p>
          <a:p>
            <a:r>
              <a:rPr lang="en-US" sz="2800" b="1" dirty="0"/>
              <a:t>    • AI-Powered Forecasting: </a:t>
            </a:r>
            <a:r>
              <a:rPr lang="en-US" sz="2800" dirty="0"/>
              <a:t>Advanced CRM systems use AI/ML to analyze vast amounts of data (historical, behavioral, external factors) to provide highly accurate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36052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914F36-34AD-9277-DD9A-EDB90BE02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826DC-B6D2-69A6-5307-16A7DC26DAD6}"/>
              </a:ext>
            </a:extLst>
          </p:cNvPr>
          <p:cNvSpPr txBox="1"/>
          <p:nvPr/>
        </p:nvSpPr>
        <p:spPr>
          <a:xfrm>
            <a:off x="277587" y="265081"/>
            <a:ext cx="11565008" cy="46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/>
              <a:t>3. Deal Management and Forecasting: Predicting Future Revenue</a:t>
            </a:r>
            <a:r>
              <a:rPr lang="en-US" sz="2400" dirty="0"/>
              <a:t>	</a:t>
            </a:r>
            <a:endParaRPr lang="en-PH" sz="5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3F3A7-5D1C-783A-642A-D66319DF1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190" y="0"/>
            <a:ext cx="2222810" cy="1146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610082-9DD5-2792-3D19-38EB68D52CB1}"/>
              </a:ext>
            </a:extLst>
          </p:cNvPr>
          <p:cNvSpPr txBox="1"/>
          <p:nvPr/>
        </p:nvSpPr>
        <p:spPr>
          <a:xfrm>
            <a:off x="441138" y="997791"/>
            <a:ext cx="1175086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c. Benefits of Effective Deal Management &amp; Forecasting:</a:t>
            </a:r>
          </a:p>
          <a:p>
            <a:r>
              <a:rPr lang="en-US" sz="2800" dirty="0"/>
              <a:t>     • </a:t>
            </a:r>
            <a:r>
              <a:rPr lang="en-US" sz="2800" b="1" dirty="0"/>
              <a:t>Improved Planning</a:t>
            </a:r>
            <a:r>
              <a:rPr lang="en-US" sz="2800" dirty="0"/>
              <a:t>: Businesses can better plan resources, production, and marketing efforts.</a:t>
            </a:r>
          </a:p>
          <a:p>
            <a:r>
              <a:rPr lang="en-US" sz="2800" dirty="0"/>
              <a:t>     • </a:t>
            </a:r>
            <a:r>
              <a:rPr lang="en-US" sz="2800" b="1" dirty="0"/>
              <a:t>Resource Allocation</a:t>
            </a:r>
            <a:r>
              <a:rPr lang="en-US" sz="2800" dirty="0"/>
              <a:t>: Managers can identify where sales reps need help or where to focus efforts.</a:t>
            </a:r>
          </a:p>
          <a:p>
            <a:r>
              <a:rPr lang="en-US" sz="2800" dirty="0"/>
              <a:t>     • </a:t>
            </a:r>
            <a:r>
              <a:rPr lang="en-US" sz="2800" b="1" dirty="0"/>
              <a:t>Performance Management</a:t>
            </a:r>
            <a:r>
              <a:rPr lang="en-US" sz="2800" dirty="0"/>
              <a:t>: Provides a baseline for evaluating sales team performance.</a:t>
            </a:r>
          </a:p>
          <a:p>
            <a:r>
              <a:rPr lang="en-US" sz="2800" dirty="0"/>
              <a:t>     • </a:t>
            </a:r>
            <a:r>
              <a:rPr lang="en-US" sz="2800" b="1" dirty="0"/>
              <a:t>Early Warning System</a:t>
            </a:r>
            <a:r>
              <a:rPr lang="en-US" sz="2800" dirty="0"/>
              <a:t>: Helps identify potential shortfalls in revenue early enough to take corrective action.</a:t>
            </a:r>
          </a:p>
          <a:p>
            <a:r>
              <a:rPr lang="en-US" sz="2800" dirty="0"/>
              <a:t>     • </a:t>
            </a:r>
            <a:r>
              <a:rPr lang="en-US" sz="2800" b="1" dirty="0"/>
              <a:t>Investor Confidence</a:t>
            </a:r>
            <a:r>
              <a:rPr lang="en-US" sz="2800" dirty="0"/>
              <a:t>: Accurate forecasts are crucial for attracting </a:t>
            </a:r>
            <a:r>
              <a:rPr lang="en-US" sz="2800" dirty="0" err="1"/>
              <a:t>andretaining</a:t>
            </a:r>
            <a:r>
              <a:rPr lang="en-US" sz="2800" dirty="0"/>
              <a:t> investors. CRM systems are indispensable for robust deal</a:t>
            </a:r>
          </a:p>
          <a:p>
            <a:r>
              <a:rPr lang="en-US" sz="2800" dirty="0"/>
              <a:t>       management and accurate sales forecasting, transforming</a:t>
            </a:r>
          </a:p>
          <a:p>
            <a:r>
              <a:rPr lang="en-US" sz="2800" dirty="0"/>
              <a:t>                                                      guesswork into data-driven predictions.</a:t>
            </a:r>
          </a:p>
        </p:txBody>
      </p:sp>
    </p:spTree>
    <p:extLst>
      <p:ext uri="{BB962C8B-B14F-4D97-AF65-F5344CB8AC3E}">
        <p14:creationId xmlns:p14="http://schemas.microsoft.com/office/powerpoint/2010/main" val="367085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D10CFC1-C96E-7BD6-6F83-8BED82B9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0F7A55-1006-C779-894F-EEF8C8EBBC79}"/>
              </a:ext>
            </a:extLst>
          </p:cNvPr>
          <p:cNvSpPr txBox="1"/>
          <p:nvPr/>
        </p:nvSpPr>
        <p:spPr>
          <a:xfrm>
            <a:off x="552450" y="150055"/>
            <a:ext cx="11087099" cy="4640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Activity: "Sales Automation Architect" Challenge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how sales automation works and build essential sales tools (email templates &amp; sequences) in HubSpot!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b="1" kern="100" dirty="0">
              <a:latin typeface="Open Sans" panose="020B06060305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Component - Automating the Sales Journey (Individual Work) Explain &amp; Strategize (15-20 mins)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b="1" kern="100" dirty="0">
              <a:latin typeface="Open Sans" panose="020B06060305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Review: Think back to our lecture on "Sales Process Automation."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Your Task: In your OWN words (3-5 sentences each), answer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52588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AFCE2C09-EBEC-FD74-0D77-6C1E76DB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08409C-3999-B706-1681-5F446BC998F4}"/>
              </a:ext>
            </a:extLst>
          </p:cNvPr>
          <p:cNvSpPr txBox="1"/>
          <p:nvPr/>
        </p:nvSpPr>
        <p:spPr>
          <a:xfrm>
            <a:off x="552450" y="150055"/>
            <a:ext cx="11087099" cy="5035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Activity: "Sales Automation Architect" Challenge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Goal: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how sales automation works and build essential sales tools (email templates &amp; sequences) in HubSpot!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b="1" kern="100" dirty="0">
              <a:latin typeface="Open Sans" panose="020B06060305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Component - Automating the Sales Journey (Individual Work) Explain &amp; Strategize (15-20 mins)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b="1" kern="100" dirty="0">
              <a:latin typeface="Open Sans" panose="020B06060305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Sales Pipeline Stages: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it important to map out clear sales pipeline stages?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Automating Tasks: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Give two examples of sales tasks that can be automated, and explain how automation benefits the sales rep.</a:t>
            </a:r>
          </a:p>
        </p:txBody>
      </p:sp>
    </p:spTree>
    <p:extLst>
      <p:ext uri="{BB962C8B-B14F-4D97-AF65-F5344CB8AC3E}">
        <p14:creationId xmlns:p14="http://schemas.microsoft.com/office/powerpoint/2010/main" val="421027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74C58654-5965-3DF9-818C-A7F52925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773F8B-28C6-0942-F3EC-33CBABF20478}"/>
              </a:ext>
            </a:extLst>
          </p:cNvPr>
          <p:cNvSpPr txBox="1"/>
          <p:nvPr/>
        </p:nvSpPr>
        <p:spPr>
          <a:xfrm>
            <a:off x="552450" y="150055"/>
            <a:ext cx="11087099" cy="633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2: Laboratory Component - Build Your Sales Tools (Hands-on HubSpot)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Sales Email Templates &amp; a Sequence (45-60 mins in Lab)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Access: Log in to your HubSpot Free CRM account.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Scenario: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Imagine you are a sales development representative (SDR) for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a B2B SaaS company selling project management software. You’ve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just   had a great demo with a prospect, and now you need to follow up.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Your Task: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Create 2 Sales Email Templates: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• Template 1: Post-Demo Follow-Up: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an email template to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send immediately after a demo.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• Content: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them for their time, recap key points discussed, offer to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answer questions.</a:t>
            </a:r>
          </a:p>
        </p:txBody>
      </p:sp>
    </p:spTree>
    <p:extLst>
      <p:ext uri="{BB962C8B-B14F-4D97-AF65-F5344CB8AC3E}">
        <p14:creationId xmlns:p14="http://schemas.microsoft.com/office/powerpoint/2010/main" val="753311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BCC98ECA-B0D5-805D-9287-BCA61A97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004C6D-DCA1-F026-AD3F-7BE5E50F4FBD}"/>
              </a:ext>
            </a:extLst>
          </p:cNvPr>
          <p:cNvSpPr txBox="1"/>
          <p:nvPr/>
        </p:nvSpPr>
        <p:spPr>
          <a:xfrm>
            <a:off x="552450" y="150055"/>
            <a:ext cx="11087099" cy="3644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Personalization: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 at least 2 HubSpot personalization tokens (e.g., {{</a:t>
            </a:r>
            <a:r>
              <a:rPr lang="en-US" sz="2400" kern="100" dirty="0" err="1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contact.firstname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}}, {{</a:t>
            </a:r>
            <a:r>
              <a:rPr lang="en-US" sz="2400" kern="100" dirty="0" err="1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deal.dealname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}}).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kern="100" dirty="0">
              <a:latin typeface="Open Sans" panose="020B0606030504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Template 2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Value Proposition Reminder: Design an email template to send 2-3 days after the first, if no response.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Content: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Briefly reiterate a key benefit of your software, share a relevant case study link (fictional or real), and suggest a next step.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Personalization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 at least 1 HubSpot personalization token.</a:t>
            </a:r>
          </a:p>
        </p:txBody>
      </p:sp>
    </p:spTree>
    <p:extLst>
      <p:ext uri="{BB962C8B-B14F-4D97-AF65-F5344CB8AC3E}">
        <p14:creationId xmlns:p14="http://schemas.microsoft.com/office/powerpoint/2010/main" val="410535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001BB219-1D7F-4DF0-D3A4-370F738E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646601-539C-B7B6-B69D-455A0656114C}"/>
              </a:ext>
            </a:extLst>
          </p:cNvPr>
          <p:cNvSpPr txBox="1"/>
          <p:nvPr/>
        </p:nvSpPr>
        <p:spPr>
          <a:xfrm>
            <a:off x="552450" y="150055"/>
            <a:ext cx="11087099" cy="6528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Simple Sequence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Sequence Name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Give it a clear name (e.g., "Post-Demo Nurture Sequence").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Steps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Add your two created email templates as steps in the sequence.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Delays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Set a delay of 2-3 days between Email 1 and Email 2.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Enrollment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Show how you would enroll a contact into this sequence.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Screenshot Proof: Take screenshots of: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Post-Demo Follow-Up Email Template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(showing content and personalization tokens).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•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Your Value Proposition Reminder Email Template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(showing content and personalization tokens).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• Your </a:t>
            </a:r>
            <a:r>
              <a:rPr lang="en-US" sz="2400" b="1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Sequence Overview</a:t>
            </a: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(showing both emails and delays).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latin typeface="Open Sans" panose="020B06060305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• A screenshot showing how you would enroll a contact into this sequence.</a:t>
            </a:r>
          </a:p>
        </p:txBody>
      </p:sp>
    </p:spTree>
    <p:extLst>
      <p:ext uri="{BB962C8B-B14F-4D97-AF65-F5344CB8AC3E}">
        <p14:creationId xmlns:p14="http://schemas.microsoft.com/office/powerpoint/2010/main" val="305849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257330" y="314464"/>
            <a:ext cx="11677339" cy="59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n-US" b="1">
                <a:latin typeface="Open Sans"/>
                <a:ea typeface="Open Sans"/>
                <a:cs typeface="Open Sans"/>
                <a:sym typeface="Open Sans"/>
              </a:rPr>
              <a:t>END ….</a:t>
            </a:r>
            <a:endParaRPr/>
          </a:p>
        </p:txBody>
      </p:sp>
      <p:pic>
        <p:nvPicPr>
          <p:cNvPr id="2" name="Picture 1" descr="A cartoon hands and red balls&#10;&#10;Description automatically generated">
            <a:extLst>
              <a:ext uri="{FF2B5EF4-FFF2-40B4-BE49-F238E27FC236}">
                <a16:creationId xmlns:a16="http://schemas.microsoft.com/office/drawing/2014/main" id="{9D682E4B-073F-290F-AB8C-2AC9D5373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045" y="2308156"/>
            <a:ext cx="3524250" cy="2857500"/>
          </a:xfrm>
          <a:prstGeom prst="rect">
            <a:avLst/>
          </a:prstGeom>
        </p:spPr>
      </p:pic>
      <p:pic>
        <p:nvPicPr>
          <p:cNvPr id="3" name="Google Shape;490;p63" descr="Thank You Icon, Transparent Thank You.PNG Images &amp; Vector - FreeIconsPNG">
            <a:extLst>
              <a:ext uri="{FF2B5EF4-FFF2-40B4-BE49-F238E27FC236}">
                <a16:creationId xmlns:a16="http://schemas.microsoft.com/office/drawing/2014/main" id="{17668BB2-5207-F0C8-3D35-3572930EF0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363" y="1685933"/>
            <a:ext cx="4857056" cy="382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 descr="A white text on a blue background&#10;&#10;Description automatically generated">
            <a:extLst>
              <a:ext uri="{FF2B5EF4-FFF2-40B4-BE49-F238E27FC236}">
                <a16:creationId xmlns:a16="http://schemas.microsoft.com/office/drawing/2014/main" id="{380DF038-2019-50B2-570E-720893CB3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452" y="632375"/>
            <a:ext cx="4958843" cy="4958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278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15743</TotalTime>
  <Words>2828</Words>
  <Application>Microsoft Office PowerPoint</Application>
  <PresentationFormat>Widescreen</PresentationFormat>
  <Paragraphs>243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Calibri</vt:lpstr>
      <vt:lpstr>Arial</vt:lpstr>
      <vt:lpstr>Open Sans</vt:lpstr>
      <vt:lpstr>Office Theme</vt:lpstr>
      <vt:lpstr>PowerPoint Presentation</vt:lpstr>
      <vt:lpstr>Devotion:</vt:lpstr>
      <vt:lpstr>IT Customer Relationship Management</vt:lpstr>
      <vt:lpstr>PowerPoint Presentation</vt:lpstr>
      <vt:lpstr>Sales Process Automation (SPA) - Customers expect quick responses, personalized interactions, and seamless experiences.  </vt:lpstr>
      <vt:lpstr>Sales Process Automation (SPA) - Customers expect quick responses, personalized interactions, and seamless experiences.  </vt:lpstr>
      <vt:lpstr>Why is this crucial for you?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….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 Design and Management</dc:title>
  <dc:creator>JERBERT ABARGOS</dc:creator>
  <cp:lastModifiedBy>CESAR GALINGANA</cp:lastModifiedBy>
  <cp:revision>18</cp:revision>
  <dcterms:created xsi:type="dcterms:W3CDTF">2023-12-20T09:46:04Z</dcterms:created>
  <dcterms:modified xsi:type="dcterms:W3CDTF">2025-09-15T07:35:10Z</dcterms:modified>
</cp:coreProperties>
</file>